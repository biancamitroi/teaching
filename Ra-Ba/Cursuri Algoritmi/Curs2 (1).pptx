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sldIdLst>
    <p:sldId id="256" r:id="rId2"/>
    <p:sldId id="281" r:id="rId3"/>
    <p:sldId id="257" r:id="rId4"/>
    <p:sldId id="258" r:id="rId5"/>
    <p:sldId id="280" r:id="rId6"/>
    <p:sldId id="259" r:id="rId7"/>
    <p:sldId id="260" r:id="rId8"/>
    <p:sldId id="261" r:id="rId9"/>
    <p:sldId id="262" r:id="rId10"/>
    <p:sldId id="282" r:id="rId11"/>
    <p:sldId id="263" r:id="rId12"/>
    <p:sldId id="264" r:id="rId13"/>
    <p:sldId id="265" r:id="rId14"/>
    <p:sldId id="266" r:id="rId15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47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- 24 Octombrie 2022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</a:t>
            </a:r>
            <a:r>
              <a:rPr lang="en-US" sz="3200"/>
              <a:t>curs 2</a:t>
            </a:r>
            <a:r>
              <a:rPr lang="en-US" sz="360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Tabele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>
                <a:solidFill>
                  <a:schemeClr val="tx2"/>
                </a:solidFill>
              </a:rPr>
              <a:t>dispersie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000" dirty="0"/>
              <a:t>Tabele direct adresabile</a:t>
            </a:r>
          </a:p>
          <a:p>
            <a:r>
              <a:rPr lang="ro-RO" sz="2000" dirty="0"/>
              <a:t>Tabele de dispersie</a:t>
            </a:r>
          </a:p>
          <a:p>
            <a:r>
              <a:rPr lang="ro-RO" sz="2000" dirty="0"/>
              <a:t>Rezolvarea coliziunilor prin inlănțuire</a:t>
            </a:r>
          </a:p>
          <a:p>
            <a:r>
              <a:rPr lang="ro-RO" sz="2000" dirty="0"/>
              <a:t>Rezolvarea coliziunilor prin adresare directă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err="1"/>
              <a:t>Conceptul</a:t>
            </a:r>
            <a:r>
              <a:rPr lang="en-US" sz="2800" dirty="0"/>
              <a:t> de </a:t>
            </a:r>
            <a:r>
              <a:rPr lang="en-US" sz="2800" dirty="0" err="1"/>
              <a:t>dictionar</a:t>
            </a:r>
            <a:endParaRPr lang="en-US" sz="2800" dirty="0"/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8534400" cy="4114800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1800" dirty="0" err="1"/>
              <a:t>Fiecare</a:t>
            </a:r>
            <a:r>
              <a:rPr lang="en-US" sz="1800" dirty="0"/>
              <a:t> element din </a:t>
            </a:r>
            <a:r>
              <a:rPr lang="en-US" sz="1800" dirty="0" err="1"/>
              <a:t>dictionar</a:t>
            </a:r>
            <a:r>
              <a:rPr lang="en-US" sz="1800" dirty="0"/>
              <a:t> se </a:t>
            </a:r>
            <a:r>
              <a:rPr lang="en-US" sz="1800" dirty="0" err="1"/>
              <a:t>caracterizeaz</a:t>
            </a:r>
            <a:r>
              <a:rPr lang="ro-RO" sz="1800" dirty="0"/>
              <a:t>ă prin (cheie, valoare)</a:t>
            </a:r>
            <a:endParaRPr lang="en-US" sz="1800" dirty="0"/>
          </a:p>
          <a:p>
            <a:pPr marL="533400" indent="-533400" eaLnBrk="1" hangingPunct="1">
              <a:lnSpc>
                <a:spcPct val="90000"/>
              </a:lnSpc>
            </a:pPr>
            <a:endParaRPr lang="en-US" sz="1800" dirty="0"/>
          </a:p>
          <a:p>
            <a:pPr marL="533400" indent="-533400" eaLnBrk="1" hangingPunct="1">
              <a:lnSpc>
                <a:spcPct val="90000"/>
              </a:lnSpc>
            </a:pPr>
            <a:endParaRPr lang="en-US" sz="1800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1800" dirty="0" err="1"/>
              <a:t>Operatii</a:t>
            </a:r>
            <a:r>
              <a:rPr lang="en-US" sz="1800" dirty="0"/>
              <a:t> </a:t>
            </a:r>
            <a:r>
              <a:rPr lang="en-US" sz="1800" dirty="0" err="1"/>
              <a:t>esentiale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dictionare</a:t>
            </a:r>
            <a:r>
              <a:rPr lang="en-US" sz="1800" dirty="0"/>
              <a:t>: INSERT, SEARCH, DELETE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1800" dirty="0" err="1"/>
              <a:t>Tabela</a:t>
            </a:r>
            <a:r>
              <a:rPr lang="en-US" sz="1800" dirty="0"/>
              <a:t> de </a:t>
            </a:r>
            <a:r>
              <a:rPr lang="en-US" sz="1800" dirty="0" err="1"/>
              <a:t>dispersie</a:t>
            </a:r>
            <a:r>
              <a:rPr lang="en-US" sz="1800" dirty="0"/>
              <a:t>: o </a:t>
            </a:r>
            <a:r>
              <a:rPr lang="en-US" sz="1800" dirty="0" err="1"/>
              <a:t>generalizare</a:t>
            </a:r>
            <a:r>
              <a:rPr lang="en-US" sz="1800" dirty="0"/>
              <a:t> a </a:t>
            </a:r>
            <a:r>
              <a:rPr lang="en-US" sz="1800" dirty="0" err="1"/>
              <a:t>notiunii</a:t>
            </a:r>
            <a:r>
              <a:rPr lang="en-US" sz="1800" dirty="0"/>
              <a:t> de “array” (sir cu index): se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examinarea</a:t>
            </a:r>
            <a:r>
              <a:rPr lang="en-US" sz="1800" dirty="0"/>
              <a:t> </a:t>
            </a:r>
            <a:r>
              <a:rPr lang="en-US" sz="1800" dirty="0" err="1"/>
              <a:t>oric</a:t>
            </a:r>
            <a:r>
              <a:rPr lang="ro-RO" sz="1800" dirty="0"/>
              <a:t>ărei poziții in timp O(1)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800" dirty="0"/>
              <a:t>Tabele de dispersie sunt bazate pe conceptul de hashing</a:t>
            </a:r>
            <a:endParaRPr lang="en-US" sz="1800" dirty="0"/>
          </a:p>
          <a:p>
            <a:pPr marL="533400" indent="-533400" eaLnBrk="1" hangingPunct="1">
              <a:lnSpc>
                <a:spcPct val="90000"/>
              </a:lnSpc>
            </a:pPr>
            <a:endParaRPr lang="ro-RO" sz="1600" dirty="0"/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Tabele direct adresabile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09600" y="1600200"/>
                <a:ext cx="7924800" cy="4114800"/>
              </a:xfrm>
              <a:noFill/>
            </p:spPr>
            <p:txBody>
              <a:bodyPr/>
              <a:lstStyle/>
              <a:p>
                <a:pPr marL="533400" indent="-533400" eaLnBrk="1" hangingPunct="1"/>
                <a:r>
                  <a:rPr lang="ro-RO" sz="1800" dirty="0"/>
                  <a:t>Presupunem că o aplicație necesită elemente dintr-un dictionar in care fiecare element are o cheie asociată din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mul</a:t>
                </a:r>
                <a:r>
                  <a:rPr lang="ro-RO" sz="1800" dirty="0"/>
                  <a:t>țimea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𝑈</m:t>
                    </m:r>
                    <m:r>
                      <a:rPr lang="ro-RO" sz="1800" b="0" i="1" smtClean="0">
                        <a:latin typeface="Cambria Math"/>
                      </a:rPr>
                      <m:t>={0,1,…,</m:t>
                    </m:r>
                    <m:r>
                      <a:rPr lang="en-US" sz="1800" b="0" i="1" smtClean="0">
                        <a:latin typeface="Cambria Math"/>
                      </a:rPr>
                      <m:t>𝑚</m:t>
                    </m:r>
                    <m:r>
                      <a:rPr lang="en-US" sz="1800" b="0" i="1" smtClean="0">
                        <a:latin typeface="Cambria Math"/>
                      </a:rPr>
                      <m:t>−1}</m:t>
                    </m:r>
                  </m:oMath>
                </a14:m>
                <a:endParaRPr lang="ro-RO" sz="1600" dirty="0"/>
              </a:p>
              <a:p>
                <a:pPr marL="533400" indent="-533400" eaLnBrk="1" hangingPunct="1"/>
                <a:r>
                  <a:rPr lang="ro-RO" sz="1600" dirty="0"/>
                  <a:t>Pentru reprezentarea multimii dinamice se foloseste o tabelă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𝑇</m:t>
                    </m:r>
                    <m:r>
                      <a:rPr lang="en-US" sz="1600" b="0" i="1" smtClean="0">
                        <a:latin typeface="Cambria Math"/>
                      </a:rPr>
                      <m:t>[0..</m:t>
                    </m:r>
                    <m:r>
                      <a:rPr lang="en-US" sz="1600" b="0" i="1" smtClean="0">
                        <a:latin typeface="Cambria Math"/>
                      </a:rPr>
                      <m:t>𝑚</m:t>
                    </m:r>
                    <m:r>
                      <a:rPr lang="en-US" sz="1600" b="0" i="1" smtClean="0">
                        <a:latin typeface="Cambria Math"/>
                      </a:rPr>
                      <m:t>−1]</m:t>
                    </m:r>
                  </m:oMath>
                </a14:m>
                <a:r>
                  <a:rPr lang="en-US" sz="1600" dirty="0"/>
                  <a:t> </a:t>
                </a:r>
                <a:r>
                  <a:rPr lang="ro-RO" sz="1600" dirty="0"/>
                  <a:t>î</a:t>
                </a:r>
                <a:r>
                  <a:rPr lang="en-US" sz="1600" dirty="0"/>
                  <a:t>n care </a:t>
                </a:r>
                <a:r>
                  <a:rPr lang="en-US" sz="1600" dirty="0" err="1"/>
                  <a:t>fieca</a:t>
                </a:r>
                <a:r>
                  <a:rPr lang="ro-RO" sz="1600" dirty="0"/>
                  <a:t>re poziție corespunde unei chei din U</a:t>
                </a:r>
              </a:p>
              <a:p>
                <a:pPr marL="533400" indent="-533400" eaLnBrk="1" hangingPunct="1"/>
                <a:endParaRPr lang="ro-RO" sz="1600" dirty="0"/>
              </a:p>
              <a:p>
                <a:pPr marL="533400" indent="-533400" eaLnBrk="1" hangingPunct="1"/>
                <a:r>
                  <a:rPr lang="ro-RO" sz="1600" dirty="0"/>
                  <a:t>Operații pe tabele direct adresabile:</a:t>
                </a:r>
              </a:p>
              <a:p>
                <a:pPr marL="533400" indent="-533400" eaLnBrk="1" hangingPunct="1"/>
                <a:endParaRPr lang="ro-RO" sz="1600" dirty="0"/>
              </a:p>
              <a:p>
                <a:pPr marL="0" indent="0" eaLnBrk="1" hangingPunct="1">
                  <a:buNone/>
                </a:pPr>
                <a:r>
                  <a:rPr lang="ro-RO" sz="1600" dirty="0"/>
                  <a:t>DIRECT-ADDRESS-SEARCH(T,</a:t>
                </a:r>
                <a:r>
                  <a:rPr lang="en-US" sz="1600" dirty="0"/>
                  <a:t> </a:t>
                </a:r>
                <a:r>
                  <a:rPr lang="ro-RO" sz="1600" dirty="0"/>
                  <a:t>k)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1. </a:t>
                </a:r>
                <a:r>
                  <a:rPr lang="en-US" sz="1600" dirty="0"/>
                  <a:t>r</a:t>
                </a:r>
                <a:r>
                  <a:rPr lang="ro-RO" sz="1600" dirty="0"/>
                  <a:t>eturn T</a:t>
                </a:r>
                <a:r>
                  <a:rPr lang="en-US" sz="1600" dirty="0"/>
                  <a:t>[k]</a:t>
                </a:r>
              </a:p>
              <a:p>
                <a:pPr marL="0" indent="0" eaLnBrk="1" hangingPunct="1">
                  <a:buNone/>
                </a:pPr>
                <a:endParaRPr lang="en-US" sz="1600" dirty="0"/>
              </a:p>
              <a:p>
                <a:pPr marL="0" indent="0" eaLnBrk="1" hangingPunct="1">
                  <a:buNone/>
                </a:pPr>
                <a:r>
                  <a:rPr lang="en-US" sz="1600" dirty="0"/>
                  <a:t>DIRECT-ADDRESS-INSERT(T, x)</a:t>
                </a:r>
              </a:p>
              <a:p>
                <a:pPr marL="0" indent="0" eaLnBrk="1" hangingPunct="1">
                  <a:buNone/>
                </a:pPr>
                <a:r>
                  <a:rPr lang="en-US" sz="1600" dirty="0"/>
                  <a:t>1. T[</a:t>
                </a:r>
                <a:r>
                  <a:rPr lang="en-US" sz="1600" dirty="0" err="1"/>
                  <a:t>x.key</a:t>
                </a:r>
                <a:r>
                  <a:rPr lang="en-US" sz="1600" dirty="0"/>
                  <a:t>] = x</a:t>
                </a:r>
              </a:p>
              <a:p>
                <a:pPr marL="0" indent="0" eaLnBrk="1" hangingPunct="1">
                  <a:buNone/>
                </a:pPr>
                <a:endParaRPr lang="en-US" sz="1600" dirty="0"/>
              </a:p>
              <a:p>
                <a:pPr marL="0" indent="0" eaLnBrk="1" hangingPunct="1">
                  <a:buNone/>
                </a:pPr>
                <a:r>
                  <a:rPr lang="en-US" sz="1600" dirty="0"/>
                  <a:t>DIRECT-ADDRESS-DELETE(T, x)</a:t>
                </a:r>
              </a:p>
              <a:p>
                <a:pPr marL="0" indent="0" eaLnBrk="1" hangingPunct="1">
                  <a:buNone/>
                </a:pPr>
                <a:r>
                  <a:rPr lang="en-US" sz="1600" dirty="0"/>
                  <a:t>1. T[</a:t>
                </a:r>
                <a:r>
                  <a:rPr lang="en-US" sz="1600" dirty="0" err="1"/>
                  <a:t>x.key</a:t>
                </a:r>
                <a:r>
                  <a:rPr lang="en-US" sz="1600" dirty="0"/>
                  <a:t>] = NIL</a:t>
                </a:r>
                <a:endParaRPr lang="ro-RO" sz="1600" dirty="0"/>
              </a:p>
            </p:txBody>
          </p:sp>
        </mc:Choice>
        <mc:Fallback xmlns="">
          <p:sp>
            <p:nvSpPr>
              <p:cNvPr id="11267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09600" y="1600200"/>
                <a:ext cx="7924800" cy="4114800"/>
              </a:xfrm>
              <a:blipFill rotWithShape="1">
                <a:blip r:embed="rId2"/>
                <a:stretch>
                  <a:fillRect l="-385" t="-741" r="-231" b="-859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3786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Tabele</a:t>
            </a:r>
            <a:r>
              <a:rPr lang="en-US" sz="3600" dirty="0"/>
              <a:t> direct </a:t>
            </a:r>
            <a:r>
              <a:rPr lang="en-US" sz="3600" dirty="0" err="1"/>
              <a:t>adresabile</a:t>
            </a:r>
            <a:r>
              <a:rPr lang="en-US" sz="3600" dirty="0"/>
              <a:t> (II)</a:t>
            </a:r>
            <a:endParaRPr lang="ro-RO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- 24 Octombrie 2022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7778750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Tabele de dispersie</a:t>
            </a:r>
            <a:r>
              <a:rPr lang="en-US" sz="3200" dirty="0"/>
              <a:t> – </a:t>
            </a:r>
            <a:r>
              <a:rPr lang="en-US" sz="3200" dirty="0" err="1"/>
              <a:t>functia</a:t>
            </a:r>
            <a:r>
              <a:rPr lang="en-US" sz="3200" dirty="0"/>
              <a:t> de </a:t>
            </a:r>
            <a:r>
              <a:rPr lang="en-US" sz="3200" dirty="0" err="1"/>
              <a:t>dispersie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09600" y="1524000"/>
                <a:ext cx="8229600" cy="4648200"/>
              </a:xfrm>
            </p:spPr>
            <p:txBody>
              <a:bodyPr/>
              <a:lstStyle/>
              <a:p>
                <a:pPr eaLnBrk="1" hangingPunct="1"/>
                <a:r>
                  <a:rPr lang="ro-RO" sz="1800" dirty="0"/>
                  <a:t>Dacă universul de chei U este mare</a:t>
                </a:r>
                <a:r>
                  <a:rPr lang="en-US" sz="1800" dirty="0"/>
                  <a:t> (</a:t>
                </a:r>
                <a:r>
                  <a:rPr lang="en-US" sz="1800" dirty="0" err="1"/>
                  <a:t>adic</a:t>
                </a:r>
                <a:r>
                  <a:rPr lang="ro-RO" sz="1800" dirty="0"/>
                  <a:t>ă valori mari ale lui m), se pune problema dimensiunii alocării unui sir T</a:t>
                </a:r>
                <a:r>
                  <a:rPr lang="en-US" sz="1800" dirty="0"/>
                  <a:t>[0..m-1]</a:t>
                </a:r>
                <a:endParaRPr lang="ro-RO" sz="1800" dirty="0"/>
              </a:p>
              <a:p>
                <a:pPr eaLnBrk="1" hangingPunct="1"/>
                <a:r>
                  <a:rPr lang="ro-RO" sz="1800" dirty="0"/>
                  <a:t>In general, numărul de chei K care se stochează este mic în comparație cu mărimea lui U</a:t>
                </a:r>
              </a:p>
              <a:p>
                <a:pPr eaLnBrk="1" hangingPunct="1"/>
                <a:r>
                  <a:rPr lang="ro-RO" sz="1800" dirty="0"/>
                  <a:t>Dacă numărul de chei K din dicționar este mult mai mic decât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𝑚</m:t>
                    </m:r>
                    <m:r>
                      <a:rPr lang="ro-RO" sz="1800" b="0" i="1" smtClean="0">
                        <a:latin typeface="Cambria Math"/>
                      </a:rPr>
                      <m:t>=|</m:t>
                    </m:r>
                    <m:r>
                      <a:rPr lang="ro-RO" sz="1800" b="0" i="1" smtClean="0">
                        <a:latin typeface="Cambria Math"/>
                      </a:rPr>
                      <m:t>𝑈</m:t>
                    </m:r>
                    <m:r>
                      <a:rPr lang="ro-RO" sz="1800" b="0" i="1" smtClean="0">
                        <a:latin typeface="Cambria Math"/>
                      </a:rPr>
                      <m:t>|</m:t>
                    </m:r>
                  </m:oMath>
                </a14:m>
                <a:r>
                  <a:rPr lang="ro-RO" sz="1800" dirty="0"/>
                  <a:t>, tabelele de dispersie reduc necesarul de memorie 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𝐾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dirty="0"/>
                  <a:t> iar operațiile de căutare se fac in timp O(1)</a:t>
                </a:r>
              </a:p>
              <a:p>
                <a:pPr eaLnBrk="1" hangingPunct="1"/>
                <a:r>
                  <a:rPr lang="ro-RO" sz="1800" dirty="0"/>
                  <a:t>La tabele de dispersie, O(1) pentru căutare este valabil pentru cazul mediu de utilizare, </a:t>
                </a:r>
              </a:p>
              <a:p>
                <a:pPr eaLnBrk="1" hangingPunct="1"/>
                <a:r>
                  <a:rPr lang="ro-RO" sz="1800" dirty="0"/>
                  <a:t>La tabele direct adresabile O(1) are loc si pentru cazul cel mai rău</a:t>
                </a:r>
              </a:p>
              <a:p>
                <a:pPr marL="0" indent="0" eaLnBrk="1" hangingPunct="1">
                  <a:buNone/>
                </a:pPr>
                <a:endParaRPr lang="ro-RO" sz="1800" b="1" dirty="0"/>
              </a:p>
              <a:p>
                <a:pPr marL="0" indent="0" eaLnBrk="1" hangingPunct="1">
                  <a:buNone/>
                </a:pPr>
                <a:r>
                  <a:rPr lang="ro-RO" sz="1800" b="1" dirty="0"/>
                  <a:t>Definiție</a:t>
                </a:r>
              </a:p>
              <a:p>
                <a:pPr eaLnBrk="1" hangingPunct="1"/>
                <a:r>
                  <a:rPr lang="ro-RO" sz="1800" dirty="0"/>
                  <a:t>Funcția de dispersie (hash function)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h</m:t>
                    </m:r>
                    <m:r>
                      <a:rPr lang="ro-RO" sz="1800" b="0" i="1" smtClean="0">
                        <a:latin typeface="Cambria Math"/>
                      </a:rPr>
                      <m:t>:</m:t>
                    </m:r>
                    <m:r>
                      <a:rPr lang="ro-RO" sz="1800" b="0" i="1" smtClean="0">
                        <a:latin typeface="Cambria Math"/>
                      </a:rPr>
                      <m:t>𝑈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{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0,1,…,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−1}</m:t>
                    </m:r>
                  </m:oMath>
                </a14:m>
                <a:endParaRPr lang="ro-RO" sz="1800" dirty="0"/>
              </a:p>
              <a:p>
                <a:pPr eaLnBrk="1" hangingPunct="1"/>
                <a:r>
                  <a:rPr lang="ro-RO" sz="1800" dirty="0"/>
                  <a:t>Fiecare element cu cheia k este salvat în locația T</a:t>
                </a:r>
                <a:r>
                  <a:rPr lang="en-US" sz="1800" dirty="0"/>
                  <a:t>[</a:t>
                </a:r>
                <a:r>
                  <a:rPr lang="ro-RO" sz="1800" dirty="0"/>
                  <a:t>h(k)</a:t>
                </a:r>
                <a:r>
                  <a:rPr lang="en-US" sz="1800" dirty="0"/>
                  <a:t>]</a:t>
                </a:r>
                <a:endParaRPr lang="ro-RO" sz="1800" dirty="0"/>
              </a:p>
              <a:p>
                <a:pPr eaLnBrk="1" hangingPunct="1"/>
                <a:r>
                  <a:rPr lang="en-US" sz="1800" dirty="0" err="1"/>
                  <a:t>Pt</a:t>
                </a:r>
                <a:r>
                  <a:rPr lang="en-US" sz="1800" dirty="0"/>
                  <a:t> </a:t>
                </a:r>
                <a:r>
                  <a:rPr lang="en-US" sz="1800" dirty="0" err="1"/>
                  <a:t>functia</a:t>
                </a:r>
                <a:r>
                  <a:rPr lang="en-US" sz="1800" dirty="0"/>
                  <a:t> de </a:t>
                </a:r>
                <a:r>
                  <a:rPr lang="en-US" sz="1800" dirty="0" err="1"/>
                  <a:t>dispersie</a:t>
                </a:r>
                <a:r>
                  <a:rPr lang="en-US" sz="1800" dirty="0"/>
                  <a:t> are </a:t>
                </a:r>
                <a:r>
                  <a:rPr lang="ro-RO" sz="1800" dirty="0"/>
                  <a:t>loc condiția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𝑚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≪|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𝑈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endParaRPr lang="ro-RO" sz="1800" dirty="0"/>
              </a:p>
              <a:p>
                <a:pPr eaLnBrk="1" hangingPunct="1"/>
                <a:endParaRPr lang="en-US" sz="1800" dirty="0"/>
              </a:p>
            </p:txBody>
          </p:sp>
        </mc:Choice>
        <mc:Fallback xmlns="">
          <p:sp>
            <p:nvSpPr>
              <p:cNvPr id="12291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524000"/>
                <a:ext cx="8229600" cy="4648200"/>
              </a:xfrm>
              <a:blipFill rotWithShape="1">
                <a:blip r:embed="rId2"/>
                <a:stretch>
                  <a:fillRect l="-593" t="-655" r="-370" b="-314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20703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3999"/>
            <a:ext cx="7391849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r>
              <a:rPr lang="en-US" sz="1800" dirty="0" err="1"/>
              <a:t>Coliziune</a:t>
            </a:r>
            <a:r>
              <a:rPr lang="en-US" sz="1800" dirty="0"/>
              <a:t>: </a:t>
            </a:r>
            <a:r>
              <a:rPr lang="en-US" sz="1800" dirty="0" err="1"/>
              <a:t>dac</a:t>
            </a:r>
            <a:r>
              <a:rPr lang="ro-RO" sz="1800" dirty="0"/>
              <a:t>ă două chei au aceași valoare de hash</a:t>
            </a:r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70100"/>
            <a:ext cx="8308975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Proprietăți ale funcției de dispersie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85800" y="1676400"/>
                <a:ext cx="7772400" cy="4114800"/>
              </a:xfrm>
            </p:spPr>
            <p:txBody>
              <a:bodyPr/>
              <a:lstStyle/>
              <a:p>
                <a:pPr eaLnBrk="1" hangingPunct="1"/>
                <a:r>
                  <a:rPr lang="ro-RO" sz="2000" dirty="0"/>
                  <a:t>Trebuie să fie o funcție care să minimizeze șansa apariției coliziunilor</a:t>
                </a:r>
              </a:p>
              <a:p>
                <a:pPr eaLnBrk="1" hangingPunct="1"/>
                <a:endParaRPr lang="ro-RO" sz="2000" dirty="0"/>
              </a:p>
              <a:p>
                <a:pPr eaLnBrk="1" hangingPunct="1"/>
                <a:r>
                  <a:rPr lang="ro-RO" sz="2000" dirty="0"/>
                  <a:t>Deoarece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/>
                      </a:rPr>
                      <m:t>𝑚</m:t>
                    </m:r>
                    <m:r>
                      <a:rPr lang="ro-RO" sz="2000" i="1">
                        <a:latin typeface="Cambria Math"/>
                        <a:ea typeface="Cambria Math"/>
                      </a:rPr>
                      <m:t>≪|</m:t>
                    </m:r>
                    <m:r>
                      <a:rPr lang="ro-RO" sz="2000" i="1">
                        <a:latin typeface="Cambria Math"/>
                        <a:ea typeface="Cambria Math"/>
                      </a:rPr>
                      <m:t>𝑈</m:t>
                    </m:r>
                    <m:r>
                      <a:rPr lang="ro-RO" sz="2000" i="1"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ro-RO" sz="2000" dirty="0"/>
                  <a:t>, in cel mai rău caz coliziunile nu pot fi evitate</a:t>
                </a:r>
              </a:p>
              <a:p>
                <a:pPr marL="0" indent="0" eaLnBrk="1" hangingPunct="1">
                  <a:buNone/>
                </a:pPr>
                <a:r>
                  <a:rPr lang="ro-RO" sz="2000" dirty="0"/>
                  <a:t>=</a:t>
                </a:r>
                <a:r>
                  <a:rPr lang="en-US" sz="2000" dirty="0"/>
                  <a:t>&gt; </a:t>
                </a:r>
                <a:r>
                  <a:rPr lang="ro-RO" sz="2000" dirty="0"/>
                  <a:t>m</a:t>
                </a:r>
                <a:r>
                  <a:rPr lang="en-US" sz="2000" dirty="0" err="1"/>
                  <a:t>eto</a:t>
                </a:r>
                <a:r>
                  <a:rPr lang="ro-RO" sz="2000" dirty="0"/>
                  <a:t>dă de rezolvare a coliziunilor</a:t>
                </a:r>
              </a:p>
              <a:p>
                <a:pPr eaLnBrk="1" hangingPunct="1"/>
                <a:endParaRPr lang="ro-RO" sz="2000" dirty="0"/>
              </a:p>
              <a:p>
                <a:pPr marL="0" indent="0" eaLnBrk="1" hangingPunct="1">
                  <a:buNone/>
                </a:pPr>
                <a:endParaRPr lang="ro-RO" sz="1800" dirty="0"/>
              </a:p>
            </p:txBody>
          </p:sp>
        </mc:Choice>
        <mc:Fallback xmlns="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1676400"/>
                <a:ext cx="7772400" cy="4114800"/>
              </a:xfrm>
              <a:blipFill rotWithShape="0">
                <a:blip r:embed="rId2"/>
                <a:stretch>
                  <a:fillRect l="-863" t="-741" r="-15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Implement</a:t>
            </a:r>
            <a:r>
              <a:rPr lang="ro-RO" sz="3200" dirty="0"/>
              <a:t>ări ale funcției de dispersie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Content Placeholder 18" descr="Rectangle: Click to edit Master text styles&#10;Second level&#10;Third level&#10;Fourth level&#10;Fifth level"/>
              <p:cNvSpPr>
                <a:spLocks noGrp="1"/>
              </p:cNvSpPr>
              <p:nvPr>
                <p:ph idx="1"/>
              </p:nvPr>
            </p:nvSpPr>
            <p:spPr>
              <a:xfrm>
                <a:off x="639762" y="1524000"/>
                <a:ext cx="8199437" cy="4648200"/>
              </a:xfrm>
            </p:spPr>
            <p:txBody>
              <a:bodyPr/>
              <a:lstStyle/>
              <a:p>
                <a:r>
                  <a:rPr lang="ro-RO" sz="1800" dirty="0"/>
                  <a:t>Functia de dispersie trebuie sa producă o permutare a lui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0,1,…,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𝑚</m:t>
                        </m:r>
                        <m:r>
                          <a:rPr lang="ro-RO" sz="1800" b="0" i="1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Probarea liniară</a:t>
                </a:r>
              </a:p>
              <a:p>
                <a:r>
                  <a:rPr lang="ro-RO" sz="1600" dirty="0"/>
                  <a:t>Dacă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</a:rPr>
                      <m:t>:</m:t>
                    </m:r>
                    <m:r>
                      <a:rPr lang="en-US" sz="1600" b="0" i="1" smtClean="0">
                        <a:latin typeface="Cambria Math"/>
                      </a:rPr>
                      <m:t>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→{0,1,…,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−1}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func</a:t>
                </a:r>
                <a:r>
                  <a:rPr lang="ro-RO" sz="1600" dirty="0"/>
                  <a:t>ție de dispersie obișnuită auxiliară, atunci</a:t>
                </a:r>
              </a:p>
              <a:p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en-US" sz="1600" b="0" i="1" smtClean="0">
                            <a:latin typeface="Cambria Math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/>
                      </a:rPr>
                      <m:t>mod</m:t>
                    </m:r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r>
                      <a:rPr lang="en-US" sz="1600" b="0" i="1" smtClean="0">
                        <a:latin typeface="Cambria Math"/>
                      </a:rPr>
                      <m:t>𝑚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 err="1"/>
                  <a:t>Probarea</a:t>
                </a:r>
                <a:r>
                  <a:rPr lang="en-US" sz="1600" b="1" dirty="0"/>
                  <a:t> p</a:t>
                </a:r>
                <a:r>
                  <a:rPr lang="ro-RO" sz="1600" b="1" dirty="0"/>
                  <a:t>ătratică</a:t>
                </a:r>
                <a:endParaRPr lang="en-US" sz="1600" b="1" dirty="0"/>
              </a:p>
              <a:p>
                <a:r>
                  <a:rPr lang="ro-RO" sz="1600" dirty="0"/>
                  <a:t>Dacă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600" i="1">
                        <a:latin typeface="Cambria Math"/>
                      </a:rPr>
                      <m:t>:</m:t>
                    </m:r>
                    <m:r>
                      <a:rPr lang="en-US" sz="1600" i="1">
                        <a:latin typeface="Cambria Math"/>
                      </a:rPr>
                      <m:t>𝑈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→{0,1,…,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𝑚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−1}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func</a:t>
                </a:r>
                <a:r>
                  <a:rPr lang="ro-RO" sz="1600" dirty="0"/>
                  <a:t>ție de dispersie obișnuită auxiliară, atunci</a:t>
                </a:r>
              </a:p>
              <a:p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en-US" sz="16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/>
                      </a:rPr>
                      <m:t>mod</m:t>
                    </m:r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r>
                      <a:rPr lang="en-US" sz="1600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sz="1600" dirty="0"/>
                  <a:t>,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o-RO" sz="1600" dirty="0"/>
                  <a:t>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600" dirty="0"/>
                  <a:t> două constante pozitive</a:t>
                </a:r>
                <a:endParaRPr lang="en-US" sz="1600" dirty="0"/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b="1" dirty="0"/>
                  <a:t>Dispersia dublă</a:t>
                </a:r>
              </a:p>
              <a:p>
                <a:r>
                  <a:rPr lang="ro-RO" sz="1600" dirty="0"/>
                  <a:t>Dacă se consideră două funcții de dispersie auxiliare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600" dirty="0"/>
                  <a:t>, atunci</a:t>
                </a:r>
              </a:p>
              <a:p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ro-RO" sz="1600" b="0" i="1" smtClean="0">
                            <a:latin typeface="Cambria Math"/>
                          </a:rPr>
                          <m:t>+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ro-RO" sz="16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mod</m:t>
                    </m:r>
                    <m:r>
                      <a:rPr lang="ro-RO" sz="1600" b="0" i="1" smtClean="0">
                        <a:latin typeface="Cambria Math"/>
                      </a:rPr>
                      <m:t> </m:t>
                    </m:r>
                    <m:r>
                      <a:rPr lang="ro-RO" sz="1600" b="0" i="1" smtClean="0">
                        <a:latin typeface="Cambria Math"/>
                      </a:rPr>
                      <m:t>𝑚</m:t>
                    </m:r>
                  </m:oMath>
                </a14:m>
                <a:endParaRPr lang="ro-RO" sz="1600" dirty="0"/>
              </a:p>
              <a:p>
                <a:r>
                  <a:rPr lang="ro-RO" sz="1600" dirty="0"/>
                  <a:t>De exemplu se poate considera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</a:rPr>
                      <m:t>𝑘</m:t>
                    </m:r>
                    <m:r>
                      <a:rPr lang="ro-RO" sz="16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mod</m:t>
                    </m:r>
                    <m:r>
                      <a:rPr lang="ro-RO" sz="1600" b="0" i="1" smtClean="0">
                        <a:latin typeface="Cambria Math"/>
                      </a:rPr>
                      <m:t> </m:t>
                    </m:r>
                    <m:r>
                      <a:rPr lang="ro-RO" sz="1600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=1+(</m:t>
                    </m:r>
                    <m:r>
                      <a:rPr lang="ro-RO" sz="1600" b="0" i="1" smtClean="0">
                        <a:latin typeface="Cambria Math"/>
                      </a:rPr>
                      <m:t>𝑘</m:t>
                    </m:r>
                    <m:r>
                      <a:rPr lang="ro-RO" sz="16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mod</m:t>
                    </m:r>
                    <m:r>
                      <a:rPr lang="ro-RO" sz="1600" b="0" i="1" smtClean="0">
                        <a:latin typeface="Cambria Math"/>
                      </a:rPr>
                      <m:t> (</m:t>
                    </m:r>
                    <m:r>
                      <a:rPr lang="ro-RO" sz="1600" b="0" i="1" smtClean="0">
                        <a:latin typeface="Cambria Math"/>
                      </a:rPr>
                      <m:t>𝑚</m:t>
                    </m:r>
                    <m:r>
                      <a:rPr lang="ro-RO" sz="1600" b="0" i="1" smtClean="0">
                        <a:latin typeface="Cambria Math"/>
                      </a:rPr>
                      <m:t>−1))</m:t>
                    </m:r>
                  </m:oMath>
                </a14:m>
                <a:r>
                  <a:rPr lang="ro-RO" sz="1600" dirty="0"/>
                  <a:t>, cu m număr prim</a:t>
                </a:r>
              </a:p>
            </p:txBody>
          </p:sp>
        </mc:Choice>
        <mc:Fallback xmlns="">
          <p:sp>
            <p:nvSpPr>
              <p:cNvPr id="19459" name="Content Placeholder 18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762" y="1524000"/>
                <a:ext cx="8199437" cy="4648200"/>
              </a:xfrm>
              <a:blipFill rotWithShape="1">
                <a:blip r:embed="rId2"/>
                <a:stretch>
                  <a:fillRect l="-669" t="-65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946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9463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21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Rezolvarea coliziunilor prin inlănțuire</a:t>
            </a:r>
            <a:endParaRPr lang="en-US" sz="3200" dirty="0"/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 eaLnBrk="1" hangingPunct="1"/>
            <a:r>
              <a:rPr lang="ro-RO" sz="1800" dirty="0"/>
              <a:t>Plasăm elementele care au valori de hash egale in același slot, într-o listă inlănțuită </a:t>
            </a:r>
          </a:p>
          <a:p>
            <a:pPr eaLnBrk="1" hangingPunct="1"/>
            <a:r>
              <a:rPr lang="ro-RO" sz="1800" dirty="0"/>
              <a:t>Slotul j conține un pointer către lista care salvează elementele care au j ca si valoare de hash</a:t>
            </a:r>
          </a:p>
          <a:p>
            <a:pPr eaLnBrk="1" hangingPunct="1"/>
            <a:r>
              <a:rPr lang="ro-RO" sz="1800" dirty="0"/>
              <a:t>Daca nici un element nu are valoare de hash pe j, atunci la T</a:t>
            </a:r>
            <a:r>
              <a:rPr lang="en-US" sz="1800" dirty="0"/>
              <a:t>[j] = NIL</a:t>
            </a:r>
          </a:p>
          <a:p>
            <a:pPr eaLnBrk="1" hangingPunct="1"/>
            <a:endParaRPr lang="en-US" sz="1800" dirty="0"/>
          </a:p>
          <a:p>
            <a:pPr marL="0" indent="0" eaLnBrk="1" hangingPunct="1">
              <a:buNone/>
            </a:pPr>
            <a:r>
              <a:rPr lang="en-US" sz="1800" dirty="0"/>
              <a:t>CHAINED-HASH-INSERT(T, x)</a:t>
            </a:r>
          </a:p>
          <a:p>
            <a:pPr marL="0" indent="0" eaLnBrk="1" hangingPunct="1">
              <a:buNone/>
            </a:pPr>
            <a:r>
              <a:rPr lang="en-US" sz="1800" dirty="0"/>
              <a:t>1. Insert x la </a:t>
            </a:r>
            <a:r>
              <a:rPr lang="en-US" sz="1800" dirty="0" err="1"/>
              <a:t>varful</a:t>
            </a:r>
            <a:r>
              <a:rPr lang="en-US" sz="1800" dirty="0"/>
              <a:t> </a:t>
            </a:r>
            <a:r>
              <a:rPr lang="en-US" sz="1800" dirty="0" err="1"/>
              <a:t>listei</a:t>
            </a:r>
            <a:r>
              <a:rPr lang="en-US" sz="1800" dirty="0"/>
              <a:t> T[h(</a:t>
            </a:r>
            <a:r>
              <a:rPr lang="en-US" sz="1800" dirty="0" err="1"/>
              <a:t>x.key</a:t>
            </a:r>
            <a:r>
              <a:rPr lang="en-US" sz="1800" dirty="0"/>
              <a:t>)]</a:t>
            </a:r>
          </a:p>
          <a:p>
            <a:pPr marL="0" indent="0" eaLnBrk="1" hangingPunct="1">
              <a:buNone/>
            </a:pPr>
            <a:endParaRPr lang="en-US" sz="1800" dirty="0"/>
          </a:p>
          <a:p>
            <a:pPr marL="0" indent="0" eaLnBrk="1" hangingPunct="1">
              <a:buNone/>
            </a:pPr>
            <a:r>
              <a:rPr lang="en-US" sz="1800" dirty="0"/>
              <a:t>CHAINED-HASH-SEARCH(T, k)</a:t>
            </a:r>
          </a:p>
          <a:p>
            <a:pPr marL="0" indent="0" eaLnBrk="1" hangingPunct="1">
              <a:buNone/>
            </a:pPr>
            <a:r>
              <a:rPr lang="en-US" sz="1800" dirty="0"/>
              <a:t>1. Se </a:t>
            </a:r>
            <a:r>
              <a:rPr lang="en-US" sz="1800" dirty="0" err="1"/>
              <a:t>caut</a:t>
            </a:r>
            <a:r>
              <a:rPr lang="ro-RO" sz="1800" dirty="0"/>
              <a:t>ă un element cu cheia k în lista T</a:t>
            </a:r>
            <a:r>
              <a:rPr lang="en-US" sz="1800" dirty="0"/>
              <a:t>[h(k)]</a:t>
            </a:r>
          </a:p>
          <a:p>
            <a:pPr marL="0" indent="0" eaLnBrk="1" hangingPunct="1">
              <a:buNone/>
            </a:pPr>
            <a:endParaRPr lang="en-US" sz="1800" dirty="0"/>
          </a:p>
          <a:p>
            <a:pPr marL="0" indent="0" eaLnBrk="1" hangingPunct="1">
              <a:buNone/>
            </a:pPr>
            <a:r>
              <a:rPr lang="en-US" sz="1800" dirty="0"/>
              <a:t>CHAINED-HASH-DELETE(T, x)</a:t>
            </a:r>
          </a:p>
          <a:p>
            <a:pPr marL="0" indent="0" eaLnBrk="1" hangingPunct="1">
              <a:buNone/>
            </a:pPr>
            <a:r>
              <a:rPr lang="en-US" sz="1800" dirty="0"/>
              <a:t>1. Se </a:t>
            </a:r>
            <a:r>
              <a:rPr lang="en-US" sz="1800" dirty="0" err="1"/>
              <a:t>sterge</a:t>
            </a:r>
            <a:r>
              <a:rPr lang="en-US" sz="1800" dirty="0"/>
              <a:t> x din </a:t>
            </a:r>
            <a:r>
              <a:rPr lang="en-US" sz="1800" dirty="0" err="1"/>
              <a:t>lista</a:t>
            </a:r>
            <a:r>
              <a:rPr lang="en-US" sz="1800" dirty="0"/>
              <a:t> T[h(</a:t>
            </a:r>
            <a:r>
              <a:rPr lang="en-US" sz="1800" dirty="0" err="1"/>
              <a:t>x.key</a:t>
            </a:r>
            <a:r>
              <a:rPr lang="en-US" sz="1800" dirty="0"/>
              <a:t>)]</a:t>
            </a:r>
            <a:endParaRPr lang="ro-RO" sz="1800" dirty="0"/>
          </a:p>
          <a:p>
            <a:pPr eaLnBrk="1" hangingPunct="1"/>
            <a:endParaRPr lang="en-US" sz="16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Analiza</a:t>
            </a:r>
            <a:r>
              <a:rPr lang="en-US" sz="3200" dirty="0"/>
              <a:t> </a:t>
            </a:r>
            <a:r>
              <a:rPr lang="en-US" sz="3200" dirty="0" err="1"/>
              <a:t>tabelelor</a:t>
            </a:r>
            <a:r>
              <a:rPr lang="en-US" sz="3200" dirty="0"/>
              <a:t> de </a:t>
            </a:r>
            <a:r>
              <a:rPr lang="en-US" sz="3200" dirty="0" err="1"/>
              <a:t>dispersie</a:t>
            </a:r>
            <a:r>
              <a:rPr lang="en-US" sz="3200" dirty="0"/>
              <a:t> cu </a:t>
            </a:r>
            <a:r>
              <a:rPr lang="en-US" sz="3200" dirty="0" err="1"/>
              <a:t>inl</a:t>
            </a:r>
            <a:r>
              <a:rPr lang="ro-RO" sz="3200" dirty="0"/>
              <a:t>ănțuire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ontent Placeholder 2" descr="Rectangle: Click to edit Master text styles&#10;Second level&#10;Third level&#10;Fourth level&#10;Fifth level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5105400"/>
              </a:xfrm>
            </p:spPr>
            <p:txBody>
              <a:bodyPr/>
              <a:lstStyle/>
              <a:p>
                <a:r>
                  <a:rPr lang="ro-RO" sz="1800" dirty="0"/>
                  <a:t>Fie o tabelă de dispersie T</a:t>
                </a:r>
                <a:r>
                  <a:rPr lang="en-US" sz="1800" dirty="0"/>
                  <a:t>[0..m-1], care </a:t>
                </a:r>
                <a:r>
                  <a:rPr lang="en-US" sz="1800" dirty="0" err="1"/>
                  <a:t>salveaz</a:t>
                </a:r>
                <a:r>
                  <a:rPr lang="ro-RO" sz="1800" dirty="0"/>
                  <a:t>ă n elemente</a:t>
                </a:r>
              </a:p>
              <a:p>
                <a:r>
                  <a:rPr lang="ro-RO" sz="1800" dirty="0"/>
                  <a:t>Factorul de incarcare a tabelei: </a:t>
                </a:r>
                <a14:m>
                  <m:oMath xmlns:m="http://schemas.openxmlformats.org/officeDocument/2006/math">
                    <m:r>
                      <a:rPr lang="ro-RO" sz="1800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𝑚</m:t>
                    </m:r>
                  </m:oMath>
                </a14:m>
                <a:r>
                  <a:rPr lang="ro-RO" sz="1600" dirty="0"/>
                  <a:t>: numărul mediu de elemente salvat într-o inlănțuire</a:t>
                </a:r>
              </a:p>
              <a:p>
                <a:r>
                  <a:rPr lang="en-US" sz="1600" dirty="0" err="1"/>
                  <a:t>Presupunem</a:t>
                </a:r>
                <a:r>
                  <a:rPr lang="en-US" sz="1600" dirty="0"/>
                  <a:t> c</a:t>
                </a:r>
                <a:r>
                  <a:rPr lang="ro-RO" sz="1600" dirty="0"/>
                  <a:t>ă h</a:t>
                </a:r>
                <a:r>
                  <a:rPr lang="en-US" sz="1600" dirty="0"/>
                  <a:t>[k] se </a:t>
                </a:r>
                <a:r>
                  <a:rPr lang="en-US" sz="1600" dirty="0" err="1"/>
                  <a:t>calculeaz</a:t>
                </a:r>
                <a:r>
                  <a:rPr lang="ro-RO" sz="1600" dirty="0"/>
                  <a:t>ă în O(1)</a:t>
                </a:r>
                <a:endParaRPr lang="en-US" sz="1600" dirty="0"/>
              </a:p>
              <a:p>
                <a:endParaRPr lang="ro-RO" sz="1600" dirty="0"/>
              </a:p>
              <a:p>
                <a:r>
                  <a:rPr lang="ro-RO" sz="1600" dirty="0"/>
                  <a:t>Cel mai rau caz: toate cele n chei se inlănțuiesc pe aceași pozitie, unde avem o listă de lungime n =</a:t>
                </a:r>
                <a:r>
                  <a:rPr lang="en-US" sz="1600" dirty="0"/>
                  <a:t>&gt;</a:t>
                </a:r>
                <a:r>
                  <a:rPr lang="ro-RO" sz="1600" dirty="0"/>
                  <a:t> timp de căutare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r>
                  <a:rPr lang="ro-RO" sz="1600" dirty="0"/>
                  <a:t>Cazul mediu: funcția de hash distribuie in mod uniform cheile pe cele m poziții</a:t>
                </a:r>
              </a:p>
              <a:p>
                <a:pPr lvl="1"/>
                <a:r>
                  <a:rPr lang="ro-RO" sz="1600" dirty="0"/>
                  <a:t>Notăm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600" dirty="0"/>
                  <a:t>lungimea listei de pe poziția T</a:t>
                </a:r>
                <a:r>
                  <a:rPr lang="en-US" sz="1600" dirty="0"/>
                  <a:t>[j]</a:t>
                </a:r>
              </a:p>
              <a:p>
                <a:pPr lvl="1"/>
                <a:r>
                  <a:rPr lang="en-US" sz="1600" dirty="0" err="1"/>
                  <a:t>Valoarea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asteptat</a:t>
                </a:r>
                <a:r>
                  <a:rPr lang="ro-RO" sz="1600" dirty="0"/>
                  <a:t>ă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este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𝐸</m:t>
                        </m:r>
                        <m:r>
                          <a:rPr lang="en-US" sz="1800" b="0" i="1" smtClean="0">
                            <a:latin typeface="Cambria Math"/>
                          </a:rPr>
                          <m:t>[</m:t>
                        </m:r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]=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∝=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𝑚</m:t>
                    </m:r>
                  </m:oMath>
                </a14:m>
                <a:endParaRPr lang="ro-RO" sz="1800" dirty="0"/>
              </a:p>
              <a:p>
                <a:pPr lvl="1"/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Rezultate teoretice – in cazul funcțiilor cu dispersie uniformă</a:t>
                </a:r>
              </a:p>
              <a:p>
                <a:pPr marL="0" indent="0">
                  <a:buNone/>
                </a:pPr>
                <a:r>
                  <a:rPr lang="ro-RO" sz="1600" dirty="0"/>
                  <a:t>1. Intr-o tabelă de dispersie cu rezolvarea coliziunilor prin inlănțuire, o căutare fără success are loc in cazul mediu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(1+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∝)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ro-RO" sz="1600" dirty="0"/>
                  <a:t>2. intr-o tabelă de dispersie cu rezolvarea coliziunilor prin inlănțuire, o căutare cu success are loc in cazul mediu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</a:rPr>
                          <m:t>1+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∝</m:t>
                        </m:r>
                      </m:e>
                    </m:d>
                  </m:oMath>
                </a14:m>
                <a:endParaRPr lang="ro-RO" sz="160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ro-RO" sz="1600" dirty="0"/>
                  <a:t>=</a:t>
                </a:r>
                <a:r>
                  <a:rPr lang="en-US" sz="1600" dirty="0"/>
                  <a:t>&gt;</a:t>
                </a:r>
                <a:r>
                  <a:rPr lang="ro-RO" sz="1600" dirty="0"/>
                  <a:t> Dacă avem n=O(m), atunci operațiile pe tabela de dispersie se fac in O(1)</a:t>
                </a:r>
              </a:p>
            </p:txBody>
          </p:sp>
        </mc:Choice>
        <mc:Fallback xmlns="">
          <p:sp>
            <p:nvSpPr>
              <p:cNvPr id="17411" name="Content Placeholder 2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5105400"/>
              </a:xfrm>
              <a:blipFill rotWithShape="1">
                <a:blip r:embed="rId2"/>
                <a:stretch>
                  <a:fillRect l="-593" t="-597" r="-519" b="-35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- 24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Rezolvarea</a:t>
            </a:r>
            <a:r>
              <a:rPr lang="en-US" sz="2800" dirty="0"/>
              <a:t> </a:t>
            </a:r>
            <a:r>
              <a:rPr lang="en-US" sz="2800" dirty="0" err="1"/>
              <a:t>coliziunilor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a</a:t>
            </a:r>
            <a:r>
              <a:rPr lang="ro-RO" sz="2800" dirty="0"/>
              <a:t>dresare deschisă </a:t>
            </a:r>
          </a:p>
        </p:txBody>
      </p:sp>
      <p:sp>
        <p:nvSpPr>
          <p:cNvPr id="1845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39762" y="1524000"/>
                <a:ext cx="8199437" cy="4762500"/>
              </a:xfrm>
            </p:spPr>
            <p:txBody>
              <a:bodyPr/>
              <a:lstStyle/>
              <a:p>
                <a:r>
                  <a:rPr lang="ro-RO" sz="1600" dirty="0"/>
                  <a:t>Elementele sunt salvate direct în tabela de dispersie. Deci un slot din tabela de dispersie contine fie un element fie NIL</a:t>
                </a:r>
              </a:p>
              <a:p>
                <a:r>
                  <a:rPr lang="ro-RO" sz="1600" dirty="0"/>
                  <a:t>La cautare, se examinează fiecare slot până la identificarea elementului sau până la NIL</a:t>
                </a:r>
              </a:p>
              <a:p>
                <a:r>
                  <a:rPr lang="ro-RO" sz="1600" dirty="0"/>
                  <a:t>Tabela de dispersie se poate umple, deci in mod maxim avem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ro-RO" sz="1600" dirty="0"/>
              </a:p>
              <a:p>
                <a:r>
                  <a:rPr lang="ro-RO" sz="1600" dirty="0"/>
                  <a:t>La cautate, in loc să se urmeze pointerii de la inlănțuire, se calculează locul unde să se realizeze căutarea</a:t>
                </a:r>
              </a:p>
              <a:p>
                <a:r>
                  <a:rPr lang="ro-RO" sz="1600" dirty="0"/>
                  <a:t>La inserare, se testează locațiile din tabelă până să se găsească una liberă pentru inserare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Functia de dispersie devine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h</m:t>
                    </m:r>
                    <m:r>
                      <a:rPr lang="en-US" sz="1600" b="0" i="1" smtClean="0">
                        <a:latin typeface="Cambria Math"/>
                      </a:rPr>
                      <m:t>:</m:t>
                    </m:r>
                    <m:r>
                      <a:rPr lang="en-US" sz="1600" b="0" i="1" smtClean="0">
                        <a:latin typeface="Cambria Math"/>
                      </a:rPr>
                      <m:t>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0,1,…,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0,1,…,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r>
                  <a:rPr lang="en-US" sz="1600" dirty="0" err="1"/>
                  <a:t>Pentru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cheie</a:t>
                </a:r>
                <a:r>
                  <a:rPr lang="en-US" sz="1600" dirty="0"/>
                  <a:t> k, la </a:t>
                </a:r>
                <a:r>
                  <a:rPr lang="en-US" sz="1600" dirty="0" err="1"/>
                  <a:t>inserare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probeaz</a:t>
                </a:r>
                <a:r>
                  <a:rPr lang="ro-RO" sz="1600" dirty="0"/>
                  <a:t>ă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,0</m:t>
                            </m:r>
                          </m:e>
                        </m:d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,1</m:t>
                            </m:r>
                          </m:e>
                        </m:d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h</m:t>
                        </m:r>
                        <m:r>
                          <a:rPr lang="ro-RO" sz="1600" b="0" i="1" smtClean="0">
                            <a:latin typeface="Cambria Math"/>
                          </a:rPr>
                          <m:t>(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𝑚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−1)</m:t>
                        </m:r>
                      </m:e>
                    </m:d>
                  </m:oMath>
                </a14:m>
                <a:r>
                  <a:rPr lang="ro-RO" sz="1600" dirty="0"/>
                  <a:t>, care reprezintă o permutare a lui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0,1,…,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𝑚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ro-RO" sz="1600" dirty="0"/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762" y="1524000"/>
                <a:ext cx="8199437" cy="4762500"/>
              </a:xfrm>
              <a:blipFill rotWithShape="1">
                <a:blip r:embed="rId2"/>
                <a:stretch>
                  <a:fillRect t="-38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- 24 Octombrie 2022</a:t>
            </a:r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3" name="TextBox 8"/>
          <p:cNvSpPr txBox="1">
            <a:spLocks noChangeArrowheads="1"/>
          </p:cNvSpPr>
          <p:nvPr/>
        </p:nvSpPr>
        <p:spPr bwMode="auto">
          <a:xfrm>
            <a:off x="609600" y="1524000"/>
            <a:ext cx="3916363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ro-RO" sz="2000" dirty="0"/>
              <a:t>HASH-INSERT(T, k)</a:t>
            </a:r>
          </a:p>
          <a:p>
            <a:pPr eaLnBrk="1" hangingPunct="1"/>
            <a:r>
              <a:rPr lang="ro-RO" sz="2000" dirty="0"/>
              <a:t>1. i = 0</a:t>
            </a:r>
          </a:p>
          <a:p>
            <a:pPr eaLnBrk="1" hangingPunct="1"/>
            <a:r>
              <a:rPr lang="ro-RO" sz="1800" dirty="0"/>
              <a:t>2. Repeat</a:t>
            </a:r>
          </a:p>
          <a:p>
            <a:pPr eaLnBrk="1" hangingPunct="1"/>
            <a:r>
              <a:rPr lang="ro-RO" sz="1800" dirty="0"/>
              <a:t>3.	j = h(k,i)</a:t>
            </a:r>
          </a:p>
          <a:p>
            <a:pPr eaLnBrk="1" hangingPunct="1"/>
            <a:r>
              <a:rPr lang="ro-RO" sz="1800" dirty="0"/>
              <a:t>4.	If T</a:t>
            </a:r>
            <a:r>
              <a:rPr lang="en-US" sz="1800" dirty="0"/>
              <a:t>[j] == NIL</a:t>
            </a:r>
          </a:p>
          <a:p>
            <a:pPr eaLnBrk="1" hangingPunct="1"/>
            <a:r>
              <a:rPr lang="en-US" sz="1800" dirty="0"/>
              <a:t>5.		T[j] = k</a:t>
            </a:r>
          </a:p>
          <a:p>
            <a:pPr eaLnBrk="1" hangingPunct="1"/>
            <a:r>
              <a:rPr lang="en-US" sz="1800" dirty="0"/>
              <a:t>6.		Return j</a:t>
            </a:r>
          </a:p>
          <a:p>
            <a:pPr eaLnBrk="1" hangingPunct="1"/>
            <a:r>
              <a:rPr lang="en-US" sz="1800" dirty="0"/>
              <a:t>7.	Else </a:t>
            </a:r>
            <a:r>
              <a:rPr lang="en-US" sz="1800" dirty="0" err="1"/>
              <a:t>i</a:t>
            </a:r>
            <a:r>
              <a:rPr lang="en-US" sz="1800" dirty="0"/>
              <a:t>  = </a:t>
            </a:r>
            <a:r>
              <a:rPr lang="en-US" sz="1800" dirty="0" err="1"/>
              <a:t>i</a:t>
            </a:r>
            <a:r>
              <a:rPr lang="en-US" sz="1800" dirty="0"/>
              <a:t> + 1</a:t>
            </a:r>
          </a:p>
          <a:p>
            <a:pPr eaLnBrk="1" hangingPunct="1"/>
            <a:r>
              <a:rPr lang="en-US" sz="1800" dirty="0"/>
              <a:t>8. Until </a:t>
            </a:r>
            <a:r>
              <a:rPr lang="en-US" sz="1800" dirty="0" err="1"/>
              <a:t>i</a:t>
            </a:r>
            <a:r>
              <a:rPr lang="en-US" sz="1800" dirty="0"/>
              <a:t> == m</a:t>
            </a:r>
          </a:p>
          <a:p>
            <a:pPr eaLnBrk="1" hangingPunct="1"/>
            <a:r>
              <a:rPr lang="en-US" sz="1800" dirty="0"/>
              <a:t>9. Return “</a:t>
            </a:r>
            <a:r>
              <a:rPr lang="en-US" sz="1800" i="1" dirty="0"/>
              <a:t>hash table overflow</a:t>
            </a:r>
            <a:r>
              <a:rPr lang="en-US" sz="1800" dirty="0"/>
              <a:t>”</a:t>
            </a:r>
            <a:endParaRPr lang="ro-RO" sz="1800" dirty="0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9" name="TextBox 8"/>
          <p:cNvSpPr txBox="1">
            <a:spLocks noChangeArrowheads="1"/>
          </p:cNvSpPr>
          <p:nvPr/>
        </p:nvSpPr>
        <p:spPr bwMode="auto">
          <a:xfrm>
            <a:off x="4800600" y="1676399"/>
            <a:ext cx="3916363" cy="264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ro-RO" sz="2000" dirty="0"/>
              <a:t>HASH-</a:t>
            </a:r>
            <a:r>
              <a:rPr lang="en-US" sz="2000" dirty="0"/>
              <a:t>SEARCH</a:t>
            </a:r>
            <a:r>
              <a:rPr lang="ro-RO" sz="2000" dirty="0"/>
              <a:t>(T, k)</a:t>
            </a:r>
          </a:p>
          <a:p>
            <a:pPr eaLnBrk="1" hangingPunct="1"/>
            <a:r>
              <a:rPr lang="ro-RO" sz="2000" dirty="0"/>
              <a:t>1. i = 0</a:t>
            </a:r>
          </a:p>
          <a:p>
            <a:pPr eaLnBrk="1" hangingPunct="1"/>
            <a:r>
              <a:rPr lang="ro-RO" sz="1800" dirty="0"/>
              <a:t>2. Repeat</a:t>
            </a:r>
          </a:p>
          <a:p>
            <a:pPr eaLnBrk="1" hangingPunct="1"/>
            <a:r>
              <a:rPr lang="ro-RO" sz="1800" dirty="0"/>
              <a:t>3.	j = h(k,i)</a:t>
            </a:r>
          </a:p>
          <a:p>
            <a:pPr eaLnBrk="1" hangingPunct="1"/>
            <a:r>
              <a:rPr lang="ro-RO" sz="1800" dirty="0"/>
              <a:t>4.	If T</a:t>
            </a:r>
            <a:r>
              <a:rPr lang="en-US" sz="1800" dirty="0"/>
              <a:t>[j] == k</a:t>
            </a:r>
          </a:p>
          <a:p>
            <a:pPr eaLnBrk="1" hangingPunct="1"/>
            <a:r>
              <a:rPr lang="en-US" sz="1800" dirty="0"/>
              <a:t>5.		Return j</a:t>
            </a:r>
          </a:p>
          <a:p>
            <a:pPr eaLnBrk="1" hangingPunct="1"/>
            <a:r>
              <a:rPr lang="en-US" sz="1800" dirty="0"/>
              <a:t>6.	</a:t>
            </a:r>
            <a:r>
              <a:rPr lang="en-US" sz="1800" dirty="0" err="1"/>
              <a:t>i</a:t>
            </a:r>
            <a:r>
              <a:rPr lang="en-US" sz="1800" dirty="0"/>
              <a:t>  = </a:t>
            </a:r>
            <a:r>
              <a:rPr lang="en-US" sz="1800" dirty="0" err="1"/>
              <a:t>i</a:t>
            </a:r>
            <a:r>
              <a:rPr lang="en-US" sz="1800" dirty="0"/>
              <a:t> + 1</a:t>
            </a:r>
          </a:p>
          <a:p>
            <a:pPr eaLnBrk="1" hangingPunct="1"/>
            <a:r>
              <a:rPr lang="en-US" sz="1800" dirty="0"/>
              <a:t>7. Until T[j] == NIL or </a:t>
            </a:r>
            <a:r>
              <a:rPr lang="en-US" sz="1800" dirty="0" err="1"/>
              <a:t>i</a:t>
            </a:r>
            <a:r>
              <a:rPr lang="en-US" sz="1800" dirty="0"/>
              <a:t> == m</a:t>
            </a:r>
          </a:p>
          <a:p>
            <a:pPr eaLnBrk="1" hangingPunct="1"/>
            <a:r>
              <a:rPr lang="en-US" sz="1800" dirty="0"/>
              <a:t>9. Return NIL</a:t>
            </a:r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3001</TotalTime>
  <Words>1252</Words>
  <Application>Microsoft Office PowerPoint</Application>
  <PresentationFormat>On-screen Show (4:3)</PresentationFormat>
  <Paragraphs>133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Cambria Math</vt:lpstr>
      <vt:lpstr>Tahoma</vt:lpstr>
      <vt:lpstr>Times New Roman</vt:lpstr>
      <vt:lpstr>Wingdings</vt:lpstr>
      <vt:lpstr>Blueprint</vt:lpstr>
      <vt:lpstr>Algoritmi și structuri de date – curs 2    - Informatică Economică, an II –</vt:lpstr>
      <vt:lpstr>Cuprins</vt:lpstr>
      <vt:lpstr>Conceptul de dictionar</vt:lpstr>
      <vt:lpstr>Tabele direct adresabile</vt:lpstr>
      <vt:lpstr>Tabele direct adresabile (II)</vt:lpstr>
      <vt:lpstr>Tabele de dispersie – functia de dispersie</vt:lpstr>
      <vt:lpstr>PowerPoint Presentation</vt:lpstr>
      <vt:lpstr>PowerPoint Presentation</vt:lpstr>
      <vt:lpstr>Proprietăți ale funcției de dispersie</vt:lpstr>
      <vt:lpstr>Implementări ale funcției de dispersie</vt:lpstr>
      <vt:lpstr>Rezolvarea coliziunilor prin inlănțuire</vt:lpstr>
      <vt:lpstr>Analiza tabelelor de dispersie cu inlănțuire</vt:lpstr>
      <vt:lpstr>Rezolvarea coliziunilor prin adresare deschisă 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210</cp:revision>
  <dcterms:created xsi:type="dcterms:W3CDTF">2004-11-24T18:35:22Z</dcterms:created>
  <dcterms:modified xsi:type="dcterms:W3CDTF">2022-10-24T03:25:58Z</dcterms:modified>
</cp:coreProperties>
</file>