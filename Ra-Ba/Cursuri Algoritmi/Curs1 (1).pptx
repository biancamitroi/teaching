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7099300" cy="10234613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E5BAE-6AE7-408E-8BBF-3DD9AD43F7DB}" v="1" dt="2021-10-04T07:54:26.8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149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76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pPr>
              <a:defRPr/>
            </a:pPr>
            <a:fld id="{1FF025B8-CDF1-47E0-A314-DC575500982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701116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FF025B8-CDF1-47E0-A314-DC5755009828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127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sp>
            <p:nvSpPr>
              <p:cNvPr id="15" name="Rectangle 4"/>
              <p:cNvSpPr>
                <a:spLocks noChangeArrowheads="1"/>
              </p:cNvSpPr>
              <p:nvPr/>
            </p:nvSpPr>
            <p:spPr bwMode="ltGray">
              <a:xfrm>
                <a:off x="2112" y="0"/>
                <a:ext cx="3648" cy="9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grpSp>
            <p:nvGrpSpPr>
              <p:cNvPr id="16" name="Group 5"/>
              <p:cNvGrpSpPr>
                <a:grpSpLocks/>
              </p:cNvGrpSpPr>
              <p:nvPr userDrawn="1"/>
            </p:nvGrpSpPr>
            <p:grpSpPr bwMode="auto">
              <a:xfrm>
                <a:off x="0" y="0"/>
                <a:ext cx="5760" cy="4320"/>
                <a:chOff x="0" y="0"/>
                <a:chExt cx="5760" cy="4320"/>
              </a:xfrm>
            </p:grpSpPr>
            <p:sp>
              <p:nvSpPr>
                <p:cNvPr id="18" name="Line 6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19" name="Line 7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0" name="Line 8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1" name="Line 9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2" name="Line 10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7" name="Line 15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2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2" name="Line 20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7" name="Line 25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9" name="Line 27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4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5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6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sp>
            <p:nvSpPr>
              <p:cNvPr id="17" name="Line 57"/>
              <p:cNvSpPr>
                <a:spLocks noChangeShapeType="1"/>
              </p:cNvSpPr>
              <p:nvPr/>
            </p:nvSpPr>
            <p:spPr bwMode="ltGray">
              <a:xfrm>
                <a:off x="5568" y="0"/>
                <a:ext cx="0" cy="1488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6" name="Group 58"/>
            <p:cNvGrpSpPr>
              <a:grpSpLocks/>
            </p:cNvGrpSpPr>
            <p:nvPr userDrawn="1"/>
          </p:nvGrpSpPr>
          <p:grpSpPr bwMode="auto">
            <a:xfrm>
              <a:off x="3" y="559"/>
              <a:ext cx="4192" cy="1796"/>
              <a:chOff x="3" y="559"/>
              <a:chExt cx="4192" cy="1796"/>
            </a:xfrm>
          </p:grpSpPr>
          <p:sp>
            <p:nvSpPr>
              <p:cNvPr id="11" name="Line 59"/>
              <p:cNvSpPr>
                <a:spLocks noChangeShapeType="1"/>
              </p:cNvSpPr>
              <p:nvPr/>
            </p:nvSpPr>
            <p:spPr bwMode="ltGray">
              <a:xfrm>
                <a:off x="506" y="559"/>
                <a:ext cx="0" cy="1796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2" name="Line 60"/>
              <p:cNvSpPr>
                <a:spLocks noChangeShapeType="1"/>
              </p:cNvSpPr>
              <p:nvPr/>
            </p:nvSpPr>
            <p:spPr bwMode="ltGray">
              <a:xfrm flipH="1" flipV="1">
                <a:off x="3" y="1924"/>
                <a:ext cx="32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3" name="Line 61"/>
              <p:cNvSpPr>
                <a:spLocks noChangeShapeType="1"/>
              </p:cNvSpPr>
              <p:nvPr/>
            </p:nvSpPr>
            <p:spPr bwMode="ltGray">
              <a:xfrm flipH="1" flipV="1">
                <a:off x="384" y="938"/>
                <a:ext cx="3811" cy="1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4" name="Arc 62"/>
              <p:cNvSpPr>
                <a:spLocks/>
              </p:cNvSpPr>
              <p:nvPr/>
            </p:nvSpPr>
            <p:spPr bwMode="ltGray">
              <a:xfrm rot="16200000" flipH="1">
                <a:off x="426" y="860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  <p:grpSp>
          <p:nvGrpSpPr>
            <p:cNvPr id="7" name="Group 63"/>
            <p:cNvGrpSpPr>
              <a:grpSpLocks/>
            </p:cNvGrpSpPr>
            <p:nvPr userDrawn="1"/>
          </p:nvGrpSpPr>
          <p:grpSpPr bwMode="auto">
            <a:xfrm>
              <a:off x="1480" y="1952"/>
              <a:ext cx="3808" cy="1812"/>
              <a:chOff x="1480" y="1952"/>
              <a:chExt cx="3808" cy="1812"/>
            </a:xfrm>
          </p:grpSpPr>
          <p:sp>
            <p:nvSpPr>
              <p:cNvPr id="8" name="Line 64"/>
              <p:cNvSpPr>
                <a:spLocks noChangeShapeType="1"/>
              </p:cNvSpPr>
              <p:nvPr/>
            </p:nvSpPr>
            <p:spPr bwMode="ltGray">
              <a:xfrm flipV="1">
                <a:off x="1480" y="3442"/>
                <a:ext cx="38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9" name="Line 65"/>
              <p:cNvSpPr>
                <a:spLocks noChangeShapeType="1"/>
              </p:cNvSpPr>
              <p:nvPr/>
            </p:nvSpPr>
            <p:spPr bwMode="ltGray">
              <a:xfrm flipH="1">
                <a:off x="5172" y="1952"/>
                <a:ext cx="0" cy="181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10" name="Arc 66"/>
              <p:cNvSpPr>
                <a:spLocks/>
              </p:cNvSpPr>
              <p:nvPr/>
            </p:nvSpPr>
            <p:spPr bwMode="ltGray">
              <a:xfrm rot="5400000">
                <a:off x="5097" y="3347"/>
                <a:ext cx="156" cy="157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163" name="Rectangle 67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4164" name="Rectangle 68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990600" y="3309938"/>
            <a:ext cx="6400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71" name="Rectangle 71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CED30-8BB3-4254-8858-39CEA52735C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75810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A9DBAD-A52A-4DC7-80FE-981ECB1F2F1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6809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88759-1A87-43FC-9D81-BC4D400D2A8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14804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7477D-BB97-457C-89BA-5713B0B0B48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64962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E8387D-1133-468E-AE72-C925541E4D6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068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F3CC5C-E80A-488B-AD6C-31809144429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9536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0A99A8-BCD7-4B7E-8522-3CE93318636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4855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D067C4-FE98-4433-8D52-56E1BA8177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2724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o-RO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AD716F-35CF-4603-9782-F2FDC8C4CD7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9616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DA8865-FCD6-43CD-88ED-AF2AD3463E0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666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0350" y="304800"/>
            <a:ext cx="20002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304800"/>
            <a:ext cx="58483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DBABAE-6959-4344-8AD1-D6370A2C504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89281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8382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800600" y="19050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8382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00600" y="4038600"/>
            <a:ext cx="3810000" cy="198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28B209-2CBE-428E-A057-AD0A68D5398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1637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D4E0-6A23-45C4-A877-717DF862B3B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7096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 preserve="1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838200" y="19050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800600" y="1905000"/>
            <a:ext cx="3810000" cy="4114800"/>
          </a:xfrm>
        </p:spPr>
        <p:txBody>
          <a:bodyPr/>
          <a:lstStyle/>
          <a:p>
            <a:pPr lvl="0"/>
            <a:endParaRPr lang="ro-RO" noProof="0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2A3B64-3C04-4941-BAB2-F7767CF73D4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43583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grpSp>
          <p:nvGrpSpPr>
            <p:cNvPr id="4104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4111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192"/>
                <a:chExt cx="5760" cy="4032"/>
              </a:xfrm>
            </p:grpSpPr>
            <p:sp>
              <p:nvSpPr>
                <p:cNvPr id="3077" name="Line 5"/>
                <p:cNvSpPr>
                  <a:spLocks noChangeShapeType="1"/>
                </p:cNvSpPr>
                <p:nvPr/>
              </p:nvSpPr>
              <p:spPr bwMode="white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8" name="Line 6"/>
                <p:cNvSpPr>
                  <a:spLocks noChangeShapeType="1"/>
                </p:cNvSpPr>
                <p:nvPr/>
              </p:nvSpPr>
              <p:spPr bwMode="white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79" name="Line 7"/>
                <p:cNvSpPr>
                  <a:spLocks noChangeShapeType="1"/>
                </p:cNvSpPr>
                <p:nvPr/>
              </p:nvSpPr>
              <p:spPr bwMode="white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0" name="Line 8"/>
                <p:cNvSpPr>
                  <a:spLocks noChangeShapeType="1"/>
                </p:cNvSpPr>
                <p:nvPr/>
              </p:nvSpPr>
              <p:spPr bwMode="white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1" name="Line 9"/>
                <p:cNvSpPr>
                  <a:spLocks noChangeShapeType="1"/>
                </p:cNvSpPr>
                <p:nvPr/>
              </p:nvSpPr>
              <p:spPr bwMode="white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2" name="Line 10"/>
                <p:cNvSpPr>
                  <a:spLocks noChangeShapeType="1"/>
                </p:cNvSpPr>
                <p:nvPr/>
              </p:nvSpPr>
              <p:spPr bwMode="white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3" name="Line 11"/>
                <p:cNvSpPr>
                  <a:spLocks noChangeShapeType="1"/>
                </p:cNvSpPr>
                <p:nvPr/>
              </p:nvSpPr>
              <p:spPr bwMode="white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4" name="Line 12"/>
                <p:cNvSpPr>
                  <a:spLocks noChangeShapeType="1"/>
                </p:cNvSpPr>
                <p:nvPr/>
              </p:nvSpPr>
              <p:spPr bwMode="white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5" name="Line 13"/>
                <p:cNvSpPr>
                  <a:spLocks noChangeShapeType="1"/>
                </p:cNvSpPr>
                <p:nvPr/>
              </p:nvSpPr>
              <p:spPr bwMode="white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6" name="Line 14"/>
                <p:cNvSpPr>
                  <a:spLocks noChangeShapeType="1"/>
                </p:cNvSpPr>
                <p:nvPr/>
              </p:nvSpPr>
              <p:spPr bwMode="white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7" name="Line 15"/>
                <p:cNvSpPr>
                  <a:spLocks noChangeShapeType="1"/>
                </p:cNvSpPr>
                <p:nvPr/>
              </p:nvSpPr>
              <p:spPr bwMode="white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8" name="Line 16"/>
                <p:cNvSpPr>
                  <a:spLocks noChangeShapeType="1"/>
                </p:cNvSpPr>
                <p:nvPr/>
              </p:nvSpPr>
              <p:spPr bwMode="white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89" name="Line 17"/>
                <p:cNvSpPr>
                  <a:spLocks noChangeShapeType="1"/>
                </p:cNvSpPr>
                <p:nvPr/>
              </p:nvSpPr>
              <p:spPr bwMode="white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0" name="Line 18"/>
                <p:cNvSpPr>
                  <a:spLocks noChangeShapeType="1"/>
                </p:cNvSpPr>
                <p:nvPr/>
              </p:nvSpPr>
              <p:spPr bwMode="white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1" name="Line 19"/>
                <p:cNvSpPr>
                  <a:spLocks noChangeShapeType="1"/>
                </p:cNvSpPr>
                <p:nvPr/>
              </p:nvSpPr>
              <p:spPr bwMode="white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2" name="Line 20"/>
                <p:cNvSpPr>
                  <a:spLocks noChangeShapeType="1"/>
                </p:cNvSpPr>
                <p:nvPr/>
              </p:nvSpPr>
              <p:spPr bwMode="white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3" name="Line 21"/>
                <p:cNvSpPr>
                  <a:spLocks noChangeShapeType="1"/>
                </p:cNvSpPr>
                <p:nvPr/>
              </p:nvSpPr>
              <p:spPr bwMode="white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4" name="Line 22"/>
                <p:cNvSpPr>
                  <a:spLocks noChangeShapeType="1"/>
                </p:cNvSpPr>
                <p:nvPr/>
              </p:nvSpPr>
              <p:spPr bwMode="white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5" name="Line 23"/>
                <p:cNvSpPr>
                  <a:spLocks noChangeShapeType="1"/>
                </p:cNvSpPr>
                <p:nvPr/>
              </p:nvSpPr>
              <p:spPr bwMode="white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6" name="Line 24"/>
                <p:cNvSpPr>
                  <a:spLocks noChangeShapeType="1"/>
                </p:cNvSpPr>
                <p:nvPr/>
              </p:nvSpPr>
              <p:spPr bwMode="white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7" name="Line 25"/>
                <p:cNvSpPr>
                  <a:spLocks noChangeShapeType="1"/>
                </p:cNvSpPr>
                <p:nvPr/>
              </p:nvSpPr>
              <p:spPr bwMode="white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098" name="Line 26"/>
                <p:cNvSpPr>
                  <a:spLocks noChangeShapeType="1"/>
                </p:cNvSpPr>
                <p:nvPr/>
              </p:nvSpPr>
              <p:spPr bwMode="white">
                <a:xfrm>
                  <a:off x="0" y="4224"/>
                  <a:ext cx="5760" cy="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  <p:grpSp>
            <p:nvGrpSpPr>
              <p:cNvPr id="4112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192" y="0"/>
                <a:chExt cx="5376" cy="4320"/>
              </a:xfrm>
            </p:grpSpPr>
            <p:sp>
              <p:nvSpPr>
                <p:cNvPr id="3100" name="Line 28"/>
                <p:cNvSpPr>
                  <a:spLocks noChangeShapeType="1"/>
                </p:cNvSpPr>
                <p:nvPr/>
              </p:nvSpPr>
              <p:spPr bwMode="white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1" name="Line 29"/>
                <p:cNvSpPr>
                  <a:spLocks noChangeShapeType="1"/>
                </p:cNvSpPr>
                <p:nvPr/>
              </p:nvSpPr>
              <p:spPr bwMode="white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2" name="Line 30"/>
                <p:cNvSpPr>
                  <a:spLocks noChangeShapeType="1"/>
                </p:cNvSpPr>
                <p:nvPr/>
              </p:nvSpPr>
              <p:spPr bwMode="white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3" name="Line 31"/>
                <p:cNvSpPr>
                  <a:spLocks noChangeShapeType="1"/>
                </p:cNvSpPr>
                <p:nvPr/>
              </p:nvSpPr>
              <p:spPr bwMode="white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4" name="Line 32"/>
                <p:cNvSpPr>
                  <a:spLocks noChangeShapeType="1"/>
                </p:cNvSpPr>
                <p:nvPr/>
              </p:nvSpPr>
              <p:spPr bwMode="white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5" name="Line 33"/>
                <p:cNvSpPr>
                  <a:spLocks noChangeShapeType="1"/>
                </p:cNvSpPr>
                <p:nvPr/>
              </p:nvSpPr>
              <p:spPr bwMode="white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6" name="Line 34"/>
                <p:cNvSpPr>
                  <a:spLocks noChangeShapeType="1"/>
                </p:cNvSpPr>
                <p:nvPr/>
              </p:nvSpPr>
              <p:spPr bwMode="white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7" name="Line 35"/>
                <p:cNvSpPr>
                  <a:spLocks noChangeShapeType="1"/>
                </p:cNvSpPr>
                <p:nvPr/>
              </p:nvSpPr>
              <p:spPr bwMode="white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8" name="Line 36"/>
                <p:cNvSpPr>
                  <a:spLocks noChangeShapeType="1"/>
                </p:cNvSpPr>
                <p:nvPr/>
              </p:nvSpPr>
              <p:spPr bwMode="white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09" name="Line 37"/>
                <p:cNvSpPr>
                  <a:spLocks noChangeShapeType="1"/>
                </p:cNvSpPr>
                <p:nvPr/>
              </p:nvSpPr>
              <p:spPr bwMode="white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0" name="Line 38"/>
                <p:cNvSpPr>
                  <a:spLocks noChangeShapeType="1"/>
                </p:cNvSpPr>
                <p:nvPr/>
              </p:nvSpPr>
              <p:spPr bwMode="white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1" name="Line 39"/>
                <p:cNvSpPr>
                  <a:spLocks noChangeShapeType="1"/>
                </p:cNvSpPr>
                <p:nvPr/>
              </p:nvSpPr>
              <p:spPr bwMode="white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2" name="Line 40"/>
                <p:cNvSpPr>
                  <a:spLocks noChangeShapeType="1"/>
                </p:cNvSpPr>
                <p:nvPr/>
              </p:nvSpPr>
              <p:spPr bwMode="white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3" name="Line 41"/>
                <p:cNvSpPr>
                  <a:spLocks noChangeShapeType="1"/>
                </p:cNvSpPr>
                <p:nvPr/>
              </p:nvSpPr>
              <p:spPr bwMode="white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4" name="Line 42"/>
                <p:cNvSpPr>
                  <a:spLocks noChangeShapeType="1"/>
                </p:cNvSpPr>
                <p:nvPr/>
              </p:nvSpPr>
              <p:spPr bwMode="white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5" name="Line 43"/>
                <p:cNvSpPr>
                  <a:spLocks noChangeShapeType="1"/>
                </p:cNvSpPr>
                <p:nvPr/>
              </p:nvSpPr>
              <p:spPr bwMode="white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6" name="Line 44"/>
                <p:cNvSpPr>
                  <a:spLocks noChangeShapeType="1"/>
                </p:cNvSpPr>
                <p:nvPr/>
              </p:nvSpPr>
              <p:spPr bwMode="white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7" name="Line 45"/>
                <p:cNvSpPr>
                  <a:spLocks noChangeShapeType="1"/>
                </p:cNvSpPr>
                <p:nvPr/>
              </p:nvSpPr>
              <p:spPr bwMode="white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8" name="Line 46"/>
                <p:cNvSpPr>
                  <a:spLocks noChangeShapeType="1"/>
                </p:cNvSpPr>
                <p:nvPr/>
              </p:nvSpPr>
              <p:spPr bwMode="white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19" name="Line 47"/>
                <p:cNvSpPr>
                  <a:spLocks noChangeShapeType="1"/>
                </p:cNvSpPr>
                <p:nvPr/>
              </p:nvSpPr>
              <p:spPr bwMode="white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0" name="Line 48"/>
                <p:cNvSpPr>
                  <a:spLocks noChangeShapeType="1"/>
                </p:cNvSpPr>
                <p:nvPr/>
              </p:nvSpPr>
              <p:spPr bwMode="white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1" name="Line 49"/>
                <p:cNvSpPr>
                  <a:spLocks noChangeShapeType="1"/>
                </p:cNvSpPr>
                <p:nvPr/>
              </p:nvSpPr>
              <p:spPr bwMode="white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2" name="Line 50"/>
                <p:cNvSpPr>
                  <a:spLocks noChangeShapeType="1"/>
                </p:cNvSpPr>
                <p:nvPr/>
              </p:nvSpPr>
              <p:spPr bwMode="white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3" name="Line 51"/>
                <p:cNvSpPr>
                  <a:spLocks noChangeShapeType="1"/>
                </p:cNvSpPr>
                <p:nvPr/>
              </p:nvSpPr>
              <p:spPr bwMode="white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4" name="Line 52"/>
                <p:cNvSpPr>
                  <a:spLocks noChangeShapeType="1"/>
                </p:cNvSpPr>
                <p:nvPr/>
              </p:nvSpPr>
              <p:spPr bwMode="white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5" name="Line 53"/>
                <p:cNvSpPr>
                  <a:spLocks noChangeShapeType="1"/>
                </p:cNvSpPr>
                <p:nvPr/>
              </p:nvSpPr>
              <p:spPr bwMode="white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6" name="Line 54"/>
                <p:cNvSpPr>
                  <a:spLocks noChangeShapeType="1"/>
                </p:cNvSpPr>
                <p:nvPr/>
              </p:nvSpPr>
              <p:spPr bwMode="white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7" name="Line 55"/>
                <p:cNvSpPr>
                  <a:spLocks noChangeShapeType="1"/>
                </p:cNvSpPr>
                <p:nvPr/>
              </p:nvSpPr>
              <p:spPr bwMode="white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  <p:sp>
              <p:nvSpPr>
                <p:cNvPr id="3128" name="Line 56"/>
                <p:cNvSpPr>
                  <a:spLocks noChangeShapeType="1"/>
                </p:cNvSpPr>
                <p:nvPr/>
              </p:nvSpPr>
              <p:spPr bwMode="white">
                <a:xfrm>
                  <a:off x="5568" y="0"/>
                  <a:ext cx="0" cy="4320"/>
                </a:xfrm>
                <a:prstGeom prst="line">
                  <a:avLst/>
                </a:prstGeom>
                <a:noFill/>
                <a:ln w="9525">
                  <a:pattFill prst="pct30">
                    <a:fgClr>
                      <a:schemeClr val="folHlink"/>
                    </a:fgClr>
                    <a:bgClr>
                      <a:schemeClr val="bg1"/>
                    </a:bgClr>
                  </a:pattFill>
                  <a:round/>
                  <a:headEnd/>
                  <a:tailEnd/>
                </a:ln>
                <a:effectLst/>
              </p:spPr>
              <p:txBody>
                <a:bodyPr wrap="none" anchor="ctr"/>
                <a:lstStyle/>
                <a:p>
                  <a:pPr>
                    <a:defRPr/>
                  </a:pPr>
                  <a:endParaRPr lang="ro-RO"/>
                </a:p>
              </p:txBody>
            </p:sp>
          </p:grpSp>
        </p:grpSp>
        <p:sp>
          <p:nvSpPr>
            <p:cNvPr id="3129" name="Rectangle 57" descr="60%"/>
            <p:cNvSpPr>
              <a:spLocks noChangeArrowheads="1"/>
            </p:cNvSpPr>
            <p:nvPr/>
          </p:nvSpPr>
          <p:spPr bwMode="ltGray">
            <a:xfrm>
              <a:off x="2112" y="0"/>
              <a:ext cx="3648" cy="96"/>
            </a:xfrm>
            <a:prstGeom prst="rect">
              <a:avLst/>
            </a:prstGeom>
            <a:pattFill prst="pct60">
              <a:fgClr>
                <a:schemeClr val="folHlink"/>
              </a:fgClr>
              <a:bgClr>
                <a:schemeClr val="bg1"/>
              </a:bgClr>
            </a:patt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sp>
          <p:nvSpPr>
            <p:cNvPr id="3130" name="Line 58"/>
            <p:cNvSpPr>
              <a:spLocks noChangeShapeType="1"/>
            </p:cNvSpPr>
            <p:nvPr/>
          </p:nvSpPr>
          <p:spPr bwMode="ltGray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ro-RO"/>
            </a:p>
          </p:txBody>
        </p:sp>
        <p:grpSp>
          <p:nvGrpSpPr>
            <p:cNvPr id="4107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96" y="916"/>
              <a:chExt cx="2208" cy="2876"/>
            </a:xfrm>
          </p:grpSpPr>
          <p:sp>
            <p:nvSpPr>
              <p:cNvPr id="3132" name="Line 60"/>
              <p:cNvSpPr>
                <a:spLocks noChangeShapeType="1"/>
              </p:cNvSpPr>
              <p:nvPr/>
            </p:nvSpPr>
            <p:spPr bwMode="ltGray">
              <a:xfrm flipH="1">
                <a:off x="96" y="1038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3" name="Line 61"/>
              <p:cNvSpPr>
                <a:spLocks noChangeShapeType="1"/>
              </p:cNvSpPr>
              <p:nvPr/>
            </p:nvSpPr>
            <p:spPr bwMode="ltGray">
              <a:xfrm>
                <a:off x="336" y="920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  <p:sp>
            <p:nvSpPr>
              <p:cNvPr id="3134" name="Arc 62"/>
              <p:cNvSpPr>
                <a:spLocks/>
              </p:cNvSpPr>
              <p:nvPr/>
            </p:nvSpPr>
            <p:spPr bwMode="ltGray">
              <a:xfrm flipH="1">
                <a:off x="218" y="916"/>
                <a:ext cx="238" cy="240"/>
              </a:xfrm>
              <a:custGeom>
                <a:avLst/>
                <a:gdLst>
                  <a:gd name="G0" fmla="+- 21595 0 0"/>
                  <a:gd name="G1" fmla="+- 21600 0 0"/>
                  <a:gd name="G2" fmla="+- 21600 0 0"/>
                  <a:gd name="T0" fmla="*/ 21114 w 43195"/>
                  <a:gd name="T1" fmla="*/ 5 h 43200"/>
                  <a:gd name="T2" fmla="*/ 0 w 43195"/>
                  <a:gd name="T3" fmla="*/ 22056 h 43200"/>
                  <a:gd name="T4" fmla="*/ 21595 w 43195"/>
                  <a:gd name="T5" fmla="*/ 21600 h 432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close/>
                  </a:path>
                </a:pathLst>
              </a:cu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ro-RO"/>
              </a:p>
            </p:txBody>
          </p:sp>
        </p:grpSp>
      </p:grpSp>
      <p:sp>
        <p:nvSpPr>
          <p:cNvPr id="4099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4100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37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138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GB"/>
              <a:t>Cluj-Napoca  - 10 Octombrie 2022</a:t>
            </a:r>
          </a:p>
        </p:txBody>
      </p:sp>
      <p:sp>
        <p:nvSpPr>
          <p:cNvPr id="3139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084E7CB-EF2E-4647-B803-81CC09BA313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itchFamily="2" charset="2"/>
        <a:buBlip>
          <a:blip r:embed="rId16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itchFamily="2" charset="2"/>
        <a:buChar char="w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7" Type="http://schemas.openxmlformats.org/officeDocument/2006/relationships/image" Target="../media/image7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30480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  <a:endParaRPr lang="en-GB" sz="1400" dirty="0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90600" y="1752600"/>
            <a:ext cx="7772400" cy="990600"/>
          </a:xfrm>
        </p:spPr>
        <p:txBody>
          <a:bodyPr/>
          <a:lstStyle/>
          <a:p>
            <a:pPr eaLnBrk="1" hangingPunct="1"/>
            <a:r>
              <a:rPr lang="en-US" sz="3200" dirty="0" err="1"/>
              <a:t>Algoritmi</a:t>
            </a:r>
            <a:r>
              <a:rPr lang="en-US" sz="3200" dirty="0"/>
              <a:t> </a:t>
            </a:r>
            <a:r>
              <a:rPr lang="ro-RO" sz="3200" dirty="0"/>
              <a:t>și structuri de date</a:t>
            </a:r>
            <a:r>
              <a:rPr lang="en-US" sz="3200" dirty="0"/>
              <a:t> – curs </a:t>
            </a:r>
            <a:r>
              <a:rPr lang="ro-RO" sz="3200" dirty="0"/>
              <a:t>1</a:t>
            </a:r>
            <a:r>
              <a:rPr lang="en-US" sz="3600" dirty="0"/>
              <a:t>   </a:t>
            </a:r>
            <a:br>
              <a:rPr lang="en-US" sz="3600" dirty="0"/>
            </a:br>
            <a:r>
              <a:rPr lang="ro-RO" sz="2000" dirty="0"/>
              <a:t>- Informatică Economică, an II –</a:t>
            </a:r>
          </a:p>
        </p:txBody>
      </p:sp>
      <p:sp>
        <p:nvSpPr>
          <p:cNvPr id="6148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subTitle" idx="1"/>
          </p:nvPr>
        </p:nvSpPr>
        <p:spPr>
          <a:xfrm>
            <a:off x="3276600" y="4833938"/>
            <a:ext cx="4953000" cy="804862"/>
          </a:xfrm>
        </p:spPr>
        <p:txBody>
          <a:bodyPr/>
          <a:lstStyle/>
          <a:p>
            <a:pPr eaLnBrk="1" hangingPunct="1"/>
            <a:r>
              <a:rPr lang="ro-RO"/>
              <a:t>Gheorghe Cosmin Silaghi</a:t>
            </a:r>
          </a:p>
        </p:txBody>
      </p:sp>
      <p:sp>
        <p:nvSpPr>
          <p:cNvPr id="6149" name="Rectangle 4"/>
          <p:cNvSpPr>
            <a:spLocks noChangeArrowheads="1"/>
          </p:cNvSpPr>
          <p:nvPr/>
        </p:nvSpPr>
        <p:spPr bwMode="auto">
          <a:xfrm>
            <a:off x="838200" y="3048000"/>
            <a:ext cx="48768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sz="2000" dirty="0" err="1">
                <a:solidFill>
                  <a:schemeClr val="tx2"/>
                </a:solidFill>
              </a:rPr>
              <a:t>Tipuri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abstracte</a:t>
            </a:r>
            <a:r>
              <a:rPr lang="en-US" sz="2000" dirty="0">
                <a:solidFill>
                  <a:schemeClr val="tx2"/>
                </a:solidFill>
              </a:rPr>
              <a:t> de date</a:t>
            </a:r>
          </a:p>
          <a:p>
            <a:r>
              <a:rPr lang="en-US" sz="2000" dirty="0" err="1">
                <a:solidFill>
                  <a:schemeClr val="tx2"/>
                </a:solidFill>
              </a:rPr>
              <a:t>Liste</a:t>
            </a:r>
            <a:r>
              <a:rPr lang="en-US" sz="2000" dirty="0">
                <a:solidFill>
                  <a:schemeClr val="tx2"/>
                </a:solidFill>
              </a:rPr>
              <a:t> </a:t>
            </a:r>
            <a:r>
              <a:rPr lang="en-US" sz="2000" dirty="0" err="1">
                <a:solidFill>
                  <a:schemeClr val="tx2"/>
                </a:solidFill>
              </a:rPr>
              <a:t>inlantuite</a:t>
            </a:r>
            <a:endParaRPr lang="en-US" sz="2000" dirty="0">
              <a:solidFill>
                <a:schemeClr val="tx2"/>
              </a:solidFill>
            </a:endParaRPr>
          </a:p>
          <a:p>
            <a:r>
              <a:rPr lang="en-US" sz="2000" dirty="0" err="1">
                <a:solidFill>
                  <a:schemeClr val="tx2"/>
                </a:solidFill>
              </a:rPr>
              <a:t>Stive</a:t>
            </a:r>
            <a:r>
              <a:rPr lang="en-US" sz="2000" dirty="0">
                <a:solidFill>
                  <a:schemeClr val="tx2"/>
                </a:solidFill>
              </a:rPr>
              <a:t>, </a:t>
            </a:r>
            <a:r>
              <a:rPr lang="en-US" sz="2000" dirty="0" err="1">
                <a:solidFill>
                  <a:schemeClr val="tx2"/>
                </a:solidFill>
              </a:rPr>
              <a:t>cozi</a:t>
            </a:r>
            <a:endParaRPr lang="ro-RO" sz="2000" dirty="0">
              <a:solidFill>
                <a:schemeClr val="tx2"/>
              </a:solidFill>
            </a:endParaRPr>
          </a:p>
        </p:txBody>
      </p:sp>
      <p:pic>
        <p:nvPicPr>
          <p:cNvPr id="4" name="Picture 5" descr="Logo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752599" cy="987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1" name="Picture 7" descr="http://bis.econ.ubbcluj.ro/website/templates/bistemplate/images/sigla_fsega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2570" y="0"/>
            <a:ext cx="977030" cy="977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3" name="Picture 9" descr="http://bis.econ.ubbcluj.ro/website/templates/bistemplate/images/sigla_ubb.gif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1" y="0"/>
            <a:ext cx="914399" cy="914400"/>
          </a:xfrm>
          <a:prstGeom prst="rect">
            <a:avLst/>
          </a:prstGeom>
          <a:solidFill>
            <a:schemeClr val="bg1"/>
          </a:solidFill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2800"/>
              <a:t>Tipuri de date</a:t>
            </a:r>
            <a:endParaRPr lang="en-US" sz="2800"/>
          </a:p>
        </p:txBody>
      </p:sp>
      <p:sp>
        <p:nvSpPr>
          <p:cNvPr id="10243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533400" y="1676400"/>
            <a:ext cx="8534400" cy="4114800"/>
          </a:xfrm>
          <a:noFill/>
        </p:spPr>
        <p:txBody>
          <a:bodyPr/>
          <a:lstStyle/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o-RO" sz="1800"/>
              <a:t>(I) un </a:t>
            </a:r>
            <a:r>
              <a:rPr lang="ro-RO" sz="1800" b="1"/>
              <a:t>mod de interpretare</a:t>
            </a:r>
            <a:r>
              <a:rPr lang="ro-RO" sz="1800"/>
              <a:t> a unei valori reprezentate în memoria calculatorului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1800"/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2000" b="1"/>
              <a:t>Ex: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2000"/>
              <a:t>Valoarea din memorie </a:t>
            </a:r>
            <a:r>
              <a:rPr lang="ro-RO" sz="1800"/>
              <a:t>01000110 01010010 01000101 01000100</a:t>
            </a:r>
          </a:p>
          <a:p>
            <a:pPr marL="533400" indent="-533400" eaLnBrk="1" hangingPunct="1">
              <a:lnSpc>
                <a:spcPct val="90000"/>
              </a:lnSpc>
            </a:pPr>
            <a:r>
              <a:rPr lang="ro-RO" sz="2000"/>
              <a:t>Interpretări:	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ro-RO" sz="1800"/>
              <a:t>1179796804   - int reprezentat binar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ro-RO" sz="1800"/>
              <a:t>13457.31640625	- float</a:t>
            </a:r>
          </a:p>
          <a:p>
            <a:pPr marL="914400" lvl="1" indent="-457200" eaLnBrk="1" hangingPunct="1">
              <a:lnSpc>
                <a:spcPct val="90000"/>
              </a:lnSpc>
            </a:pPr>
            <a:r>
              <a:rPr lang="ro-RO" sz="1800"/>
              <a:t>FRED		- şir de caractere</a:t>
            </a:r>
          </a:p>
          <a:p>
            <a:pPr marL="533400" indent="-533400" eaLnBrk="1" hangingPunct="1">
              <a:lnSpc>
                <a:spcPct val="90000"/>
              </a:lnSpc>
            </a:pPr>
            <a:endParaRPr lang="ro-RO" sz="2000"/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o-RO" sz="1800"/>
              <a:t>(II) o </a:t>
            </a:r>
            <a:r>
              <a:rPr lang="ro-RO" sz="1800" b="1"/>
              <a:t>mulţime de valori</a:t>
            </a:r>
            <a:r>
              <a:rPr lang="ro-RO" sz="1800"/>
              <a:t> (admise de tipul respectiv)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o-RO" sz="1800"/>
              <a:t>(III) o </a:t>
            </a:r>
            <a:r>
              <a:rPr lang="ro-RO" sz="1800" b="1"/>
              <a:t>modalitate de verificare</a:t>
            </a:r>
            <a:r>
              <a:rPr lang="ro-RO" sz="1800"/>
              <a:t> a validităţii unei operaţii </a:t>
            </a:r>
            <a:r>
              <a:rPr lang="en-US" sz="1800"/>
              <a:t>=&gt;</a:t>
            </a:r>
            <a:r>
              <a:rPr lang="ro-RO" sz="1800"/>
              <a:t> type-checking</a:t>
            </a:r>
          </a:p>
          <a:p>
            <a:pPr marL="533400" indent="-533400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ro-RO" sz="1800"/>
              <a:t>(IV) o </a:t>
            </a:r>
            <a:r>
              <a:rPr lang="ro-RO" sz="1800" b="1"/>
              <a:t>mulţime specifică de operaţii</a:t>
            </a:r>
            <a:r>
              <a:rPr lang="ro-RO" sz="1800"/>
              <a:t> care pot fi efectuate pe un tip</a:t>
            </a:r>
          </a:p>
        </p:txBody>
      </p:sp>
      <p:sp>
        <p:nvSpPr>
          <p:cNvPr id="1024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89886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/>
              <a:t>Tipuri abstracte de date - ADT (I)</a:t>
            </a:r>
            <a:endParaRPr lang="en-GB" sz="3200"/>
          </a:p>
        </p:txBody>
      </p:sp>
      <p:sp>
        <p:nvSpPr>
          <p:cNvPr id="1126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sz="half" idx="1"/>
          </p:nvPr>
        </p:nvSpPr>
        <p:spPr>
          <a:xfrm>
            <a:off x="609600" y="1600200"/>
            <a:ext cx="7924800" cy="4114800"/>
          </a:xfrm>
          <a:noFill/>
        </p:spPr>
        <p:txBody>
          <a:bodyPr/>
          <a:lstStyle/>
          <a:p>
            <a:pPr marL="533400" indent="-533400" eaLnBrk="1" hangingPunct="1"/>
            <a:r>
              <a:rPr lang="ro-RO" sz="2000"/>
              <a:t>Un tip de date necesar unui analist, dar care e posibil să nu existe în limbajul de programare </a:t>
            </a:r>
            <a:r>
              <a:rPr lang="en-US" sz="2000"/>
              <a:t>=&gt; necesitatea implement</a:t>
            </a:r>
            <a:r>
              <a:rPr lang="ro-RO" sz="2000"/>
              <a:t>ării</a:t>
            </a:r>
          </a:p>
          <a:p>
            <a:pPr marL="533400" indent="-533400" eaLnBrk="1" hangingPunct="1"/>
            <a:endParaRPr lang="ro-RO" sz="2000"/>
          </a:p>
          <a:p>
            <a:pPr marL="533400" indent="-533400" eaLnBrk="1" hangingPunct="1"/>
            <a:r>
              <a:rPr lang="ro-RO" sz="2000"/>
              <a:t>Ex. tipul abstrat Boolean: </a:t>
            </a:r>
            <a:r>
              <a:rPr lang="en-US" sz="2000"/>
              <a:t>[true, false]</a:t>
            </a:r>
          </a:p>
          <a:p>
            <a:pPr marL="914400" lvl="1" indent="-457200" eaLnBrk="1" hangingPunct="1"/>
            <a:r>
              <a:rPr lang="ro-RO" sz="1800"/>
              <a:t>În Basic: implementare prin şiruri</a:t>
            </a:r>
            <a:r>
              <a:rPr lang="en-US" sz="1800"/>
              <a:t> de caractere</a:t>
            </a:r>
            <a:r>
              <a:rPr lang="ro-RO" sz="1800"/>
              <a:t> (“true” şi “false”)</a:t>
            </a:r>
          </a:p>
          <a:p>
            <a:pPr marL="914400" lvl="1" indent="-457200" eaLnBrk="1" hangingPunct="1"/>
            <a:r>
              <a:rPr lang="ro-RO" sz="1800"/>
              <a:t>In C: implementare prin numere (1, 0)</a:t>
            </a:r>
          </a:p>
          <a:p>
            <a:pPr marL="914400" lvl="1" indent="-457200" eaLnBrk="1" hangingPunct="1"/>
            <a:endParaRPr lang="ro-RO" sz="1800"/>
          </a:p>
          <a:p>
            <a:pPr marL="533400" indent="-533400" eaLnBrk="1" hangingPunct="1"/>
            <a:r>
              <a:rPr lang="ro-RO" sz="2000" b="1"/>
              <a:t>Specificarea unui ADT</a:t>
            </a:r>
          </a:p>
          <a:p>
            <a:pPr marL="914400" lvl="1" indent="-457200" eaLnBrk="1" hangingPunct="1"/>
            <a:r>
              <a:rPr lang="ro-RO" sz="1800"/>
              <a:t>Mulţimea valorilor admisibile</a:t>
            </a:r>
          </a:p>
          <a:p>
            <a:pPr marL="914400" lvl="1" indent="-457200" eaLnBrk="1" hangingPunct="1"/>
            <a:r>
              <a:rPr lang="ro-RO" sz="1800"/>
              <a:t>Mulţimea operaţiilor pe acele valori</a:t>
            </a:r>
          </a:p>
        </p:txBody>
      </p:sp>
      <p:sp>
        <p:nvSpPr>
          <p:cNvPr id="1126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378657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/>
              <a:t>Tipuri abstracte de date (II)</a:t>
            </a:r>
            <a:endParaRPr lang="en-GB" sz="3200"/>
          </a:p>
        </p:txBody>
      </p:sp>
      <p:sp>
        <p:nvSpPr>
          <p:cNvPr id="12291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6482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ro-RO" sz="2000"/>
              <a:t>Ex. ADT </a:t>
            </a:r>
            <a:r>
              <a:rPr lang="ro-RO" sz="2000" b="1"/>
              <a:t>queue</a:t>
            </a:r>
          </a:p>
          <a:p>
            <a:pPr eaLnBrk="1" hangingPunct="1">
              <a:lnSpc>
                <a:spcPct val="80000"/>
              </a:lnSpc>
            </a:pPr>
            <a:endParaRPr lang="ro-RO" sz="2000" b="1"/>
          </a:p>
          <a:p>
            <a:pPr eaLnBrk="1" hangingPunct="1">
              <a:lnSpc>
                <a:spcPct val="80000"/>
              </a:lnSpc>
            </a:pPr>
            <a:r>
              <a:rPr lang="ro-RO" sz="2000"/>
              <a:t>Cunoştinţe necesare unui analist (</a:t>
            </a:r>
            <a:r>
              <a:rPr lang="ro-RO" sz="2000" b="1"/>
              <a:t>comportamentul</a:t>
            </a:r>
            <a:r>
              <a:rPr lang="ro-RO" sz="2000"/>
              <a:t> cozii):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/>
              <a:t>Inserarea in coadă: la sfârşit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/>
              <a:t>Extragerea de elemente din coadă: la început</a:t>
            </a:r>
          </a:p>
          <a:p>
            <a:pPr eaLnBrk="1" hangingPunct="1">
              <a:lnSpc>
                <a:spcPct val="80000"/>
              </a:lnSpc>
            </a:pPr>
            <a:endParaRPr lang="ro-RO" sz="2000"/>
          </a:p>
          <a:p>
            <a:pPr eaLnBrk="1" hangingPunct="1">
              <a:lnSpc>
                <a:spcPct val="80000"/>
              </a:lnSpc>
            </a:pPr>
            <a:r>
              <a:rPr lang="ro-RO" sz="2000"/>
              <a:t>Analistul nu trebuie să ştie </a:t>
            </a:r>
            <a:r>
              <a:rPr lang="ro-RO" sz="2000" b="1"/>
              <a:t>implementarea</a:t>
            </a:r>
            <a:r>
              <a:rPr lang="ro-RO" sz="2000"/>
              <a:t> cozii</a:t>
            </a:r>
          </a:p>
          <a:p>
            <a:pPr eaLnBrk="1" hangingPunct="1">
              <a:lnSpc>
                <a:spcPct val="80000"/>
              </a:lnSpc>
            </a:pPr>
            <a:endParaRPr lang="ro-RO" sz="2000"/>
          </a:p>
          <a:p>
            <a:pPr eaLnBrk="1" hangingPunct="1">
              <a:lnSpc>
                <a:spcPct val="80000"/>
              </a:lnSpc>
            </a:pPr>
            <a:r>
              <a:rPr lang="ro-RO" sz="2000"/>
              <a:t>Implementări posibile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/>
              <a:t>Un masiv </a:t>
            </a:r>
            <a:r>
              <a:rPr lang="en-US" sz="1800"/>
              <a:t>+ o var. auxiliar</a:t>
            </a:r>
            <a:r>
              <a:rPr lang="ro-RO" sz="1800"/>
              <a:t>ă care memorează sfârşitul cozii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/>
              <a:t>Un masiv + 2 var auxiliare: sfârşitul cozii şi începutul acesteia</a:t>
            </a:r>
          </a:p>
          <a:p>
            <a:pPr lvl="1" eaLnBrk="1" hangingPunct="1">
              <a:lnSpc>
                <a:spcPct val="80000"/>
              </a:lnSpc>
            </a:pPr>
            <a:r>
              <a:rPr lang="ro-RO" sz="1800"/>
              <a:t>Impl. cu pointeri: 2 var auxiliare: sfârşitul listei şi începutul acesteia</a:t>
            </a:r>
          </a:p>
          <a:p>
            <a:pPr eaLnBrk="1" hangingPunct="1">
              <a:lnSpc>
                <a:spcPct val="80000"/>
              </a:lnSpc>
            </a:pPr>
            <a:endParaRPr lang="en-US" sz="2000"/>
          </a:p>
        </p:txBody>
      </p:sp>
      <p:sp>
        <p:nvSpPr>
          <p:cNvPr id="1229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2070311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2800"/>
              <a:t>Specificarea unui ADT</a:t>
            </a:r>
            <a:endParaRPr lang="en-GB" sz="2800"/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2986088" y="11572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endParaRPr lang="ro-RO"/>
          </a:p>
        </p:txBody>
      </p:sp>
      <p:sp>
        <p:nvSpPr>
          <p:cNvPr id="13316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8001000" cy="4648200"/>
          </a:xfrm>
          <a:noFill/>
        </p:spPr>
        <p:txBody>
          <a:bodyPr/>
          <a:lstStyle/>
          <a:p>
            <a:pPr eaLnBrk="1" hangingPunct="1"/>
            <a:r>
              <a:rPr lang="ro-RO" sz="2000"/>
              <a:t>Specificarea valorilor acceptate</a:t>
            </a:r>
          </a:p>
          <a:p>
            <a:pPr eaLnBrk="1" hangingPunct="1"/>
            <a:r>
              <a:rPr lang="ro-RO" sz="2000"/>
              <a:t>Specificarea operaţiilor</a:t>
            </a:r>
          </a:p>
          <a:p>
            <a:pPr eaLnBrk="1" hangingPunct="1"/>
            <a:r>
              <a:rPr lang="ro-RO" sz="2000"/>
              <a:t>Specificarea utilizărilor posibile ale ADT-ului  </a:t>
            </a:r>
          </a:p>
          <a:p>
            <a:pPr eaLnBrk="1" hangingPunct="1"/>
            <a:endParaRPr lang="ro-RO" sz="2000"/>
          </a:p>
          <a:p>
            <a:pPr eaLnBrk="1" hangingPunct="1"/>
            <a:r>
              <a:rPr lang="ro-RO" sz="2000"/>
              <a:t>Implicaţii pt. programatorul ADT-ului</a:t>
            </a:r>
          </a:p>
          <a:p>
            <a:pPr lvl="1" eaLnBrk="1" hangingPunct="1"/>
            <a:r>
              <a:rPr lang="ro-RO" sz="1800"/>
              <a:t>Se pot alege structuri de date corespunzătoare pentru implementare</a:t>
            </a:r>
          </a:p>
          <a:p>
            <a:pPr eaLnBrk="1" hangingPunct="1"/>
            <a:r>
              <a:rPr lang="ro-RO" sz="2000"/>
              <a:t>Implicaţii pt. utilizatorul ADT-ului</a:t>
            </a:r>
          </a:p>
          <a:p>
            <a:pPr lvl="1" eaLnBrk="1" hangingPunct="1"/>
            <a:r>
              <a:rPr lang="ro-RO" sz="1800"/>
              <a:t>Comportamentul ADT-ului e observat prin efectul şi rezultatul realizării operaţiilor specificate</a:t>
            </a:r>
            <a:endParaRPr lang="en-US" sz="1800"/>
          </a:p>
        </p:txBody>
      </p:sp>
      <p:sp>
        <p:nvSpPr>
          <p:cNvPr id="13317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725815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2800"/>
              <a:t>Specificarea operaţiilor</a:t>
            </a:r>
            <a:endParaRPr lang="en-GB" sz="2800"/>
          </a:p>
        </p:txBody>
      </p:sp>
      <p:sp>
        <p:nvSpPr>
          <p:cNvPr id="14339" name="Rectangle 3"/>
          <p:cNvSpPr>
            <a:spLocks noChangeArrowheads="1"/>
          </p:cNvSpPr>
          <p:nvPr/>
        </p:nvSpPr>
        <p:spPr bwMode="auto">
          <a:xfrm>
            <a:off x="0" y="3290888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ro-RO"/>
          </a:p>
        </p:txBody>
      </p:sp>
      <p:sp>
        <p:nvSpPr>
          <p:cNvPr id="14340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762000" y="1676400"/>
            <a:ext cx="7772400" cy="4648200"/>
          </a:xfrm>
          <a:noFill/>
        </p:spPr>
        <p:txBody>
          <a:bodyPr/>
          <a:lstStyle/>
          <a:p>
            <a:pPr eaLnBrk="1" hangingPunct="1"/>
            <a:r>
              <a:rPr lang="ro-RO" sz="2000"/>
              <a:t>Sintaxa operaţiei: Maparea datelor de intrare cu datele de ieşire</a:t>
            </a:r>
          </a:p>
          <a:p>
            <a:pPr eaLnBrk="1" hangingPunct="1"/>
            <a:r>
              <a:rPr lang="ro-RO" sz="2000"/>
              <a:t>Semantica operaţiei</a:t>
            </a:r>
          </a:p>
          <a:p>
            <a:pPr lvl="1" eaLnBrk="1" hangingPunct="1"/>
            <a:r>
              <a:rPr lang="ro-RO" sz="1800"/>
              <a:t>Pre-condiţii</a:t>
            </a:r>
          </a:p>
          <a:p>
            <a:pPr lvl="1" eaLnBrk="1" hangingPunct="1"/>
            <a:r>
              <a:rPr lang="ro-RO" sz="1800"/>
              <a:t>Post-condiţii</a:t>
            </a:r>
          </a:p>
          <a:p>
            <a:pPr eaLnBrk="1" hangingPunct="1"/>
            <a:endParaRPr lang="ro-RO" sz="2000"/>
          </a:p>
          <a:p>
            <a:pPr eaLnBrk="1" hangingPunct="1"/>
            <a:r>
              <a:rPr lang="ro-RO" sz="2000"/>
              <a:t>Ex: operaţia HEAD.OF.QUEUE – inspectarea vârfului cozii</a:t>
            </a:r>
          </a:p>
          <a:p>
            <a:pPr eaLnBrk="1" hangingPunct="1"/>
            <a:endParaRPr lang="ro-RO" sz="2000"/>
          </a:p>
          <a:p>
            <a:pPr eaLnBrk="1" hangingPunct="1">
              <a:buFont typeface="Wingdings" pitchFamily="2" charset="2"/>
              <a:buNone/>
            </a:pPr>
            <a:r>
              <a:rPr lang="ro-RO" sz="2000"/>
              <a:t>HEAD.OF.QUEUE : queue </a:t>
            </a:r>
            <a:r>
              <a:rPr lang="en-US" sz="2000"/>
              <a:t>--&gt; string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sz="1800"/>
              <a:t>x |</a:t>
            </a:r>
            <a:r>
              <a:rPr lang="en-US" sz="1800">
                <a:sym typeface="Wingdings" pitchFamily="2" charset="2"/>
              </a:rPr>
              <a:t> y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sz="2000">
                <a:sym typeface="Wingdings" pitchFamily="2" charset="2"/>
              </a:rPr>
              <a:t>Pre-condi</a:t>
            </a:r>
            <a:r>
              <a:rPr lang="ro-RO" sz="2000">
                <a:sym typeface="Wingdings" pitchFamily="2" charset="2"/>
              </a:rPr>
              <a:t>ţii: x is not empty</a:t>
            </a:r>
          </a:p>
          <a:p>
            <a:pPr eaLnBrk="1" hangingPunct="1">
              <a:buFont typeface="Wingdings" pitchFamily="2" charset="2"/>
              <a:buNone/>
            </a:pPr>
            <a:r>
              <a:rPr lang="ro-RO" sz="2000">
                <a:sym typeface="Wingdings" pitchFamily="2" charset="2"/>
              </a:rPr>
              <a:t>Post-condiţii: y is the head of the queue x</a:t>
            </a:r>
            <a:endParaRPr lang="ro-RO" sz="2000"/>
          </a:p>
        </p:txBody>
      </p:sp>
      <p:sp>
        <p:nvSpPr>
          <p:cNvPr id="14341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3617849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ro-RO" sz="3200"/>
              <a:t>Implementări ale unui ADT</a:t>
            </a:r>
            <a:endParaRPr lang="en-GB" sz="3200"/>
          </a:p>
        </p:txBody>
      </p:sp>
      <p:sp>
        <p:nvSpPr>
          <p:cNvPr id="15364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7772400" cy="4114800"/>
          </a:xfrm>
        </p:spPr>
        <p:txBody>
          <a:bodyPr/>
          <a:lstStyle/>
          <a:p>
            <a:pPr eaLnBrk="1" hangingPunct="1"/>
            <a:r>
              <a:rPr lang="ro-RO" sz="2000"/>
              <a:t>Secvenţe, liste sau şiruri dinamice: </a:t>
            </a:r>
            <a:r>
              <a:rPr lang="ro-RO" sz="1800"/>
              <a:t>elementele mulţimii sunt stocate într-o anumită ordine</a:t>
            </a:r>
          </a:p>
          <a:p>
            <a:pPr eaLnBrk="1" hangingPunct="1"/>
            <a:r>
              <a:rPr lang="ro-RO" sz="2000"/>
              <a:t>Bag sau Heap: </a:t>
            </a:r>
            <a:r>
              <a:rPr lang="ro-RO" sz="1800"/>
              <a:t>nu se specifică ordinea elementelor, se permit elemente duplicate</a:t>
            </a:r>
          </a:p>
          <a:p>
            <a:pPr eaLnBrk="1" hangingPunct="1"/>
            <a:r>
              <a:rPr lang="ro-RO" sz="2000"/>
              <a:t>Arbori</a:t>
            </a:r>
          </a:p>
          <a:p>
            <a:pPr eaLnBrk="1" hangingPunct="1"/>
            <a:r>
              <a:rPr lang="ro-RO" sz="2000"/>
              <a:t>Grafuri sau reţele</a:t>
            </a:r>
          </a:p>
          <a:p>
            <a:pPr eaLnBrk="1" hangingPunct="1"/>
            <a:endParaRPr lang="ro-RO" sz="2000"/>
          </a:p>
          <a:p>
            <a:pPr eaLnBrk="1" hangingPunct="1"/>
            <a:r>
              <a:rPr lang="ro-RO" sz="2000" b="1"/>
              <a:t>Principiul ascunderii implementării:</a:t>
            </a:r>
            <a:r>
              <a:rPr lang="ro-RO" sz="2000"/>
              <a:t> </a:t>
            </a:r>
            <a:r>
              <a:rPr lang="ro-RO" sz="1800"/>
              <a:t>programatorul client nu trebuie să ştie modalitatea de implementare a ADT-ului</a:t>
            </a:r>
          </a:p>
        </p:txBody>
      </p:sp>
    </p:spTree>
    <p:extLst>
      <p:ext uri="{BB962C8B-B14F-4D97-AF65-F5344CB8AC3E}">
        <p14:creationId xmlns:p14="http://schemas.microsoft.com/office/powerpoint/2010/main" val="36756538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200"/>
              <a:t>Implementarea unui ADT </a:t>
            </a:r>
            <a:r>
              <a:rPr lang="ro-RO" sz="3200"/>
              <a:t>î</a:t>
            </a:r>
            <a:r>
              <a:rPr lang="en-US" sz="3200"/>
              <a:t>n C</a:t>
            </a:r>
            <a:r>
              <a:rPr lang="ro-RO" sz="3200"/>
              <a:t> </a:t>
            </a:r>
            <a:endParaRPr lang="en-US" sz="3200"/>
          </a:p>
        </p:txBody>
      </p:sp>
      <p:sp>
        <p:nvSpPr>
          <p:cNvPr id="16387" name="Rectangle 3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685800" y="1600200"/>
            <a:ext cx="7772400" cy="3886200"/>
          </a:xfrm>
        </p:spPr>
        <p:txBody>
          <a:bodyPr/>
          <a:lstStyle/>
          <a:p>
            <a:pPr eaLnBrk="1" hangingPunct="1"/>
            <a:r>
              <a:rPr lang="en-US" sz="2400"/>
              <a:t>Fi</a:t>
            </a:r>
            <a:r>
              <a:rPr lang="ro-RO" sz="2400"/>
              <a:t>şier header (.h)</a:t>
            </a:r>
          </a:p>
          <a:p>
            <a:pPr lvl="1" eaLnBrk="1" hangingPunct="1"/>
            <a:r>
              <a:rPr lang="ro-RO" sz="2000"/>
              <a:t>Conţine definţia tipului</a:t>
            </a:r>
          </a:p>
          <a:p>
            <a:pPr lvl="1" eaLnBrk="1" hangingPunct="1"/>
            <a:r>
              <a:rPr lang="ro-RO" sz="2000"/>
              <a:t>Conţine prototipul operaţiilor permise pe tip</a:t>
            </a:r>
          </a:p>
          <a:p>
            <a:pPr lvl="1" eaLnBrk="1" hangingPunct="1"/>
            <a:r>
              <a:rPr lang="ro-RO" sz="2000"/>
              <a:t>Este inclus în toate utilizările ADT-ului</a:t>
            </a:r>
          </a:p>
          <a:p>
            <a:pPr eaLnBrk="1" hangingPunct="1"/>
            <a:r>
              <a:rPr lang="ro-RO" sz="2400"/>
              <a:t>Fişier implementare (.c)</a:t>
            </a:r>
          </a:p>
          <a:p>
            <a:pPr lvl="1" eaLnBrk="1" hangingPunct="1"/>
            <a:r>
              <a:rPr lang="ro-RO" sz="2000"/>
              <a:t>Conţine definirea fiecărei operaţie ca şi funcţie</a:t>
            </a:r>
          </a:p>
          <a:p>
            <a:pPr lvl="1" eaLnBrk="1" hangingPunct="1"/>
            <a:r>
              <a:rPr lang="ro-RO" sz="2000"/>
              <a:t>Este link-editat la împreună cu programul client</a:t>
            </a:r>
            <a:endParaRPr lang="en-US" sz="2000"/>
          </a:p>
          <a:p>
            <a:pPr lvl="1" eaLnBrk="1" hangingPunct="1"/>
            <a:r>
              <a:rPr lang="en-US" sz="2000"/>
              <a:t>Fisierele header sunt incluse in programul client si in fis implementare prin directiva #include</a:t>
            </a: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982881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/>
              <a:t>ADT Lista</a:t>
            </a:r>
            <a:endParaRPr lang="ro-RO" sz="3200"/>
          </a:p>
        </p:txBody>
      </p:sp>
      <p:sp>
        <p:nvSpPr>
          <p:cNvPr id="17411" name="Content Placeholder 2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>
          <a:xfrm>
            <a:off x="838200" y="1524000"/>
            <a:ext cx="7772400" cy="5105400"/>
          </a:xfrm>
        </p:spPr>
        <p:txBody>
          <a:bodyPr/>
          <a:lstStyle/>
          <a:p>
            <a:r>
              <a:rPr lang="en-US" sz="2000"/>
              <a:t>Secven</a:t>
            </a:r>
            <a:r>
              <a:rPr lang="ro-RO" sz="2000"/>
              <a:t>ţă de 0 sau mai multe elemente de acelaşi tip</a:t>
            </a:r>
          </a:p>
          <a:p>
            <a:r>
              <a:rPr lang="ro-RO" sz="2000"/>
              <a:t>Caracteristici:</a:t>
            </a:r>
          </a:p>
          <a:p>
            <a:pPr lvl="1"/>
            <a:r>
              <a:rPr lang="ro-RO" sz="1800"/>
              <a:t>n: lungimea listei</a:t>
            </a:r>
          </a:p>
          <a:p>
            <a:pPr lvl="1"/>
            <a:r>
              <a:rPr lang="ro-RO" sz="1800"/>
              <a:t>Se spune ca a</a:t>
            </a:r>
            <a:r>
              <a:rPr lang="ro-RO" sz="1800" baseline="-25000"/>
              <a:t>i</a:t>
            </a:r>
            <a:r>
              <a:rPr lang="en-US" sz="1800"/>
              <a:t> precede pe a</a:t>
            </a:r>
            <a:r>
              <a:rPr lang="en-US" sz="1800" baseline="-25000"/>
              <a:t>i+1</a:t>
            </a:r>
            <a:r>
              <a:rPr lang="en-US" sz="1800"/>
              <a:t> </a:t>
            </a:r>
            <a:r>
              <a:rPr lang="ro-RO" sz="1800"/>
              <a:t>şi a</a:t>
            </a:r>
            <a:r>
              <a:rPr lang="ro-RO" sz="1800" baseline="-25000"/>
              <a:t>i</a:t>
            </a:r>
            <a:r>
              <a:rPr lang="ro-RO" sz="1800"/>
              <a:t> succede pe a</a:t>
            </a:r>
            <a:r>
              <a:rPr lang="ro-RO" sz="1800" baseline="-25000"/>
              <a:t>i-1</a:t>
            </a:r>
          </a:p>
          <a:p>
            <a:r>
              <a:rPr lang="ro-RO" sz="2200"/>
              <a:t>Operaţii pe listă</a:t>
            </a:r>
          </a:p>
          <a:p>
            <a:pPr lvl="1"/>
            <a:r>
              <a:rPr lang="ro-RO" sz="1800"/>
              <a:t>Insert</a:t>
            </a:r>
            <a:r>
              <a:rPr lang="en-US" sz="1800"/>
              <a:t>(x, p, L)</a:t>
            </a:r>
          </a:p>
          <a:p>
            <a:pPr lvl="1"/>
            <a:r>
              <a:rPr lang="en-US" sz="1800"/>
              <a:t>Locate(x, L)</a:t>
            </a:r>
          </a:p>
          <a:p>
            <a:pPr lvl="1"/>
            <a:r>
              <a:rPr lang="en-US" sz="1800"/>
              <a:t>Retrieve(p, L)</a:t>
            </a:r>
          </a:p>
          <a:p>
            <a:pPr lvl="1"/>
            <a:r>
              <a:rPr lang="en-US" sz="1800"/>
              <a:t>Delete(p, L)</a:t>
            </a:r>
          </a:p>
          <a:p>
            <a:pPr lvl="1"/>
            <a:r>
              <a:rPr lang="en-US" sz="1800"/>
              <a:t>Next(p, L)</a:t>
            </a:r>
          </a:p>
          <a:p>
            <a:pPr lvl="1"/>
            <a:r>
              <a:rPr lang="en-US" sz="1800"/>
              <a:t>Previous(p, L)</a:t>
            </a:r>
          </a:p>
          <a:p>
            <a:pPr lvl="1"/>
            <a:r>
              <a:rPr lang="en-US" sz="1800"/>
              <a:t>Makenull(p, L)</a:t>
            </a:r>
          </a:p>
          <a:p>
            <a:pPr lvl="1"/>
            <a:r>
              <a:rPr lang="en-US" sz="1800"/>
              <a:t>First(L)</a:t>
            </a:r>
          </a:p>
          <a:p>
            <a:pPr lvl="1"/>
            <a:r>
              <a:rPr lang="en-US" sz="1800"/>
              <a:t>Printlist(L)</a:t>
            </a:r>
            <a:endParaRPr lang="ro-RO" sz="1800"/>
          </a:p>
        </p:txBody>
      </p:sp>
      <p:sp>
        <p:nvSpPr>
          <p:cNvPr id="17412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4422547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/>
              <a:t>Implementarea listelor cu şiruri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762000" y="1600200"/>
          <a:ext cx="3505200" cy="2389188"/>
        </p:xfrm>
        <a:graphic>
          <a:graphicData uri="http://schemas.openxmlformats.org/drawingml/2006/table">
            <a:tbl>
              <a:tblPr/>
              <a:tblGrid>
                <a:gridCol w="1668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760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1</a:t>
                      </a:r>
                    </a:p>
                  </a:txBody>
                  <a:tcPr marL="68586" marR="68586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First element</a:t>
                      </a: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034">
                <a:tc>
                  <a:txBody>
                    <a:bodyPr/>
                    <a:lstStyle/>
                    <a:p>
                      <a:pPr algn="r"/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2 </a:t>
                      </a:r>
                      <a:endParaRPr lang="ro-RO" sz="18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Sec</a:t>
                      </a:r>
                      <a:r>
                        <a:rPr lang="en-US" sz="1400" dirty="0">
                          <a:latin typeface="+mj-lt"/>
                          <a:ea typeface="Times New Roman"/>
                          <a:cs typeface="Times New Roman"/>
                        </a:rPr>
                        <a:t>o</a:t>
                      </a:r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nd element</a:t>
                      </a: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6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760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en-US" sz="1400" dirty="0">
                          <a:latin typeface="+mj-lt"/>
                          <a:ea typeface="Times New Roman"/>
                          <a:cs typeface="Times New Roman"/>
                        </a:rPr>
                        <a:t>n</a:t>
                      </a: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Last element</a:t>
                      </a: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0084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7602">
                <a:tc>
                  <a:txBody>
                    <a:bodyPr/>
                    <a:lstStyle/>
                    <a:p>
                      <a:pPr algn="r">
                        <a:spcAft>
                          <a:spcPts val="0"/>
                        </a:spcAft>
                      </a:pPr>
                      <a:r>
                        <a:rPr lang="ro-RO" sz="1400" dirty="0">
                          <a:latin typeface="+mj-lt"/>
                          <a:ea typeface="Times New Roman"/>
                          <a:cs typeface="Times New Roman"/>
                        </a:rPr>
                        <a:t>Maxlength</a:t>
                      </a:r>
                    </a:p>
                  </a:txBody>
                  <a:tcPr marL="68586" marR="68586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400" dirty="0">
                        <a:latin typeface="+mj-lt"/>
                        <a:ea typeface="Times New Roman"/>
                        <a:cs typeface="Times New Roman"/>
                      </a:endParaRPr>
                    </a:p>
                  </a:txBody>
                  <a:tcPr marL="68586" marR="68586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8457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  <p:sp>
        <p:nvSpPr>
          <p:cNvPr id="18458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59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8460" name="Right Brace 7"/>
          <p:cNvSpPr>
            <a:spLocks/>
          </p:cNvSpPr>
          <p:nvPr/>
        </p:nvSpPr>
        <p:spPr bwMode="auto">
          <a:xfrm>
            <a:off x="4343400" y="3048000"/>
            <a:ext cx="228600" cy="990600"/>
          </a:xfrm>
          <a:prstGeom prst="rightBrace">
            <a:avLst>
              <a:gd name="adj1" fmla="val 8326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ro-RO"/>
          </a:p>
        </p:txBody>
      </p:sp>
      <p:sp>
        <p:nvSpPr>
          <p:cNvPr id="18461" name="TextBox 7"/>
          <p:cNvSpPr txBox="1">
            <a:spLocks noChangeArrowheads="1"/>
          </p:cNvSpPr>
          <p:nvPr/>
        </p:nvSpPr>
        <p:spPr bwMode="auto">
          <a:xfrm>
            <a:off x="4572000" y="3352800"/>
            <a:ext cx="12954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ro-RO" sz="1400"/>
              <a:t>Empt</a:t>
            </a:r>
            <a:r>
              <a:rPr lang="en-US" sz="1400"/>
              <a:t>y space</a:t>
            </a:r>
            <a:endParaRPr lang="ro-RO"/>
          </a:p>
        </p:txBody>
      </p:sp>
      <p:sp>
        <p:nvSpPr>
          <p:cNvPr id="18462" name="TextBox 8"/>
          <p:cNvSpPr txBox="1">
            <a:spLocks noChangeArrowheads="1"/>
          </p:cNvSpPr>
          <p:nvPr/>
        </p:nvSpPr>
        <p:spPr bwMode="auto">
          <a:xfrm>
            <a:off x="609600" y="4191000"/>
            <a:ext cx="7989888" cy="1538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000"/>
              <a:t>Dezavantaj: </a:t>
            </a:r>
            <a:endParaRPr lang="ro-RO" sz="2000"/>
          </a:p>
          <a:p>
            <a:pPr lvl="1" eaLnBrk="1" hangingPunct="1">
              <a:buFont typeface="Arial" charset="0"/>
              <a:buChar char="•"/>
            </a:pPr>
            <a:r>
              <a:rPr lang="en-US" sz="1800"/>
              <a:t>trebuie specificat</a:t>
            </a:r>
            <a:r>
              <a:rPr lang="ro-RO" sz="1800"/>
              <a:t>ă la compilare dimensiunea maximă a listei</a:t>
            </a:r>
          </a:p>
          <a:p>
            <a:pPr lvl="1" eaLnBrk="1" hangingPunct="1">
              <a:buFont typeface="Arial" charset="0"/>
              <a:buChar char="•"/>
            </a:pPr>
            <a:r>
              <a:rPr lang="ro-RO" sz="1800"/>
              <a:t>operatiile de insert si delete sunt de complexitate sporită</a:t>
            </a:r>
          </a:p>
          <a:p>
            <a:pPr eaLnBrk="1" hangingPunct="1"/>
            <a:r>
              <a:rPr lang="ro-RO" sz="2000"/>
              <a:t>Avantaj: </a:t>
            </a:r>
          </a:p>
          <a:p>
            <a:pPr lvl="1" eaLnBrk="1" hangingPunct="1">
              <a:buFont typeface="Arial" charset="0"/>
              <a:buChar char="•"/>
            </a:pPr>
            <a:r>
              <a:rPr lang="ro-RO" sz="1800"/>
              <a:t>regăsirea elementelor se face rapid - complexitate O(1) </a:t>
            </a:r>
          </a:p>
        </p:txBody>
      </p:sp>
    </p:spTree>
    <p:extLst>
      <p:ext uri="{BB962C8B-B14F-4D97-AF65-F5344CB8AC3E}">
        <p14:creationId xmlns:p14="http://schemas.microsoft.com/office/powerpoint/2010/main" val="1902693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/>
              <a:t>Implementarea listelor cu pointeri (i)</a:t>
            </a:r>
          </a:p>
        </p:txBody>
      </p:sp>
      <p:sp>
        <p:nvSpPr>
          <p:cNvPr id="103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  <p:sp>
        <p:nvSpPr>
          <p:cNvPr id="103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33" name="TextBox 8"/>
          <p:cNvSpPr txBox="1">
            <a:spLocks noChangeArrowheads="1"/>
          </p:cNvSpPr>
          <p:nvPr/>
        </p:nvSpPr>
        <p:spPr bwMode="auto">
          <a:xfrm>
            <a:off x="609600" y="4191000"/>
            <a:ext cx="7989888" cy="181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US" sz="2000"/>
              <a:t>Dezavantaj: </a:t>
            </a:r>
            <a:endParaRPr lang="ro-RO" sz="2000"/>
          </a:p>
          <a:p>
            <a:pPr lvl="1" eaLnBrk="1" hangingPunct="1">
              <a:buFont typeface="Arial" charset="0"/>
              <a:buChar char="•"/>
            </a:pPr>
            <a:r>
              <a:rPr lang="ro-RO" sz="1800"/>
              <a:t>Regasirea elementelor se face încet – complexitate O(n)</a:t>
            </a:r>
          </a:p>
          <a:p>
            <a:pPr eaLnBrk="1" hangingPunct="1"/>
            <a:r>
              <a:rPr lang="ro-RO" sz="2000"/>
              <a:t>Avantaj: </a:t>
            </a:r>
          </a:p>
          <a:p>
            <a:pPr lvl="1" eaLnBrk="1" hangingPunct="1">
              <a:buFont typeface="Arial" charset="0"/>
              <a:buChar char="•"/>
            </a:pPr>
            <a:r>
              <a:rPr lang="ro-RO" sz="1800"/>
              <a:t>Operatiile de insert si delete se realizează uşor</a:t>
            </a:r>
          </a:p>
          <a:p>
            <a:pPr lvl="1" eaLnBrk="1" hangingPunct="1">
              <a:buFont typeface="Arial" charset="0"/>
              <a:buChar char="•"/>
            </a:pPr>
            <a:r>
              <a:rPr lang="ro-RO" sz="1800"/>
              <a:t>Nu trebuie specificată dimensiunea maximă. Gestiune optimă a spaţiului de stocare 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914400" y="1828800"/>
          <a:ext cx="6172205" cy="685800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1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7478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  <a:p>
                      <a:pPr algn="just">
                        <a:spcAft>
                          <a:spcPts val="0"/>
                        </a:spcAft>
                      </a:pPr>
                      <a:endParaRPr lang="ro-RO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ltUpDiag">
                      <a:fgClr>
                        <a:srgbClr val="FFFFFF"/>
                      </a:fgClr>
                      <a:bgClr>
                        <a:srgbClr val="DDDDDD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2400" dirty="0">
                          <a:latin typeface="Times New Roman"/>
                          <a:ea typeface="Times New Roman"/>
                          <a:cs typeface="Times New Roman"/>
                        </a:rPr>
                        <a:t>…</a:t>
                      </a:r>
                      <a:endParaRPr lang="ro-RO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ro-RO" sz="1200" dirty="0">
                        <a:latin typeface="Times New Roman"/>
                        <a:ea typeface="Times New Roman"/>
                        <a:cs typeface="Times New Roman"/>
                        <a:sym typeface="Symbol"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ro-RO" sz="1200" dirty="0">
                          <a:latin typeface="Times New Roman"/>
                          <a:ea typeface="Times New Roman"/>
                          <a:cs typeface="Times New Roman"/>
                          <a:sym typeface="Symbol"/>
                        </a:rPr>
                        <a:t></a:t>
                      </a:r>
                      <a:endParaRPr lang="ro-RO" sz="10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26" name="Object 11"/>
          <p:cNvGraphicFramePr>
            <a:graphicFrameLocks noChangeAspect="1"/>
          </p:cNvGraphicFramePr>
          <p:nvPr/>
        </p:nvGraphicFramePr>
        <p:xfrm>
          <a:off x="2438400" y="1905000"/>
          <a:ext cx="3048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64885" imgH="215619" progId="Equation.3">
                  <p:embed/>
                </p:oleObj>
              </mc:Choice>
              <mc:Fallback>
                <p:oleObj name="Equation" r:id="rId2" imgW="164885" imgH="215619" progId="Equation.3">
                  <p:embed/>
                  <p:pic>
                    <p:nvPicPr>
                      <p:cNvPr id="1026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1905000"/>
                        <a:ext cx="304800" cy="412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7" name="Object 10"/>
          <p:cNvGraphicFramePr>
            <a:graphicFrameLocks noChangeAspect="1"/>
          </p:cNvGraphicFramePr>
          <p:nvPr/>
        </p:nvGraphicFramePr>
        <p:xfrm>
          <a:off x="3886200" y="1905000"/>
          <a:ext cx="31432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569" imgH="215619" progId="Equation.3">
                  <p:embed/>
                </p:oleObj>
              </mc:Choice>
              <mc:Fallback>
                <p:oleObj name="Equation" r:id="rId4" imgW="177569" imgH="215619" progId="Equation.3">
                  <p:embed/>
                  <p:pic>
                    <p:nvPicPr>
                      <p:cNvPr id="1027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1905000"/>
                        <a:ext cx="314325" cy="381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9"/>
          <p:cNvGraphicFramePr>
            <a:graphicFrameLocks noChangeAspect="1"/>
          </p:cNvGraphicFramePr>
          <p:nvPr/>
        </p:nvGraphicFramePr>
        <p:xfrm>
          <a:off x="6248400" y="1905000"/>
          <a:ext cx="304800" cy="385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480" imgH="228600" progId="Equation.3">
                  <p:embed/>
                </p:oleObj>
              </mc:Choice>
              <mc:Fallback>
                <p:oleObj name="Equation" r:id="rId6" imgW="177480" imgH="228600" progId="Equation.3">
                  <p:embed/>
                  <p:pic>
                    <p:nvPicPr>
                      <p:cNvPr id="1028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1905000"/>
                        <a:ext cx="304800" cy="3857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68" name="Line 12"/>
          <p:cNvSpPr>
            <a:spLocks noChangeShapeType="1"/>
          </p:cNvSpPr>
          <p:nvPr/>
        </p:nvSpPr>
        <p:spPr bwMode="auto">
          <a:xfrm>
            <a:off x="1752600" y="2133600"/>
            <a:ext cx="549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069" name="Line 13"/>
          <p:cNvSpPr>
            <a:spLocks noChangeShapeType="1"/>
          </p:cNvSpPr>
          <p:nvPr/>
        </p:nvSpPr>
        <p:spPr bwMode="auto">
          <a:xfrm>
            <a:off x="3200400" y="2133600"/>
            <a:ext cx="5492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070" name="Line 14"/>
          <p:cNvSpPr>
            <a:spLocks noChangeShapeType="1"/>
          </p:cNvSpPr>
          <p:nvPr/>
        </p:nvSpPr>
        <p:spPr bwMode="auto">
          <a:xfrm>
            <a:off x="4572000" y="2133600"/>
            <a:ext cx="5476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071" name="Line 15"/>
          <p:cNvSpPr>
            <a:spLocks noChangeShapeType="1"/>
          </p:cNvSpPr>
          <p:nvPr/>
        </p:nvSpPr>
        <p:spPr bwMode="auto">
          <a:xfrm>
            <a:off x="5562600" y="2133600"/>
            <a:ext cx="54768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o-RO"/>
          </a:p>
        </p:txBody>
      </p:sp>
      <p:sp>
        <p:nvSpPr>
          <p:cNvPr id="1072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073" name="TextBox 28"/>
          <p:cNvSpPr txBox="1">
            <a:spLocks noChangeArrowheads="1"/>
          </p:cNvSpPr>
          <p:nvPr/>
        </p:nvSpPr>
        <p:spPr bwMode="auto">
          <a:xfrm>
            <a:off x="1066800" y="2590800"/>
            <a:ext cx="731838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ro-RO" sz="1400"/>
              <a:t>header</a:t>
            </a:r>
            <a:endParaRPr lang="ro-RO"/>
          </a:p>
        </p:txBody>
      </p:sp>
      <p:sp>
        <p:nvSpPr>
          <p:cNvPr id="1074" name="Left Brace 29"/>
          <p:cNvSpPr>
            <a:spLocks/>
          </p:cNvSpPr>
          <p:nvPr/>
        </p:nvSpPr>
        <p:spPr bwMode="auto">
          <a:xfrm rot="5400000" flipH="1">
            <a:off x="4610100" y="342900"/>
            <a:ext cx="228600" cy="4724400"/>
          </a:xfrm>
          <a:prstGeom prst="leftBrace">
            <a:avLst>
              <a:gd name="adj1" fmla="val 8324"/>
              <a:gd name="adj2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/>
          <a:p>
            <a:endParaRPr lang="ro-RO"/>
          </a:p>
        </p:txBody>
      </p:sp>
      <p:sp>
        <p:nvSpPr>
          <p:cNvPr id="1075" name="Rectangle 31"/>
          <p:cNvSpPr>
            <a:spLocks noChangeArrowheads="1"/>
          </p:cNvSpPr>
          <p:nvPr/>
        </p:nvSpPr>
        <p:spPr bwMode="auto">
          <a:xfrm>
            <a:off x="4572000" y="2895600"/>
            <a:ext cx="50165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ro-RO" sz="1400">
                <a:solidFill>
                  <a:srgbClr val="40458C"/>
                </a:solidFill>
              </a:rPr>
              <a:t>lista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40937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/>
              <a:t>Implementarea listelor cu pointeri (ii)</a:t>
            </a:r>
          </a:p>
        </p:txBody>
      </p:sp>
      <p:sp>
        <p:nvSpPr>
          <p:cNvPr id="19459" name="Content Placeholder 18" descr="Rectangle: Click to edit Master text styles&#10;Second level&#10;Third level&#10;Fourth level&#10;Fifth level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000"/>
              <a:t>Variante de implementare</a:t>
            </a:r>
            <a:endParaRPr lang="ro-RO"/>
          </a:p>
          <a:p>
            <a:pPr lvl="1"/>
            <a:r>
              <a:rPr lang="en-US" sz="1800"/>
              <a:t>Acces la list</a:t>
            </a:r>
            <a:r>
              <a:rPr lang="ro-RO" sz="1800"/>
              <a:t>ă printr-un pointer</a:t>
            </a:r>
          </a:p>
          <a:p>
            <a:pPr lvl="1"/>
            <a:r>
              <a:rPr lang="ro-RO" sz="1800"/>
              <a:t>Santinele la început şi/sau sfârşit</a:t>
            </a:r>
          </a:p>
          <a:p>
            <a:endParaRPr lang="ro-RO" sz="2200"/>
          </a:p>
          <a:p>
            <a:r>
              <a:rPr lang="ro-RO" sz="2200"/>
              <a:t>Santinela:</a:t>
            </a:r>
          </a:p>
          <a:p>
            <a:pPr lvl="1"/>
            <a:r>
              <a:rPr lang="ro-RO" sz="1800"/>
              <a:t>Un element de listă gol care marchează începutul sau sfârşitul listei</a:t>
            </a:r>
          </a:p>
          <a:p>
            <a:pPr lvl="1"/>
            <a:r>
              <a:rPr lang="ro-RO" sz="1800"/>
              <a:t>Avantaj: permite inserare uşoară de elemente la inceput </a:t>
            </a:r>
            <a:r>
              <a:rPr lang="en-US" sz="1800"/>
              <a:t>/ </a:t>
            </a:r>
            <a:r>
              <a:rPr lang="ro-RO" sz="1800"/>
              <a:t>sfârşit </a:t>
            </a:r>
          </a:p>
          <a:p>
            <a:pPr lvl="1">
              <a:buFont typeface="Wingdings" pitchFamily="2" charset="2"/>
              <a:buNone/>
            </a:pPr>
            <a:endParaRPr lang="ro-RO" sz="1800"/>
          </a:p>
        </p:txBody>
      </p:sp>
      <p:sp>
        <p:nvSpPr>
          <p:cNvPr id="1946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en-GB" sz="1400"/>
              <a:t>Cluj-Napoca  - 10 Octombrie 2022</a:t>
            </a:r>
          </a:p>
        </p:txBody>
      </p:sp>
      <p:sp>
        <p:nvSpPr>
          <p:cNvPr id="19461" name="Text Box 2"/>
          <p:cNvSpPr txBox="1">
            <a:spLocks noChangeArrowheads="1"/>
          </p:cNvSpPr>
          <p:nvPr/>
        </p:nvSpPr>
        <p:spPr bwMode="auto">
          <a:xfrm>
            <a:off x="4068763" y="984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9462" name="Text Box 1"/>
          <p:cNvSpPr txBox="1">
            <a:spLocks noChangeArrowheads="1"/>
          </p:cNvSpPr>
          <p:nvPr/>
        </p:nvSpPr>
        <p:spPr bwMode="auto">
          <a:xfrm>
            <a:off x="3978275" y="187325"/>
            <a:ext cx="914400" cy="27463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  <p:sp>
        <p:nvSpPr>
          <p:cNvPr id="19463" name="Text Box 16"/>
          <p:cNvSpPr txBox="1">
            <a:spLocks noChangeArrowheads="1"/>
          </p:cNvSpPr>
          <p:nvPr/>
        </p:nvSpPr>
        <p:spPr bwMode="auto">
          <a:xfrm>
            <a:off x="46038" y="206375"/>
            <a:ext cx="639762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79450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Liste</a:t>
            </a:r>
            <a:r>
              <a:rPr lang="en-US" sz="3200" dirty="0"/>
              <a:t> </a:t>
            </a:r>
            <a:r>
              <a:rPr lang="ro-RO" sz="3200" dirty="0"/>
              <a:t>înlănțuite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r>
              <a:rPr lang="ro-RO" sz="1600" dirty="0"/>
              <a:t>O structură de date în care obiectele sunt aranjate intr-o ordine liniară</a:t>
            </a:r>
          </a:p>
          <a:p>
            <a:r>
              <a:rPr lang="ro-RO" sz="1600" dirty="0"/>
              <a:t>La implementarea prin siruri, ordinea este determinată de indici</a:t>
            </a:r>
          </a:p>
          <a:p>
            <a:r>
              <a:rPr lang="ro-RO" sz="1600" dirty="0"/>
              <a:t>La implementarea prin pointeri, ordinea este determinată de un pointer care arată către obiectul următor</a:t>
            </a:r>
          </a:p>
          <a:p>
            <a:endParaRPr lang="ro-RO" sz="1600" dirty="0"/>
          </a:p>
          <a:p>
            <a:r>
              <a:rPr lang="ro-RO" sz="1600" dirty="0"/>
              <a:t>Listă simplu înlănțuită: fiecare obiect are un atribut cheie și un pointer </a:t>
            </a:r>
            <a:r>
              <a:rPr lang="ro-RO" sz="1600" i="1" dirty="0"/>
              <a:t>next</a:t>
            </a:r>
          </a:p>
          <a:p>
            <a:r>
              <a:rPr lang="ro-RO" sz="1600" dirty="0"/>
              <a:t>Listă dublu înlănțuită: fiecare obiect are un atribut cheie și doi pointeri: </a:t>
            </a:r>
            <a:r>
              <a:rPr lang="ro-RO" sz="1600" i="1" dirty="0"/>
              <a:t>next</a:t>
            </a:r>
            <a:r>
              <a:rPr lang="ro-RO" sz="1600" dirty="0"/>
              <a:t> și </a:t>
            </a:r>
            <a:r>
              <a:rPr lang="ro-RO" sz="1600" i="1" dirty="0"/>
              <a:t>prev</a:t>
            </a:r>
          </a:p>
          <a:p>
            <a:r>
              <a:rPr lang="ro-RO" sz="1600" dirty="0"/>
              <a:t>La un element x, x.next arată către elementul succesor</a:t>
            </a:r>
          </a:p>
          <a:p>
            <a:r>
              <a:rPr lang="ro-RO" sz="1600" dirty="0"/>
              <a:t>La un element x, x.prev arată către elementul predecesor</a:t>
            </a:r>
          </a:p>
          <a:p>
            <a:r>
              <a:rPr lang="ro-RO" sz="1600" dirty="0"/>
              <a:t>Dacă x.prev == NULL, atunci x este primul element, denumit </a:t>
            </a:r>
            <a:r>
              <a:rPr lang="ro-RO" sz="1600" i="1" dirty="0"/>
              <a:t>head</a:t>
            </a:r>
          </a:p>
          <a:p>
            <a:r>
              <a:rPr lang="ro-RO" sz="1600" dirty="0"/>
              <a:t>Dacă x.next == NULL, atunci x este ultimul element, denumit </a:t>
            </a:r>
            <a:r>
              <a:rPr lang="ro-RO" sz="1600" i="1" dirty="0"/>
              <a:t>tail</a:t>
            </a:r>
          </a:p>
          <a:p>
            <a:endParaRPr lang="ro-RO" sz="1600" dirty="0"/>
          </a:p>
          <a:p>
            <a:r>
              <a:rPr lang="ro-RO" sz="1600" dirty="0"/>
              <a:t>Dacă lista este sortată, cheile apar în ordine sortată</a:t>
            </a:r>
          </a:p>
          <a:p>
            <a:r>
              <a:rPr lang="ro-RO" sz="1600" dirty="0"/>
              <a:t>Lista circulară: </a:t>
            </a:r>
          </a:p>
          <a:p>
            <a:pPr lvl="1"/>
            <a:r>
              <a:rPr lang="ro-RO" sz="1600" dirty="0"/>
              <a:t>ultimul element din listă pointează către head</a:t>
            </a:r>
          </a:p>
          <a:p>
            <a:pPr lvl="1"/>
            <a:r>
              <a:rPr lang="ro-RO" sz="1600" dirty="0"/>
              <a:t>primul element din listă pointează către tail</a:t>
            </a:r>
          </a:p>
          <a:p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3947992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  <p:pic>
        <p:nvPicPr>
          <p:cNvPr id="5" name="Picture 4" descr="D:\McGraw-Hill Projects\Cormen\images\fig10-3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71500"/>
            <a:ext cx="9144000" cy="571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93959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Operația de căutare în listă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r>
                  <a:rPr lang="ro-RO" sz="1600" dirty="0"/>
                  <a:t>Identifică primul element cu cheia k in lista L</a:t>
                </a:r>
              </a:p>
              <a:p>
                <a:r>
                  <a:rPr lang="ro-RO" sz="1600" dirty="0"/>
                  <a:t>Pentru o listă cu n elemente, timpul de execuție este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1600" i="1" smtClean="0">
                        <a:latin typeface="Cambria Math"/>
                      </a:rPr>
                      <m:t>Θ</m:t>
                    </m:r>
                    <m:r>
                      <a:rPr lang="ro-RO" sz="1600" b="0" i="1" smtClean="0">
                        <a:latin typeface="Cambria Math"/>
                      </a:rPr>
                      <m:t>(</m:t>
                    </m:r>
                    <m:r>
                      <a:rPr lang="ro-RO" sz="1600" b="0" i="1" smtClean="0">
                        <a:latin typeface="Cambria Math"/>
                      </a:rPr>
                      <m:t>𝑛</m:t>
                    </m:r>
                    <m:r>
                      <a:rPr lang="ro-RO" sz="1600" b="0" i="1" smtClean="0">
                        <a:latin typeface="Cambria Math"/>
                      </a:rPr>
                      <m:t>)</m:t>
                    </m:r>
                  </m:oMath>
                </a14:m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  <p:pic>
        <p:nvPicPr>
          <p:cNvPr id="2050" name="Picture 2" descr="http://highered.mcgraw-hill.com/sites/dl/free/0070131511/25325/list_search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667000"/>
            <a:ext cx="4419600" cy="1966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9907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Inserarea unui element in listă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800" dirty="0"/>
              <a:t>Operația de inserare la inceputul listei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  <p:pic>
        <p:nvPicPr>
          <p:cNvPr id="13314" name="Picture 2" descr="http://highered.mcgraw-hill.com/sites/dl/free/0070131511/25325/list_insert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1" y="1905000"/>
            <a:ext cx="3657600" cy="2100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777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Stergerea unui element din listă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953000"/>
              </a:xfrm>
            </p:spPr>
            <p:txBody>
              <a:bodyPr/>
              <a:lstStyle/>
              <a:p>
                <a:r>
                  <a:rPr lang="ro-RO" sz="1600" dirty="0"/>
                  <a:t>Pentru a se sterge un element x, trebuie să avem un pointer către acesta</a:t>
                </a:r>
              </a:p>
              <a:p>
                <a:r>
                  <a:rPr lang="ro-RO" sz="1600" dirty="0"/>
                  <a:t>Dacă nu avem un pointer către elementul x, atunci acesta trebuie găsit prin List-search</a:t>
                </a:r>
              </a:p>
              <a:p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LIST-DELETE(L,x)</a:t>
                </a:r>
              </a:p>
              <a:p>
                <a:pPr marL="0" indent="0">
                  <a:buNone/>
                </a:pPr>
                <a:r>
                  <a:rPr lang="ro-RO" sz="1600" dirty="0"/>
                  <a:t>1. if x.prev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ro-RO" sz="1600" dirty="0"/>
                  <a:t> NIL</a:t>
                </a:r>
              </a:p>
              <a:p>
                <a:pPr marL="0" indent="0">
                  <a:buNone/>
                </a:pPr>
                <a:r>
                  <a:rPr lang="ro-RO" sz="1600" dirty="0"/>
                  <a:t>2. 	x.prev.next = x.next</a:t>
                </a:r>
              </a:p>
              <a:p>
                <a:pPr marL="0" indent="0">
                  <a:buNone/>
                </a:pPr>
                <a:r>
                  <a:rPr lang="ro-RO" sz="1600" dirty="0"/>
                  <a:t>3. Else L.head = x.next</a:t>
                </a:r>
              </a:p>
              <a:p>
                <a:pPr marL="0" indent="0">
                  <a:buNone/>
                </a:pPr>
                <a:r>
                  <a:rPr lang="ro-RO" sz="1600" dirty="0"/>
                  <a:t>4. If x.next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ro-RO" sz="1600" dirty="0"/>
                  <a:t> NIL</a:t>
                </a:r>
              </a:p>
              <a:p>
                <a:pPr marL="0" indent="0">
                  <a:buNone/>
                </a:pPr>
                <a:r>
                  <a:rPr lang="ro-RO" sz="1600" dirty="0"/>
                  <a:t>5.	x.next.prev = x.prev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Dacă ignorăm condițiile de head si tail a listei, operatia de delete se transformă în:</a:t>
                </a:r>
              </a:p>
              <a:p>
                <a:pPr marL="0" indent="0">
                  <a:buNone/>
                </a:pPr>
                <a:r>
                  <a:rPr lang="ro-RO" sz="1600" dirty="0"/>
                  <a:t>LIST-DELETE-SANTINELA(L,x)</a:t>
                </a:r>
              </a:p>
              <a:p>
                <a:pPr marL="0" indent="0">
                  <a:buNone/>
                </a:pPr>
                <a:r>
                  <a:rPr lang="ro-RO" sz="1600" dirty="0"/>
                  <a:t>1. x.prev.next = x.next</a:t>
                </a:r>
              </a:p>
              <a:p>
                <a:pPr marL="0" indent="0">
                  <a:buNone/>
                </a:pPr>
                <a:r>
                  <a:rPr lang="ro-RO" sz="1600" dirty="0"/>
                  <a:t>2. x.next.prev = x.prev</a:t>
                </a:r>
              </a:p>
              <a:p>
                <a:pPr marL="0" indent="0">
                  <a:buNone/>
                </a:pPr>
                <a:r>
                  <a:rPr lang="ro-RO" sz="1600" dirty="0"/>
                  <a:t>=</a:t>
                </a:r>
                <a:r>
                  <a:rPr lang="en-US" sz="1600" dirty="0"/>
                  <a:t>&gt; </a:t>
                </a:r>
                <a:r>
                  <a:rPr lang="en-US" sz="1600" dirty="0" err="1"/>
                  <a:t>Necesitatea</a:t>
                </a:r>
                <a:r>
                  <a:rPr lang="en-US" sz="1600" dirty="0"/>
                  <a:t> </a:t>
                </a:r>
                <a:r>
                  <a:rPr lang="en-US" sz="1600" dirty="0" err="1"/>
                  <a:t>santinelelor</a:t>
                </a:r>
                <a:r>
                  <a:rPr lang="en-US" sz="1600" dirty="0"/>
                  <a:t>: </a:t>
                </a:r>
                <a:r>
                  <a:rPr lang="en-US" sz="1600" dirty="0" err="1"/>
                  <a:t>obiect</a:t>
                </a:r>
                <a:r>
                  <a:rPr lang="en-US" sz="1600" dirty="0"/>
                  <a:t> dummy  care </a:t>
                </a:r>
                <a:r>
                  <a:rPr lang="en-US" sz="1600" dirty="0" err="1"/>
                  <a:t>marcheaz</a:t>
                </a:r>
                <a:r>
                  <a:rPr lang="ro-RO" sz="1600" dirty="0"/>
                  <a:t>ă inceputul sau sfârșitul listei. Introducem un element L.nil , astfel încat orice referință la Nil să se transforme in referinta la L.nil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953000"/>
              </a:xfrm>
              <a:blipFill rotWithShape="1">
                <a:blip r:embed="rId2"/>
                <a:stretch>
                  <a:fillRect l="-392" t="-369" b="-5781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40477618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813955"/>
            <a:ext cx="8436168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834591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ro-RO" sz="1600" dirty="0"/>
                  <a:t>LIST-SEARCH-SANTINELA(L, k)</a:t>
                </a:r>
              </a:p>
              <a:p>
                <a:pPr marL="0" indent="0">
                  <a:buNone/>
                </a:pPr>
                <a:r>
                  <a:rPr lang="ro-RO" sz="1600" dirty="0"/>
                  <a:t>1. x = L.nil.next</a:t>
                </a:r>
              </a:p>
              <a:p>
                <a:pPr marL="0" indent="0">
                  <a:buNone/>
                </a:pPr>
                <a:r>
                  <a:rPr lang="ro-RO" sz="1600" dirty="0"/>
                  <a:t>2. While x </a:t>
                </a:r>
                <a14:m>
                  <m:oMath xmlns:m="http://schemas.openxmlformats.org/officeDocument/2006/math">
                    <m:r>
                      <a:rPr lang="ro-RO" sz="1600" i="1" smtClean="0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ro-RO" sz="1600" dirty="0"/>
                  <a:t> L.nil and x.key </a:t>
                </a:r>
                <a14:m>
                  <m:oMath xmlns:m="http://schemas.openxmlformats.org/officeDocument/2006/math">
                    <m:r>
                      <a:rPr lang="ro-RO" sz="1600" i="1">
                        <a:latin typeface="Cambria Math"/>
                        <a:ea typeface="Cambria Math"/>
                      </a:rPr>
                      <m:t>≠</m:t>
                    </m:r>
                  </m:oMath>
                </a14:m>
                <a:r>
                  <a:rPr lang="ro-RO" sz="1600" dirty="0"/>
                  <a:t> k</a:t>
                </a:r>
              </a:p>
              <a:p>
                <a:pPr marL="0" indent="0">
                  <a:buNone/>
                </a:pPr>
                <a:r>
                  <a:rPr lang="ro-RO" sz="1600" dirty="0"/>
                  <a:t>3. 	x = x.next</a:t>
                </a:r>
              </a:p>
              <a:p>
                <a:pPr marL="0" indent="0">
                  <a:buNone/>
                </a:pPr>
                <a:r>
                  <a:rPr lang="ro-RO" sz="1600" dirty="0"/>
                  <a:t>4. Return x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r>
                  <a:rPr lang="ro-RO" sz="1600" dirty="0"/>
                  <a:t>LIST-INSERT-SANTINELA(L, x)</a:t>
                </a:r>
              </a:p>
              <a:p>
                <a:pPr marL="0" indent="0">
                  <a:buNone/>
                </a:pPr>
                <a:r>
                  <a:rPr lang="ro-RO" sz="1600" dirty="0"/>
                  <a:t>1. x.next = L.nil.next</a:t>
                </a:r>
              </a:p>
              <a:p>
                <a:pPr marL="0" indent="0">
                  <a:buNone/>
                </a:pPr>
                <a:r>
                  <a:rPr lang="ro-RO" sz="1600" dirty="0"/>
                  <a:t>2. L.nil.next.prev = x</a:t>
                </a:r>
              </a:p>
              <a:p>
                <a:pPr marL="0" indent="0">
                  <a:buNone/>
                </a:pPr>
                <a:r>
                  <a:rPr lang="ro-RO" sz="1600" dirty="0"/>
                  <a:t>3. L.nil.next = x</a:t>
                </a:r>
              </a:p>
              <a:p>
                <a:pPr marL="0" indent="0">
                  <a:buNone/>
                </a:pPr>
                <a:r>
                  <a:rPr lang="ro-RO" sz="1600" dirty="0"/>
                  <a:t>4. x.prev = L.nil</a:t>
                </a:r>
              </a:p>
              <a:p>
                <a:pPr marL="0" indent="0">
                  <a:buNone/>
                </a:pPr>
                <a:endParaRPr lang="ro-RO" sz="1600" dirty="0"/>
              </a:p>
              <a:p>
                <a:pPr marL="0" indent="0">
                  <a:buNone/>
                </a:pPr>
                <a:endParaRPr lang="ro-RO" sz="1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524000"/>
                <a:ext cx="7772400" cy="4114800"/>
              </a:xfrm>
              <a:blipFill rotWithShape="1">
                <a:blip r:embed="rId2"/>
                <a:stretch>
                  <a:fillRect l="-392" t="-444"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641799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3200" dirty="0"/>
              <a:t>Stive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r>
              <a:rPr lang="ro-RO" sz="1600" dirty="0"/>
              <a:t>Last-in, first-out</a:t>
            </a:r>
          </a:p>
          <a:p>
            <a:r>
              <a:rPr lang="ro-RO" sz="1600" dirty="0"/>
              <a:t>INSERT -</a:t>
            </a:r>
            <a:r>
              <a:rPr lang="en-US" sz="1600" dirty="0"/>
              <a:t>&gt; PUSH,   DELETE -&gt; POP</a:t>
            </a:r>
          </a:p>
          <a:p>
            <a:r>
              <a:rPr lang="en-US" sz="1600" dirty="0"/>
              <a:t> </a:t>
            </a:r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52650"/>
            <a:ext cx="8008938" cy="3409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60276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Implementare</a:t>
            </a:r>
            <a:r>
              <a:rPr lang="en-US" sz="3200" dirty="0"/>
              <a:t> </a:t>
            </a:r>
            <a:r>
              <a:rPr lang="en-US" sz="3200" dirty="0" err="1"/>
              <a:t>stiva</a:t>
            </a:r>
            <a:r>
              <a:rPr lang="en-US" sz="3200" dirty="0"/>
              <a:t> cu </a:t>
            </a:r>
            <a:r>
              <a:rPr lang="en-US" sz="3200" dirty="0" err="1"/>
              <a:t>siruri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STACK-EMPTY(S)</a:t>
            </a:r>
          </a:p>
          <a:p>
            <a:pPr marL="0" indent="0">
              <a:buNone/>
            </a:pPr>
            <a:r>
              <a:rPr lang="en-US" sz="1600" dirty="0"/>
              <a:t>1. If </a:t>
            </a:r>
            <a:r>
              <a:rPr lang="en-US" sz="1600" dirty="0" err="1"/>
              <a:t>S.top</a:t>
            </a:r>
            <a:r>
              <a:rPr lang="en-US" sz="1600" dirty="0"/>
              <a:t>  == 0</a:t>
            </a:r>
          </a:p>
          <a:p>
            <a:pPr marL="0" indent="0">
              <a:buNone/>
            </a:pPr>
            <a:r>
              <a:rPr lang="en-US" sz="1600" dirty="0"/>
              <a:t>2.	Return true</a:t>
            </a:r>
          </a:p>
          <a:p>
            <a:pPr marL="0" indent="0">
              <a:buNone/>
            </a:pPr>
            <a:r>
              <a:rPr lang="en-US" sz="1600" dirty="0"/>
              <a:t>3. Else return false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PUSH(</a:t>
            </a:r>
            <a:r>
              <a:rPr lang="en-US" sz="1600" dirty="0" err="1"/>
              <a:t>S,x</a:t>
            </a:r>
            <a:r>
              <a:rPr lang="en-US" sz="1600" dirty="0"/>
              <a:t>)</a:t>
            </a:r>
          </a:p>
          <a:p>
            <a:pPr marL="0" indent="0">
              <a:buNone/>
            </a:pPr>
            <a:r>
              <a:rPr lang="en-US" sz="1600" dirty="0"/>
              <a:t>1. </a:t>
            </a:r>
            <a:r>
              <a:rPr lang="en-US" sz="1600" dirty="0" err="1"/>
              <a:t>S.top</a:t>
            </a:r>
            <a:r>
              <a:rPr lang="en-US" sz="1600" dirty="0"/>
              <a:t> = </a:t>
            </a:r>
            <a:r>
              <a:rPr lang="en-US" sz="1600" dirty="0" err="1"/>
              <a:t>S.top</a:t>
            </a:r>
            <a:r>
              <a:rPr lang="en-US" sz="1600" dirty="0"/>
              <a:t> + 1</a:t>
            </a:r>
          </a:p>
          <a:p>
            <a:pPr marL="0" indent="0">
              <a:buNone/>
            </a:pPr>
            <a:r>
              <a:rPr lang="en-US" sz="1600" dirty="0"/>
              <a:t>2. S[</a:t>
            </a:r>
            <a:r>
              <a:rPr lang="en-US" sz="1600" dirty="0" err="1"/>
              <a:t>S.top</a:t>
            </a:r>
            <a:r>
              <a:rPr lang="en-US" sz="1600" dirty="0"/>
              <a:t>] = x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POP(S)</a:t>
            </a:r>
          </a:p>
          <a:p>
            <a:pPr marL="0" indent="0">
              <a:buNone/>
            </a:pPr>
            <a:r>
              <a:rPr lang="en-US" sz="1600" dirty="0"/>
              <a:t>1. If STACK-EMPTY(S)</a:t>
            </a:r>
          </a:p>
          <a:p>
            <a:pPr marL="0" indent="0">
              <a:buNone/>
            </a:pPr>
            <a:r>
              <a:rPr lang="en-US" sz="1600" dirty="0"/>
              <a:t>2.	</a:t>
            </a:r>
            <a:r>
              <a:rPr lang="en-US" sz="1600" dirty="0" err="1"/>
              <a:t>eroare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3. Else 	</a:t>
            </a:r>
            <a:r>
              <a:rPr lang="en-US" sz="1600" dirty="0" err="1"/>
              <a:t>S.top</a:t>
            </a:r>
            <a:r>
              <a:rPr lang="en-US" sz="1600" dirty="0"/>
              <a:t> = </a:t>
            </a:r>
            <a:r>
              <a:rPr lang="en-US" sz="1600" dirty="0" err="1"/>
              <a:t>S.top</a:t>
            </a:r>
            <a:r>
              <a:rPr lang="en-US" sz="1600" dirty="0"/>
              <a:t> – 1</a:t>
            </a:r>
          </a:p>
          <a:p>
            <a:pPr marL="0" indent="0">
              <a:buNone/>
            </a:pPr>
            <a:r>
              <a:rPr lang="en-US" sz="1600" dirty="0"/>
              <a:t>4. 	Return S[</a:t>
            </a:r>
            <a:r>
              <a:rPr lang="en-US" sz="1600" dirty="0" err="1"/>
              <a:t>S.top</a:t>
            </a:r>
            <a:r>
              <a:rPr lang="en-US" sz="1600" dirty="0"/>
              <a:t> + 1]</a:t>
            </a:r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2836317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Coada</a:t>
            </a:r>
            <a:endParaRPr lang="ro-RO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114800"/>
          </a:xfrm>
        </p:spPr>
        <p:txBody>
          <a:bodyPr/>
          <a:lstStyle/>
          <a:p>
            <a:r>
              <a:rPr lang="en-US" sz="1600" dirty="0"/>
              <a:t>First-in, first-out</a:t>
            </a:r>
          </a:p>
          <a:p>
            <a:r>
              <a:rPr lang="en-US" sz="1600" dirty="0"/>
              <a:t>INSERT -&gt; ENQUEUE,   DELETE -&gt; DEQUEUE</a:t>
            </a:r>
          </a:p>
          <a:p>
            <a:r>
              <a:rPr lang="en-US" sz="1600" dirty="0" err="1"/>
              <a:t>Coada</a:t>
            </a:r>
            <a:r>
              <a:rPr lang="en-US" sz="1600" dirty="0"/>
              <a:t> are head </a:t>
            </a:r>
            <a:r>
              <a:rPr lang="en-US" sz="1600" dirty="0" err="1"/>
              <a:t>si</a:t>
            </a:r>
            <a:r>
              <a:rPr lang="en-US" sz="1600" dirty="0"/>
              <a:t> tail; ENQUEUE se face la tail, DEQUEUE se face la head </a:t>
            </a:r>
          </a:p>
          <a:p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6723080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152400"/>
            <a:ext cx="7808913" cy="585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15035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 err="1"/>
              <a:t>Operatii</a:t>
            </a:r>
            <a:r>
              <a:rPr lang="en-US" sz="3200" dirty="0"/>
              <a:t> de </a:t>
            </a:r>
            <a:r>
              <a:rPr lang="en-US" sz="3200" dirty="0" err="1"/>
              <a:t>coad</a:t>
            </a:r>
            <a:r>
              <a:rPr lang="ro-RO" sz="3200" dirty="0"/>
              <a:t>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24000"/>
            <a:ext cx="7772400" cy="4114800"/>
          </a:xfrm>
        </p:spPr>
        <p:txBody>
          <a:bodyPr/>
          <a:lstStyle/>
          <a:p>
            <a:pPr marL="0" indent="0">
              <a:buNone/>
            </a:pPr>
            <a:r>
              <a:rPr lang="ro-RO" sz="1600" dirty="0"/>
              <a:t>ENQUEUE(Q,x)</a:t>
            </a:r>
          </a:p>
          <a:p>
            <a:pPr marL="0" indent="0">
              <a:buNone/>
            </a:pPr>
            <a:r>
              <a:rPr lang="ro-RO" sz="1600" dirty="0"/>
              <a:t>1. Q</a:t>
            </a:r>
            <a:r>
              <a:rPr lang="en-US" sz="1600" dirty="0"/>
              <a:t>[</a:t>
            </a:r>
            <a:r>
              <a:rPr lang="en-US" sz="1600" dirty="0" err="1"/>
              <a:t>Q.tail</a:t>
            </a:r>
            <a:r>
              <a:rPr lang="en-US" sz="1600" dirty="0"/>
              <a:t>] = x</a:t>
            </a:r>
          </a:p>
          <a:p>
            <a:pPr marL="0" indent="0">
              <a:buNone/>
            </a:pPr>
            <a:r>
              <a:rPr lang="en-US" sz="1600" dirty="0"/>
              <a:t>2. If </a:t>
            </a:r>
            <a:r>
              <a:rPr lang="en-US" sz="1600" dirty="0" err="1"/>
              <a:t>Q.tail</a:t>
            </a:r>
            <a:r>
              <a:rPr lang="en-US" sz="1600" dirty="0"/>
              <a:t> == </a:t>
            </a:r>
            <a:r>
              <a:rPr lang="en-US" sz="1600" dirty="0" err="1"/>
              <a:t>Q.length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3.	</a:t>
            </a:r>
            <a:r>
              <a:rPr lang="en-US" sz="1600" dirty="0" err="1"/>
              <a:t>Q.tail</a:t>
            </a:r>
            <a:r>
              <a:rPr lang="en-US" sz="1600" dirty="0"/>
              <a:t> = 1</a:t>
            </a:r>
          </a:p>
          <a:p>
            <a:pPr marL="0" indent="0">
              <a:buNone/>
            </a:pPr>
            <a:r>
              <a:rPr lang="en-US" sz="1600" dirty="0"/>
              <a:t>4. Else	</a:t>
            </a:r>
            <a:r>
              <a:rPr lang="en-US" sz="1600" dirty="0" err="1"/>
              <a:t>Q.tail</a:t>
            </a:r>
            <a:r>
              <a:rPr lang="en-US" sz="1600" dirty="0"/>
              <a:t> = </a:t>
            </a:r>
            <a:r>
              <a:rPr lang="en-US" sz="1600" dirty="0" err="1"/>
              <a:t>Q.tail</a:t>
            </a:r>
            <a:r>
              <a:rPr lang="en-US" sz="1600" dirty="0"/>
              <a:t> + 1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DEQUEUE(Q)</a:t>
            </a:r>
          </a:p>
          <a:p>
            <a:pPr marL="0" indent="0">
              <a:buNone/>
            </a:pPr>
            <a:r>
              <a:rPr lang="en-US" sz="1600" dirty="0"/>
              <a:t>1. x = Q[</a:t>
            </a:r>
            <a:r>
              <a:rPr lang="en-US" sz="1600" dirty="0" err="1"/>
              <a:t>Q.head</a:t>
            </a:r>
            <a:r>
              <a:rPr lang="en-US" sz="1600" dirty="0"/>
              <a:t>]</a:t>
            </a:r>
          </a:p>
          <a:p>
            <a:pPr marL="0" indent="0">
              <a:buNone/>
            </a:pPr>
            <a:r>
              <a:rPr lang="en-US" sz="1600" dirty="0"/>
              <a:t>2. If </a:t>
            </a:r>
            <a:r>
              <a:rPr lang="en-US" sz="1600" dirty="0" err="1"/>
              <a:t>Q.head</a:t>
            </a:r>
            <a:r>
              <a:rPr lang="en-US" sz="1600" dirty="0"/>
              <a:t> == </a:t>
            </a:r>
            <a:r>
              <a:rPr lang="en-US" sz="1600" dirty="0" err="1"/>
              <a:t>Q.length</a:t>
            </a:r>
            <a:endParaRPr lang="en-US" sz="1600" dirty="0"/>
          </a:p>
          <a:p>
            <a:pPr marL="0" indent="0">
              <a:buNone/>
            </a:pPr>
            <a:r>
              <a:rPr lang="en-US" sz="1600" dirty="0"/>
              <a:t>3.	</a:t>
            </a:r>
            <a:r>
              <a:rPr lang="en-US" sz="1600" dirty="0" err="1"/>
              <a:t>Q.head</a:t>
            </a:r>
            <a:r>
              <a:rPr lang="en-US" sz="1600" dirty="0"/>
              <a:t> = 1</a:t>
            </a:r>
          </a:p>
          <a:p>
            <a:pPr marL="0" indent="0">
              <a:buNone/>
            </a:pPr>
            <a:r>
              <a:rPr lang="en-US" sz="1600" dirty="0"/>
              <a:t>4. Else	</a:t>
            </a:r>
            <a:r>
              <a:rPr lang="en-US" sz="1600" dirty="0" err="1"/>
              <a:t>Q.head</a:t>
            </a:r>
            <a:r>
              <a:rPr lang="en-US" sz="1600" dirty="0"/>
              <a:t> = </a:t>
            </a:r>
            <a:r>
              <a:rPr lang="en-US" sz="1600" dirty="0" err="1"/>
              <a:t>Q.head</a:t>
            </a:r>
            <a:r>
              <a:rPr lang="en-US" sz="1600" dirty="0"/>
              <a:t> + 1</a:t>
            </a:r>
          </a:p>
          <a:p>
            <a:pPr marL="0" indent="0">
              <a:buNone/>
            </a:pPr>
            <a:r>
              <a:rPr lang="en-US" sz="1600" dirty="0"/>
              <a:t>5. </a:t>
            </a:r>
            <a:r>
              <a:rPr lang="en-US" sz="1600"/>
              <a:t>Return x</a:t>
            </a:r>
            <a:endParaRPr lang="ro-RO" sz="1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Cluj-Napoca  - 10 Octombrie 2022</a:t>
            </a:r>
          </a:p>
        </p:txBody>
      </p:sp>
    </p:spTree>
    <p:extLst>
      <p:ext uri="{BB962C8B-B14F-4D97-AF65-F5344CB8AC3E}">
        <p14:creationId xmlns:p14="http://schemas.microsoft.com/office/powerpoint/2010/main" val="196157634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Designs\Blueprint.pot</Template>
  <TotalTime>2674</TotalTime>
  <Words>1528</Words>
  <Application>Microsoft Office PowerPoint</Application>
  <PresentationFormat>On-screen Show (4:3)</PresentationFormat>
  <Paragraphs>235</Paragraphs>
  <Slides>24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Cambria Math</vt:lpstr>
      <vt:lpstr>Tahoma</vt:lpstr>
      <vt:lpstr>Times New Roman</vt:lpstr>
      <vt:lpstr>Wingdings</vt:lpstr>
      <vt:lpstr>Blueprint</vt:lpstr>
      <vt:lpstr>Equation</vt:lpstr>
      <vt:lpstr>Algoritmi și structuri de date – curs 1    - Informatică Economică, an II –</vt:lpstr>
      <vt:lpstr>Tipuri de date</vt:lpstr>
      <vt:lpstr>Tipuri abstracte de date - ADT (I)</vt:lpstr>
      <vt:lpstr>Tipuri abstracte de date (II)</vt:lpstr>
      <vt:lpstr>Specificarea unui ADT</vt:lpstr>
      <vt:lpstr>Specificarea operaţiilor</vt:lpstr>
      <vt:lpstr>Implementări ale unui ADT</vt:lpstr>
      <vt:lpstr>Implementarea unui ADT în C </vt:lpstr>
      <vt:lpstr>ADT Lista</vt:lpstr>
      <vt:lpstr>Implementarea listelor cu şiruri</vt:lpstr>
      <vt:lpstr>Implementarea listelor cu pointeri (i)</vt:lpstr>
      <vt:lpstr>Implementarea listelor cu pointeri (ii)</vt:lpstr>
      <vt:lpstr>Liste înlănțuite</vt:lpstr>
      <vt:lpstr>PowerPoint Presentation</vt:lpstr>
      <vt:lpstr>Operația de căutare în listă</vt:lpstr>
      <vt:lpstr>Inserarea unui element in listă</vt:lpstr>
      <vt:lpstr>Stergerea unui element din listă</vt:lpstr>
      <vt:lpstr>PowerPoint Presentation</vt:lpstr>
      <vt:lpstr>PowerPoint Presentation</vt:lpstr>
      <vt:lpstr>Stive</vt:lpstr>
      <vt:lpstr>Implementare stiva cu siruri</vt:lpstr>
      <vt:lpstr>Coada</vt:lpstr>
      <vt:lpstr>PowerPoint Presentation</vt:lpstr>
      <vt:lpstr>Operatii de coadă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Moni</dc:creator>
  <cp:lastModifiedBy>GHEORGHE-COSMIN SILAGHI</cp:lastModifiedBy>
  <cp:revision>185</cp:revision>
  <dcterms:created xsi:type="dcterms:W3CDTF">2004-11-24T18:35:22Z</dcterms:created>
  <dcterms:modified xsi:type="dcterms:W3CDTF">2022-10-10T03:19:34Z</dcterms:modified>
</cp:coreProperties>
</file>