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sldIdLst>
    <p:sldId id="256" r:id="rId2"/>
    <p:sldId id="281" r:id="rId3"/>
    <p:sldId id="282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11" r:id="rId14"/>
    <p:sldId id="309" r:id="rId15"/>
    <p:sldId id="310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2" r:id="rId25"/>
    <p:sldId id="320" r:id="rId26"/>
    <p:sldId id="321" r:id="rId27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05" autoAdjust="0"/>
  </p:normalViewPr>
  <p:slideViewPr>
    <p:cSldViewPr>
      <p:cViewPr varScale="1">
        <p:scale>
          <a:sx n="99" d="100"/>
          <a:sy n="99" d="100"/>
        </p:scale>
        <p:origin x="19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414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98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- 14 Ianuarie 2020</a:t>
            </a:r>
            <a:endParaRPr lang="en-GB" sz="140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13 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Probleme</a:t>
            </a:r>
            <a:r>
              <a:rPr lang="en-US" sz="2000" dirty="0">
                <a:solidFill>
                  <a:schemeClr val="tx2"/>
                </a:solidFill>
              </a:rPr>
              <a:t> NP-Complete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ro-RO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85800" y="1676400"/>
            <a:ext cx="777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Probleme NP-Complete vs. Probleme Polinomiale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Ciclu</a:t>
            </a:r>
            <a:r>
              <a:rPr kumimoji="0" lang="ro-RO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Eulerian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lang="ro-RO" kern="0" baseline="0" dirty="0">
                <a:latin typeface="+mn-lt"/>
              </a:rPr>
              <a:t>Ciclu</a:t>
            </a:r>
            <a:r>
              <a:rPr lang="ro-RO" kern="0" dirty="0">
                <a:latin typeface="+mn-lt"/>
              </a:rPr>
              <a:t> Hamiltonian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tabLst/>
              <a:defRPr/>
            </a:pPr>
            <a:r>
              <a:rPr lang="ro-RO" kern="0" dirty="0">
                <a:latin typeface="+mn-lt"/>
              </a:rPr>
              <a:t>Probleme de decizie vs. Probleme de Optimizare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Dificultatea problemelor din algoritmică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7924800" cy="4495800"/>
              </a:xfrm>
            </p:spPr>
            <p:txBody>
              <a:bodyPr/>
              <a:lstStyle/>
              <a:p>
                <a:r>
                  <a:rPr lang="en-US" sz="2400" dirty="0"/>
                  <a:t>Probleme “</a:t>
                </a:r>
                <a:r>
                  <a:rPr lang="en-US" sz="2400" dirty="0" smtClean="0"/>
                  <a:t>u</a:t>
                </a:r>
                <a:r>
                  <a:rPr lang="ro-RO" sz="2400" dirty="0" smtClean="0"/>
                  <a:t>ș</a:t>
                </a:r>
                <a:r>
                  <a:rPr lang="en-US" sz="2400" dirty="0" err="1" smtClean="0"/>
                  <a:t>oare</a:t>
                </a:r>
                <a:r>
                  <a:rPr lang="en-US" sz="2400" dirty="0"/>
                  <a:t>”: exist</a:t>
                </a:r>
                <a:r>
                  <a:rPr lang="ro-RO" sz="2400" dirty="0"/>
                  <a:t>ă algoritmi care ruleaza în timp rezonabil pe un sistem de cacul bine definit</a:t>
                </a:r>
              </a:p>
              <a:p>
                <a:r>
                  <a:rPr lang="ro-RO" sz="2400" dirty="0"/>
                  <a:t>Timp rezolnabil: complexitate polinomială: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400" dirty="0"/>
              </a:p>
              <a:p>
                <a:endParaRPr lang="ro-RO" sz="2400" dirty="0"/>
              </a:p>
              <a:p>
                <a:r>
                  <a:rPr lang="ro-RO" sz="2400" dirty="0"/>
                  <a:t>Probleme </a:t>
                </a:r>
                <a:r>
                  <a:rPr lang="en-US" sz="2400" dirty="0"/>
                  <a:t>“</a:t>
                </a:r>
                <a:r>
                  <a:rPr lang="en-US" sz="2400" dirty="0" err="1"/>
                  <a:t>grele</a:t>
                </a:r>
                <a:r>
                  <a:rPr lang="en-US" sz="2400" dirty="0"/>
                  <a:t>”: </a:t>
                </a:r>
                <a:endParaRPr lang="ro-RO" sz="2400" dirty="0"/>
              </a:p>
              <a:p>
                <a:pPr lvl="1"/>
                <a:r>
                  <a:rPr lang="en-US" sz="2000" dirty="0"/>
                  <a:t>nu se </a:t>
                </a:r>
                <a:r>
                  <a:rPr lang="en-US" sz="2000" dirty="0" err="1"/>
                  <a:t>cunoa</a:t>
                </a:r>
                <a:r>
                  <a:rPr lang="ro-RO" sz="2000" dirty="0"/>
                  <a:t>ște un algoritm clar de rezolvare a </a:t>
                </a:r>
                <a:r>
                  <a:rPr lang="ro-RO" sz="2000" dirty="0" smtClean="0"/>
                  <a:t>acestora</a:t>
                </a:r>
                <a:r>
                  <a:rPr lang="en-US" sz="2000" dirty="0" smtClean="0"/>
                  <a:t>, </a:t>
                </a:r>
                <a:r>
                  <a:rPr lang="en-US" sz="2000" dirty="0" err="1" smtClean="0"/>
                  <a:t>sau</a:t>
                </a:r>
                <a:endParaRPr lang="ro-RO" sz="2000" dirty="0"/>
              </a:p>
              <a:p>
                <a:pPr lvl="1"/>
                <a:r>
                  <a:rPr lang="ro-RO" sz="2000" dirty="0" smtClean="0"/>
                  <a:t>algoritmii </a:t>
                </a:r>
                <a:r>
                  <a:rPr lang="ro-RO" sz="2000" dirty="0"/>
                  <a:t>cunoscuți rulează într-un timp foarte mare (nerezonabil) pe sistemele de calcul existente</a:t>
                </a:r>
              </a:p>
              <a:p>
                <a:endParaRPr lang="ro-RO" sz="2400" dirty="0"/>
              </a:p>
              <a:p>
                <a:r>
                  <a:rPr lang="ro-RO" sz="2400" dirty="0"/>
                  <a:t>Întrebare de cercetare: cum se definesc problemele grele?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7924800" cy="4495800"/>
              </a:xfrm>
              <a:blipFill rotWithShape="0">
                <a:blip r:embed="rId2"/>
                <a:stretch>
                  <a:fillRect t="-1084" b="-149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33EC6E-969D-46ED-ACDD-C854D9CB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Exemple de probleme ușoare/grele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1E9399-34CA-4DF9-9B61-DE00C9E01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153400" cy="4114800"/>
          </a:xfrm>
        </p:spPr>
        <p:txBody>
          <a:bodyPr/>
          <a:lstStyle/>
          <a:p>
            <a:r>
              <a:rPr lang="ro-RO" sz="2000" dirty="0"/>
              <a:t>Calea cea mai scurtă într-un graf orientat: complexitate O(VE)</a:t>
            </a:r>
          </a:p>
          <a:p>
            <a:r>
              <a:rPr lang="ro-RO" sz="2000" dirty="0"/>
              <a:t>Calea cea mai lungă? – problemă NP-completă</a:t>
            </a:r>
          </a:p>
          <a:p>
            <a:endParaRPr lang="ro-RO" sz="2000" dirty="0"/>
          </a:p>
          <a:p>
            <a:r>
              <a:rPr lang="ro-RO" sz="2000" dirty="0"/>
              <a:t>Determinarea unui ciclu Eulerian:</a:t>
            </a:r>
          </a:p>
          <a:p>
            <a:pPr lvl="1"/>
            <a:r>
              <a:rPr lang="ro-RO" sz="1800" dirty="0"/>
              <a:t>Ciclu care traversează fiecare muchie a unui graf exact o singură dată</a:t>
            </a:r>
          </a:p>
          <a:p>
            <a:pPr lvl="1"/>
            <a:r>
              <a:rPr lang="ro-RO" sz="1800" dirty="0"/>
              <a:t>Complexitatea soluției: O(E)</a:t>
            </a:r>
          </a:p>
          <a:p>
            <a:r>
              <a:rPr lang="ro-RO" sz="2000" dirty="0"/>
              <a:t>Determinarea unui ciclu </a:t>
            </a:r>
            <a:r>
              <a:rPr lang="ro-RO" sz="2000" dirty="0" err="1" smtClean="0"/>
              <a:t>Hamiltonian</a:t>
            </a:r>
            <a:r>
              <a:rPr lang="ro-RO" sz="2000" dirty="0" smtClean="0"/>
              <a:t>:</a:t>
            </a:r>
            <a:endParaRPr lang="ro-RO" sz="2000" dirty="0"/>
          </a:p>
          <a:p>
            <a:pPr lvl="1"/>
            <a:r>
              <a:rPr lang="ro-RO" sz="1800" dirty="0"/>
              <a:t>Ciclu care traversează fiecare nod a grafului </a:t>
            </a:r>
          </a:p>
          <a:p>
            <a:pPr lvl="1"/>
            <a:r>
              <a:rPr lang="ro-RO" sz="1800" dirty="0"/>
              <a:t>Problemă NP-completă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29CAF6C-FD45-47C5-B521-123E78D3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90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048D59-F045-4AD0-8894-9EB34A76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Probleme rezolvabile in timp polinomial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0B2760E-9483-4879-9726-084D78B9C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74292"/>
                <a:ext cx="7772400" cy="4978908"/>
              </a:xfrm>
            </p:spPr>
            <p:txBody>
              <a:bodyPr/>
              <a:lstStyle/>
              <a:p>
                <a:r>
                  <a:rPr lang="ro-RO" sz="2000" dirty="0"/>
                  <a:t>Se poate determina o soluție a problemei cu complexitate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o-RO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000" dirty="0"/>
              </a:p>
              <a:p>
                <a:r>
                  <a:rPr lang="ro-RO" sz="2000" dirty="0"/>
                  <a:t> Practica informatică arată că dacă inițial se determină o soluție cu k foarte mare, mai apoi, se vor găsi soluții cu k rezonabil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B2760E-9483-4879-9726-084D78B9C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74292"/>
                <a:ext cx="7772400" cy="4978908"/>
              </a:xfrm>
              <a:blipFill>
                <a:blip r:embed="rId2"/>
                <a:stretch>
                  <a:fillRect t="-490" r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F80C80-23D2-45C9-9414-DC3F71AE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89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AFA9E1-528F-4151-A219-916E1BD9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Probleme abstracte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9ABD671-05D5-4BA9-8191-0B24B3AFA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896" y="1755689"/>
                <a:ext cx="8219303" cy="4114800"/>
              </a:xfrm>
            </p:spPr>
            <p:txBody>
              <a:bodyPr/>
              <a:lstStyle/>
              <a:p>
                <a:r>
                  <a:rPr lang="ro-RO" sz="1800" dirty="0"/>
                  <a:t>O problemă abstractă Q se definește ca o relație între un set de instanțe I ale problemei și un set S de soluții</a:t>
                </a:r>
              </a:p>
              <a:p>
                <a:endParaRPr lang="ro-RO" sz="1800" dirty="0"/>
              </a:p>
              <a:p>
                <a:r>
                  <a:rPr lang="ro-RO" sz="1800" dirty="0"/>
                  <a:t>Exemplu: problema căii celei mai scurte într-un graf</a:t>
                </a:r>
              </a:p>
              <a:p>
                <a:endParaRPr lang="ro-RO" sz="1800" dirty="0"/>
              </a:p>
              <a:p>
                <a:r>
                  <a:rPr lang="ro-RO" sz="1800" dirty="0"/>
                  <a:t>Instanță a problemei: un graf dat G, insoțit de 2 noduri u și v: (G, u, v)</a:t>
                </a:r>
              </a:p>
              <a:p>
                <a:r>
                  <a:rPr lang="ro-RO" sz="1800" dirty="0"/>
                  <a:t>Soluție a instanței problemei: o cale in graful G între nodurile u și v care să respecte proprietatea de a fi </a:t>
                </a:r>
                <a:r>
                  <a:rPr lang="ro-RO" sz="1800" i="1" dirty="0"/>
                  <a:t>cea mai scurtă</a:t>
                </a:r>
              </a:p>
              <a:p>
                <a:pPr lvl="1"/>
                <a:r>
                  <a:rPr lang="ro-RO" sz="1600" dirty="0"/>
                  <a:t>Pentru o instanță a problemei, pot exista mai multe soluții</a:t>
                </a:r>
                <a:endParaRPr lang="ro-RO" sz="1400" dirty="0"/>
              </a:p>
              <a:p>
                <a:r>
                  <a:rPr lang="ro-RO" sz="1800" dirty="0"/>
                  <a:t>Problema căii celei mai scurte: relația prin care unui triplet (G, u, v) se asociază o cale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BD671-05D5-4BA9-8191-0B24B3AFA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896" y="1755689"/>
                <a:ext cx="8219303" cy="4114800"/>
              </a:xfrm>
              <a:blipFill>
                <a:blip r:embed="rId2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EA43DBD-1421-4A57-BEC5-10D5FFE8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42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FE7BD-7EA5-4059-9868-DEE873EB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Tipuri de probleme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B9131EE-4D96-4C95-A137-965BA4150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184" y="1790700"/>
                <a:ext cx="8244016" cy="4457700"/>
              </a:xfrm>
            </p:spPr>
            <p:txBody>
              <a:bodyPr/>
              <a:lstStyle/>
              <a:p>
                <a:r>
                  <a:rPr lang="ro-RO" sz="2000" dirty="0"/>
                  <a:t>Probleme de decizie: soluția este binară: da / nu, respectiv în mulțimea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1800" dirty="0" err="1"/>
                  <a:t>Exemplu</a:t>
                </a:r>
                <a:r>
                  <a:rPr lang="en-US" sz="1800" dirty="0"/>
                  <a:t>: </a:t>
                </a:r>
                <a:r>
                  <a:rPr lang="en-US" sz="1800" dirty="0" err="1"/>
                  <a:t>problema</a:t>
                </a:r>
                <a:r>
                  <a:rPr lang="en-US" sz="1800" dirty="0"/>
                  <a:t> Path: </a:t>
                </a:r>
                <a:r>
                  <a:rPr lang="en-US" sz="1800" dirty="0" err="1"/>
                  <a:t>calea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cea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mai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scurt</a:t>
                </a:r>
                <a:r>
                  <a:rPr lang="ro-RO" sz="1800" dirty="0"/>
                  <a:t>ă între 2 noduri u și v are cel mult k arce?</a:t>
                </a:r>
              </a:p>
              <a:p>
                <a:pPr lvl="1"/>
                <a:r>
                  <a:rPr lang="ro-RO" sz="1800" dirty="0"/>
                  <a:t>Path : (G, u, v, k) -</a:t>
                </a:r>
                <a:r>
                  <a:rPr lang="en-US" sz="1800" dirty="0"/>
                  <a:t>&gt; {0, 1}</a:t>
                </a:r>
              </a:p>
              <a:p>
                <a:endParaRPr lang="en-US" sz="2200" dirty="0"/>
              </a:p>
              <a:p>
                <a:r>
                  <a:rPr lang="en-US" sz="2200" dirty="0" err="1"/>
                  <a:t>Probleme</a:t>
                </a:r>
                <a:r>
                  <a:rPr lang="en-US" sz="2200" dirty="0"/>
                  <a:t> de </a:t>
                </a:r>
                <a:r>
                  <a:rPr lang="en-US" sz="2200" dirty="0" err="1"/>
                  <a:t>optimizare</a:t>
                </a:r>
                <a:r>
                  <a:rPr lang="en-US" sz="2200" dirty="0"/>
                  <a:t>: </a:t>
                </a:r>
                <a:r>
                  <a:rPr lang="ro-RO" sz="2200" dirty="0"/>
                  <a:t>solicită ca o anume valoare din problemă să fie maximizată sau minimizată</a:t>
                </a:r>
              </a:p>
              <a:p>
                <a:pPr lvl="1"/>
                <a:r>
                  <a:rPr lang="ro-RO" sz="1800" dirty="0"/>
                  <a:t>Exemplu: lungimea căii </a:t>
                </a:r>
                <a:r>
                  <a:rPr lang="ro-RO" sz="1800" dirty="0" smtClean="0"/>
                  <a:t>în </a:t>
                </a:r>
                <a:r>
                  <a:rPr lang="ro-RO" sz="1800" dirty="0"/>
                  <a:t>graf intre nodurile u și v</a:t>
                </a:r>
              </a:p>
              <a:p>
                <a:endParaRPr lang="ro-RO" sz="2200" dirty="0"/>
              </a:p>
              <a:p>
                <a:r>
                  <a:rPr lang="ro-RO" sz="2000" dirty="0"/>
                  <a:t>De obicei putem transforma o problemă de optimizare într-una de decizie care nu este </a:t>
                </a:r>
                <a:r>
                  <a:rPr lang="ro-RO" sz="2000" i="1" dirty="0"/>
                  <a:t>mai grea</a:t>
                </a:r>
                <a:r>
                  <a:rPr lang="ro-RO" sz="2000" dirty="0"/>
                  <a:t> decât problema inițială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B9131EE-4D96-4C95-A137-965BA4150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84" y="1790700"/>
                <a:ext cx="8244016" cy="4457700"/>
              </a:xfrm>
              <a:blipFill rotWithShape="0">
                <a:blip r:embed="rId2"/>
                <a:stretch>
                  <a:fillRect t="-82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2C8959-F3B0-473B-A038-FC229209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1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489B1B-6532-4EFA-9EA1-11EA5896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Codarea unei probleme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A2B790-ACF9-4238-A3A7-FA8462C0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6400"/>
            <a:ext cx="7772400" cy="4114800"/>
          </a:xfrm>
        </p:spPr>
        <p:txBody>
          <a:bodyPr/>
          <a:lstStyle/>
          <a:p>
            <a:r>
              <a:rPr lang="ro-RO" sz="1800" dirty="0"/>
              <a:t>Transferarea problemei abstrate in spatiul de lucru al calculatorului</a:t>
            </a:r>
          </a:p>
          <a:p>
            <a:r>
              <a:rPr lang="ro-RO" sz="1800" dirty="0"/>
              <a:t>Maparea valorilor lui S și a obiectelor din I în spatiul sirurilor binare</a:t>
            </a:r>
          </a:p>
          <a:p>
            <a:endParaRPr lang="ro-RO" sz="1800" dirty="0"/>
          </a:p>
          <a:p>
            <a:r>
              <a:rPr lang="ro-RO" sz="1800" dirty="0"/>
              <a:t>Problemă concretă: dacă se reușește transpunerea setului de instanțe ale problemei in spațiul calculatorului</a:t>
            </a:r>
          </a:p>
          <a:p>
            <a:r>
              <a:rPr lang="ro-RO" sz="1800" dirty="0"/>
              <a:t>Doar problemele concrete pot fi rezolvate în informatică</a:t>
            </a:r>
          </a:p>
          <a:p>
            <a:endParaRPr lang="ro-RO" sz="1800" dirty="0"/>
          </a:p>
          <a:p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86A129-731D-4183-AAB2-48B1CB33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13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F3FDD-26FA-4A74-856C-2A877136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Timp polinomial de rezolvare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A187854-050E-49E2-BED3-7EBE46B79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90700"/>
                <a:ext cx="8229600" cy="4114800"/>
              </a:xfrm>
            </p:spPr>
            <p:txBody>
              <a:bodyPr/>
              <a:lstStyle/>
              <a:p>
                <a:r>
                  <a:rPr lang="ro-RO" sz="2000" dirty="0"/>
                  <a:t>Un algoritm rezolvă o problemă concretă în timpul O(T(n)) dacă pentru o instanță a problemei de lungime n, se găseste o soluție a problemei in O(T(n))</a:t>
                </a:r>
              </a:p>
              <a:p>
                <a:endParaRPr lang="ro-RO" sz="2000" dirty="0"/>
              </a:p>
              <a:p>
                <a:r>
                  <a:rPr lang="ro-RO" sz="2000" dirty="0"/>
                  <a:t>O problemă concretă este </a:t>
                </a:r>
                <a:r>
                  <a:rPr lang="ro-RO" sz="2000" i="1" dirty="0"/>
                  <a:t>rezolvabilă în timp polinomial</a:t>
                </a:r>
                <a:r>
                  <a:rPr lang="ro-RO" sz="2000" dirty="0"/>
                  <a:t>, dacă există un algoritm de rezolvare a problemei cu complexitate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2000" b="0" dirty="0"/>
              </a:p>
              <a:p>
                <a:endParaRPr lang="ro-RO" dirty="0"/>
              </a:p>
              <a:p>
                <a:r>
                  <a:rPr lang="ro-RO" sz="2000" dirty="0"/>
                  <a:t>Definim setul de complexitate P ca fiind toate problemele concrete de decizie care sunt rezolvabile în timp polinomial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87854-050E-49E2-BED3-7EBE46B79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90700"/>
                <a:ext cx="8229600" cy="4114800"/>
              </a:xfrm>
              <a:blipFill>
                <a:blip r:embed="rId2"/>
                <a:stretch>
                  <a:fillRect t="-889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566A754-DEDB-4B91-90AE-F8387CB8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4F32A-824D-4674-BD30-CD28DE9C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Limbaje formale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859274E-400B-467B-A04B-B1B692F77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90700"/>
                <a:ext cx="8153400" cy="41148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dirty="0" smtClean="0"/>
                  <a:t>Fie un set ∑ de simboluri. Un </a:t>
                </a:r>
                <a:r>
                  <a:rPr lang="ro-RO" sz="2000" i="1" dirty="0"/>
                  <a:t>limbaj</a:t>
                </a:r>
                <a:r>
                  <a:rPr lang="ro-RO" sz="2000" dirty="0"/>
                  <a:t> L pe ∑ este un set de siruri formate cu simboluri din ∑.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dirty="0"/>
                  <a:t>Notăm cu ε sirul vid,  cu Ø limbajul vid, cu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o-RO" sz="2000" dirty="0"/>
                          <m:t>∑</m:t>
                        </m:r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o-RO" sz="2000" dirty="0"/>
                  <a:t> limbajul format din toate sirurile valide pe ∑.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dirty="0"/>
                  <a:t>Pe multimile limbajelor se definesc operațiile de reuniune și intersecție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dirty="0"/>
                  <a:t>Operația de complement: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o-RO" sz="2000" dirty="0"/>
                          <m:t>∑</m:t>
                        </m:r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ro-RO" sz="2000" b="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dirty="0"/>
                  <a:t>Operația de concatenare între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0" dirty="0"/>
                  <a:t> </a:t>
                </a:r>
                <a:r>
                  <a:rPr lang="ro-RO" sz="2000" b="0" dirty="0"/>
                  <a:t>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b="0" dirty="0"/>
                  <a:t>: este multimea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o-RO" sz="2000" b="0" dirty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ro-RO" sz="2000" dirty="0"/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ro-RO" sz="2000" b="0" dirty="0"/>
                  <a:t>Inchiderea unui limbaj L este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000" b="0" dirty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859274E-400B-467B-A04B-B1B692F77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90700"/>
                <a:ext cx="8153400" cy="4114800"/>
              </a:xfrm>
              <a:blipFill rotWithShape="0">
                <a:blip r:embed="rId2"/>
                <a:stretch>
                  <a:fillRect l="-823" t="-88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26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61169-4B88-4FAC-86B4-C508192F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Problemele</a:t>
            </a:r>
            <a:r>
              <a:rPr lang="en-US" sz="3200" dirty="0"/>
              <a:t> concrete in </a:t>
            </a:r>
            <a:r>
              <a:rPr lang="en-US" sz="3200" dirty="0" err="1"/>
              <a:t>teoria</a:t>
            </a:r>
            <a:r>
              <a:rPr lang="en-US" sz="3200" dirty="0"/>
              <a:t> </a:t>
            </a:r>
            <a:r>
              <a:rPr lang="en-US" sz="3200" dirty="0" err="1"/>
              <a:t>limbajelor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CF06278-A80D-4E75-841B-2BB19BC4D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897" y="1790700"/>
                <a:ext cx="7772400" cy="4533900"/>
              </a:xfrm>
            </p:spPr>
            <p:txBody>
              <a:bodyPr/>
              <a:lstStyle/>
              <a:p>
                <a:r>
                  <a:rPr lang="en-US" sz="2000" dirty="0" smtClean="0"/>
                  <a:t>Putem </a:t>
                </a:r>
                <a:r>
                  <a:rPr lang="en-US" sz="2000" dirty="0" err="1"/>
                  <a:t>vedea</a:t>
                </a:r>
                <a:r>
                  <a:rPr lang="en-US" sz="2000" dirty="0"/>
                  <a:t> o problem</a:t>
                </a:r>
                <a:r>
                  <a:rPr lang="ro-RO" sz="2000" dirty="0"/>
                  <a:t>ă concretă Q ca fiind un limbaj pe setul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000" dirty="0" smtClean="0"/>
                  <a:t>=</a:t>
                </a:r>
                <a:r>
                  <a:rPr lang="en-US" sz="2000" dirty="0"/>
                  <a:t>{0,1}, </a:t>
                </a:r>
                <a:r>
                  <a:rPr lang="en-US" sz="2000" dirty="0" err="1"/>
                  <a:t>mai</a:t>
                </a:r>
                <a:r>
                  <a:rPr lang="en-US" sz="2000" dirty="0"/>
                  <a:t> precis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∑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=1}</m:t>
                    </m:r>
                  </m:oMath>
                </a14:m>
                <a:endParaRPr lang="ro-RO" sz="2000" dirty="0"/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Un </a:t>
                </a:r>
                <a:r>
                  <a:rPr lang="en-US" sz="2000" dirty="0" err="1"/>
                  <a:t>algoritm</a:t>
                </a:r>
                <a:r>
                  <a:rPr lang="en-US" sz="2000" dirty="0"/>
                  <a:t> A accept</a:t>
                </a:r>
                <a:r>
                  <a:rPr lang="ro-RO" sz="2000" dirty="0"/>
                  <a:t>ă un șir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o-RO" sz="2000" dirty="0" smtClean="0"/>
                  <a:t>, </a:t>
                </a:r>
                <a:r>
                  <a:rPr lang="ro-RO" sz="2000" dirty="0"/>
                  <a:t>dacă outputul algoritmului A(x)=1</a:t>
                </a:r>
              </a:p>
              <a:p>
                <a:r>
                  <a:rPr lang="ro-RO" sz="2000" dirty="0" smtClean="0"/>
                  <a:t>Limbajul </a:t>
                </a:r>
                <a:r>
                  <a:rPr lang="ro-RO" sz="2000" i="1" dirty="0"/>
                  <a:t>acceptat</a:t>
                </a:r>
                <a:r>
                  <a:rPr lang="ro-RO" sz="2000" dirty="0"/>
                  <a:t> de un algoritm este multimea sirurilor acceptate de acel algoritm: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{0,1}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=1}</m:t>
                    </m:r>
                  </m:oMath>
                </a14:m>
                <a:endParaRPr lang="en-US" sz="2000" dirty="0"/>
              </a:p>
              <a:p>
                <a:r>
                  <a:rPr lang="en-US" sz="2000" dirty="0" smtClean="0"/>
                  <a:t>Un </a:t>
                </a:r>
                <a:r>
                  <a:rPr lang="en-US" sz="2000" dirty="0" err="1" smtClean="0"/>
                  <a:t>algoritm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rejecteaz</a:t>
                </a:r>
                <a:r>
                  <a:rPr lang="ro-RO" sz="2000" dirty="0" smtClean="0"/>
                  <a:t>ă </a:t>
                </a:r>
                <a:r>
                  <a:rPr lang="ro-RO" sz="2000" dirty="0" err="1" smtClean="0"/>
                  <a:t>sirul</a:t>
                </a:r>
                <a:r>
                  <a:rPr lang="ro-RO" sz="2000" dirty="0" smtClean="0"/>
                  <a:t> x dacă A(x)=0</a:t>
                </a:r>
                <a:endParaRPr lang="en-US" sz="2000" dirty="0" smtClean="0"/>
              </a:p>
              <a:p>
                <a:endParaRPr lang="en-US" sz="2000" dirty="0"/>
              </a:p>
              <a:p>
                <a:r>
                  <a:rPr lang="en-US" sz="2000" dirty="0" smtClean="0"/>
                  <a:t>Un </a:t>
                </a:r>
                <a:r>
                  <a:rPr lang="en-US" sz="2000" dirty="0" err="1"/>
                  <a:t>limbaj</a:t>
                </a:r>
                <a:r>
                  <a:rPr lang="en-US" sz="2000" dirty="0"/>
                  <a:t> L </a:t>
                </a:r>
                <a:r>
                  <a:rPr lang="en-US" sz="2000" dirty="0" err="1"/>
                  <a:t>este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decis</a:t>
                </a:r>
                <a:r>
                  <a:rPr lang="en-US" sz="2000" dirty="0"/>
                  <a:t> de un </a:t>
                </a:r>
                <a:r>
                  <a:rPr lang="en-US" sz="2000" dirty="0" err="1"/>
                  <a:t>algoritm</a:t>
                </a:r>
                <a:r>
                  <a:rPr lang="en-US" sz="2000" dirty="0"/>
                  <a:t> A </a:t>
                </a:r>
                <a:r>
                  <a:rPr lang="en-US" sz="2000" dirty="0" err="1"/>
                  <a:t>dac</a:t>
                </a:r>
                <a:r>
                  <a:rPr lang="ro-RO" sz="2000" dirty="0"/>
                  <a:t>ă orice string binar din L este acceptat de A și orice string care nu este in L este rejectat de A.</a:t>
                </a:r>
              </a:p>
              <a:p>
                <a:pPr marL="0" indent="0">
                  <a:buNone/>
                </a:pPr>
                <a:r>
                  <a:rPr lang="ro-RO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CF06278-A80D-4E75-841B-2BB19BC4D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897" y="1790700"/>
                <a:ext cx="7772400" cy="4533900"/>
              </a:xfrm>
              <a:blipFill rotWithShape="0">
                <a:blip r:embed="rId2"/>
                <a:stretch>
                  <a:fillRect t="-8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04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FC6712-4F9D-40C9-8BE8-26B55E8C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Probleme concrete in teoria limbajelor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DF0862E-A958-4117-8938-ED38FFF6F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7772400" cy="4114800"/>
              </a:xfrm>
            </p:spPr>
            <p:txBody>
              <a:bodyPr/>
              <a:lstStyle/>
              <a:p>
                <a:r>
                  <a:rPr lang="ro-RO" sz="2000" dirty="0"/>
                  <a:t>Un limbaj L este acceptat in timp polinomial de algoritmul A dacă este acceptat de A, și pentru orice string x de lungime n din L, A il acceptă pe x in timpul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ro-RO" sz="2000" dirty="0"/>
              </a:p>
              <a:p>
                <a:r>
                  <a:rPr lang="ro-RO" sz="2000" dirty="0"/>
                  <a:t>Limbajul L este decis in timp polinomial de algoritmul A dacă există o constată k astfel încât pentru orice sir x de lungime n din L, algoritmul A decide dacă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o-RO" sz="2000" dirty="0" smtClean="0"/>
                  <a:t> in </a:t>
                </a:r>
                <a:r>
                  <a:rPr lang="ro-RO" sz="2000" dirty="0"/>
                  <a:t>timp polinomial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ro-RO" sz="2000" dirty="0"/>
              </a:p>
              <a:p>
                <a:endParaRPr lang="ro-RO" sz="2000" dirty="0"/>
              </a:p>
              <a:p>
                <a:r>
                  <a:rPr lang="ro-RO" sz="2000" dirty="0"/>
                  <a:t>Clasa de complexitate a unui limbaj: timpul de execuție a unui algoritm pentru a determina apartenența unui sir x la limbajul respectiv</a:t>
                </a:r>
              </a:p>
              <a:p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F0862E-A958-4117-8938-ED38FFF6F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7772400" cy="4114800"/>
              </a:xfrm>
              <a:blipFill rotWithShape="0">
                <a:blip r:embed="rId3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4B31591-ADAF-4654-B2AF-D78A7E6A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6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 smtClean="0"/>
              <a:t>Clase de complexitate</a:t>
            </a:r>
            <a:endParaRPr lang="ro-R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2000" dirty="0" smtClean="0"/>
                  <a:t>Definim o </a:t>
                </a:r>
                <a:r>
                  <a:rPr lang="ro-RO" sz="2000" b="1" i="1" dirty="0" smtClean="0"/>
                  <a:t>clasă de complexitate</a:t>
                </a:r>
                <a:r>
                  <a:rPr lang="ro-RO" sz="2000" dirty="0" smtClean="0"/>
                  <a:t> ca și o mulțime de limbaje pentru care proprietatea de membru (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o-RO" sz="2000" dirty="0" smtClean="0"/>
                  <a:t>) este determinată printr-o măsură de complexitate (precum complexitatea algoritmului respectiv) </a:t>
                </a:r>
              </a:p>
              <a:p>
                <a:endParaRPr lang="ro-RO" sz="2000" dirty="0"/>
              </a:p>
              <a:p>
                <a:r>
                  <a:rPr lang="ro-RO" sz="2000" b="1" dirty="0"/>
                  <a:t>Clasa de complexitate </a:t>
                </a:r>
                <a:r>
                  <a:rPr lang="ro-RO" sz="2000" b="1" dirty="0" smtClean="0"/>
                  <a:t>polinomială (P)</a:t>
                </a:r>
                <a:r>
                  <a:rPr lang="ro-RO" sz="2000" dirty="0" smtClean="0"/>
                  <a:t>: </a:t>
                </a:r>
                <a:r>
                  <a:rPr lang="ro-RO" sz="2000" dirty="0"/>
                  <a:t>daca există un algoritm A care decide limbajul L in timp polinomial.</a:t>
                </a:r>
                <a:endParaRPr lang="en-US" sz="2000" dirty="0"/>
              </a:p>
              <a:p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0">
                <a:blip r:embed="rId2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60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09C457-B5AC-4173-A337-4D5AD80B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Verificarea solutiei in timp polinomial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4E00EC-ED20-4CC9-B836-C0DCC1630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92759"/>
            <a:ext cx="7772400" cy="4114800"/>
          </a:xfrm>
        </p:spPr>
        <p:txBody>
          <a:bodyPr/>
          <a:lstStyle/>
          <a:p>
            <a:r>
              <a:rPr lang="ro-RO" sz="2000" dirty="0"/>
              <a:t>Fie o instanta (G,u,v,k) a problemei caii de la u la v, si o cale p de la u la v. </a:t>
            </a:r>
          </a:p>
          <a:p>
            <a:pPr lvl="1"/>
            <a:r>
              <a:rPr lang="ro-RO" sz="1600" dirty="0"/>
              <a:t>Se poate verifica usor dacă p </a:t>
            </a:r>
            <a:r>
              <a:rPr lang="ro-RO" sz="1600" dirty="0" smtClean="0"/>
              <a:t>este o soluție si dacă p are </a:t>
            </a:r>
            <a:r>
              <a:rPr lang="ro-RO" sz="1600" dirty="0"/>
              <a:t>cel mult k </a:t>
            </a:r>
            <a:r>
              <a:rPr lang="ro-RO" sz="1600" dirty="0" smtClean="0"/>
              <a:t>arce</a:t>
            </a:r>
            <a:endParaRPr lang="ro-RO" sz="1600" dirty="0"/>
          </a:p>
          <a:p>
            <a:pPr lvl="1"/>
            <a:r>
              <a:rPr lang="ro-RO" sz="1600" dirty="0"/>
              <a:t>In cazul pozitiv, putem vedea p ca un certificat ca instanța aparține problemei enunțate</a:t>
            </a:r>
          </a:p>
          <a:p>
            <a:r>
              <a:rPr lang="ro-RO" sz="2000" dirty="0"/>
              <a:t>In general, verificarea unei soluții este </a:t>
            </a:r>
            <a:r>
              <a:rPr lang="ro-RO" sz="2000" i="1" dirty="0"/>
              <a:t>cel mult </a:t>
            </a:r>
            <a:r>
              <a:rPr lang="ro-RO" sz="2000" i="1" dirty="0" smtClean="0"/>
              <a:t>atât </a:t>
            </a:r>
            <a:r>
              <a:rPr lang="ro-RO" sz="2000" i="1" dirty="0"/>
              <a:t>de dificilă</a:t>
            </a:r>
            <a:r>
              <a:rPr lang="ro-RO" sz="2000" dirty="0"/>
              <a:t> ca si rezolvarea problemei</a:t>
            </a:r>
          </a:p>
          <a:p>
            <a:endParaRPr lang="ro-RO" sz="2000" dirty="0"/>
          </a:p>
          <a:p>
            <a:r>
              <a:rPr lang="ro-RO" sz="2000" dirty="0"/>
              <a:t>Examinam problemele de decizie pentru care nu cunoastem algoritmi polinomiali, dar, putem verifica in mod usor o solutie (un certificat).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2364656-3B3B-4035-8FAD-6972284B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86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A2AA67-CC60-4E8F-8E37-167CAD87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Problema ciclurilor hamiltoniene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914B02-7395-4800-8A81-7FB3559F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524000"/>
            <a:ext cx="7772400" cy="4114800"/>
          </a:xfrm>
        </p:spPr>
        <p:txBody>
          <a:bodyPr/>
          <a:lstStyle/>
          <a:p>
            <a:r>
              <a:rPr lang="ro-RO" sz="2000" dirty="0" smtClean="0"/>
              <a:t>Un </a:t>
            </a:r>
            <a:r>
              <a:rPr lang="ro-RO" sz="2000" i="1" dirty="0" smtClean="0"/>
              <a:t>ciclu </a:t>
            </a:r>
            <a:r>
              <a:rPr lang="ro-RO" sz="2000" i="1" dirty="0" err="1" smtClean="0"/>
              <a:t>hamiltonian</a:t>
            </a:r>
            <a:r>
              <a:rPr lang="ro-RO" sz="2000" dirty="0" smtClean="0"/>
              <a:t> </a:t>
            </a:r>
            <a:r>
              <a:rPr lang="ro-RO" sz="2000" dirty="0" err="1" smtClean="0"/>
              <a:t>intr</a:t>
            </a:r>
            <a:r>
              <a:rPr lang="ro-RO" sz="2000" dirty="0" smtClean="0"/>
              <a:t>-un graf neorientat G=(V,E) este un ciclu simplu care conține fiecare nod din V.</a:t>
            </a:r>
          </a:p>
          <a:p>
            <a:r>
              <a:rPr lang="ro-RO" sz="2000" dirty="0" smtClean="0"/>
              <a:t>Un graf este </a:t>
            </a:r>
            <a:r>
              <a:rPr lang="ro-RO" sz="2000" i="1" dirty="0" err="1" smtClean="0"/>
              <a:t>hamiltonian</a:t>
            </a:r>
            <a:r>
              <a:rPr lang="ro-RO" sz="2000" dirty="0" smtClean="0"/>
              <a:t> dacă conține un ciclu </a:t>
            </a:r>
            <a:r>
              <a:rPr lang="ro-RO" sz="2000" dirty="0" err="1" smtClean="0"/>
              <a:t>hamiltonian</a:t>
            </a:r>
            <a:endParaRPr lang="ro-RO" sz="2000" dirty="0" smtClean="0"/>
          </a:p>
          <a:p>
            <a:endParaRPr lang="ro-RO" sz="2000" dirty="0"/>
          </a:p>
          <a:p>
            <a:r>
              <a:rPr lang="ro-RO" sz="2000" dirty="0" smtClean="0"/>
              <a:t>Problema ciclurilor </a:t>
            </a:r>
            <a:r>
              <a:rPr lang="ro-RO" sz="2000" dirty="0" err="1" smtClean="0"/>
              <a:t>hamiltoniene</a:t>
            </a:r>
            <a:r>
              <a:rPr lang="ro-RO" sz="2000" dirty="0" smtClean="0"/>
              <a:t> (HAM-CYCLE): are un graf (cel </a:t>
            </a:r>
            <a:r>
              <a:rPr lang="ro-RO" sz="2000" dirty="0" err="1" smtClean="0"/>
              <a:t>putin</a:t>
            </a:r>
            <a:r>
              <a:rPr lang="ro-RO" sz="2000" dirty="0" smtClean="0"/>
              <a:t>) un ciclu </a:t>
            </a:r>
            <a:r>
              <a:rPr lang="ro-RO" sz="2000" dirty="0" err="1" smtClean="0"/>
              <a:t>hamiltonian</a:t>
            </a:r>
            <a:r>
              <a:rPr lang="ro-RO" sz="2000" dirty="0" smtClean="0"/>
              <a:t>?</a:t>
            </a:r>
          </a:p>
          <a:p>
            <a:endParaRPr lang="ro-RO" sz="2000" dirty="0"/>
          </a:p>
          <a:p>
            <a:r>
              <a:rPr lang="ro-RO" sz="2000" dirty="0" smtClean="0"/>
              <a:t>Soluție posibilă pentru această problemă:</a:t>
            </a:r>
          </a:p>
          <a:p>
            <a:pPr lvl="1"/>
            <a:r>
              <a:rPr lang="ro-RO" sz="1600" dirty="0" smtClean="0"/>
              <a:t>Se generează toate permutările de noduri din V</a:t>
            </a:r>
          </a:p>
          <a:p>
            <a:pPr lvl="1"/>
            <a:r>
              <a:rPr lang="ro-RO" sz="1600" dirty="0" smtClean="0"/>
              <a:t>Se verifică fiecare permutare dacă este o soluție </a:t>
            </a:r>
          </a:p>
          <a:p>
            <a:pPr lvl="1"/>
            <a:r>
              <a:rPr lang="ro-RO" sz="1600" dirty="0" smtClean="0"/>
              <a:t>Complexitatea este cel </a:t>
            </a:r>
            <a:r>
              <a:rPr lang="ro-RO" sz="1600" dirty="0" err="1" smtClean="0"/>
              <a:t>putin</a:t>
            </a:r>
            <a:r>
              <a:rPr lang="ro-RO" sz="1600" dirty="0" smtClean="0"/>
              <a:t> O(m!), unde m este numărul de noduri (deci nu e un timp polinomial)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78CDB12-68AF-4627-BA68-E8186D84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38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 smtClean="0"/>
              <a:t>Algoritmi de verificare</a:t>
            </a:r>
            <a:endParaRPr lang="ro-R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724400"/>
              </a:xfrm>
            </p:spPr>
            <p:txBody>
              <a:bodyPr/>
              <a:lstStyle/>
              <a:p>
                <a:r>
                  <a:rPr lang="ro-RO" sz="2000" dirty="0" smtClean="0"/>
                  <a:t>Se dă un graf G, si un ciclu in graful G. Dacă verificăm faptul că ciclul este </a:t>
                </a:r>
                <a:r>
                  <a:rPr lang="ro-RO" sz="2000" dirty="0" err="1" smtClean="0"/>
                  <a:t>hamiltonian</a:t>
                </a:r>
                <a:r>
                  <a:rPr lang="ro-RO" sz="2000" dirty="0" smtClean="0"/>
                  <a:t>, atunci graful este </a:t>
                </a:r>
                <a:r>
                  <a:rPr lang="ro-RO" sz="2000" dirty="0" err="1" smtClean="0"/>
                  <a:t>hamiltonian</a:t>
                </a:r>
                <a:r>
                  <a:rPr lang="ro-RO" sz="2000" dirty="0" smtClean="0"/>
                  <a:t> (deci instanță a lui HAM-CYCLE)</a:t>
                </a:r>
              </a:p>
              <a:p>
                <a:endParaRPr lang="ro-RO" sz="2000" dirty="0" smtClean="0"/>
              </a:p>
              <a:p>
                <a:r>
                  <a:rPr lang="ro-RO" sz="2000" b="1" i="1" dirty="0" smtClean="0"/>
                  <a:t>Algoritm de verificare</a:t>
                </a:r>
                <a:r>
                  <a:rPr lang="ro-RO" sz="2000" dirty="0" smtClean="0"/>
                  <a:t>: este un algoritm A care </a:t>
                </a:r>
                <a:r>
                  <a:rPr lang="ro-RO" sz="2000" dirty="0" err="1" smtClean="0"/>
                  <a:t>primeste</a:t>
                </a:r>
                <a:r>
                  <a:rPr lang="ro-RO" sz="2000" dirty="0" smtClean="0"/>
                  <a:t> 2 inputuri: </a:t>
                </a:r>
              </a:p>
              <a:p>
                <a:pPr lvl="1"/>
                <a:r>
                  <a:rPr lang="ro-RO" sz="1600" dirty="0" smtClean="0"/>
                  <a:t>Un sir x (care este o codare a problemei)</a:t>
                </a:r>
              </a:p>
              <a:p>
                <a:pPr lvl="1"/>
                <a:r>
                  <a:rPr lang="ro-RO" sz="1600" dirty="0" smtClean="0"/>
                  <a:t>Si un certificat y pentru problemă</a:t>
                </a:r>
              </a:p>
              <a:p>
                <a:pPr lvl="1"/>
                <a:r>
                  <a:rPr lang="ro-RO" sz="1600" dirty="0" smtClean="0"/>
                  <a:t>Algoritmul verifică </a:t>
                </a:r>
                <a:r>
                  <a:rPr lang="ro-RO" sz="1600" dirty="0" err="1" smtClean="0"/>
                  <a:t>sirul</a:t>
                </a:r>
                <a:r>
                  <a:rPr lang="ro-RO" sz="1600" dirty="0" smtClean="0"/>
                  <a:t> x dacă există un sir y astfel </a:t>
                </a:r>
                <a:r>
                  <a:rPr lang="ro-RO" sz="1600" dirty="0" err="1" smtClean="0"/>
                  <a:t>incât</a:t>
                </a:r>
                <a:r>
                  <a:rPr lang="ro-RO" sz="1600" dirty="0" smtClean="0"/>
                  <a:t> A(</a:t>
                </a:r>
                <a:r>
                  <a:rPr lang="ro-RO" sz="1600" dirty="0" err="1" smtClean="0"/>
                  <a:t>x,y</a:t>
                </a:r>
                <a:r>
                  <a:rPr lang="ro-RO" sz="1600" dirty="0" smtClean="0"/>
                  <a:t>) = 1 </a:t>
                </a:r>
              </a:p>
              <a:p>
                <a:r>
                  <a:rPr lang="ro-RO" sz="2000" dirty="0" smtClean="0"/>
                  <a:t>L este un </a:t>
                </a:r>
                <a:r>
                  <a:rPr lang="ro-RO" sz="2000" i="1" dirty="0" smtClean="0"/>
                  <a:t>limbaj verificat</a:t>
                </a:r>
                <a:r>
                  <a:rPr lang="ro-RO" sz="2000" dirty="0" smtClean="0"/>
                  <a:t> de un algoritm de verificare  dacă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𝑒𝑥𝑖𝑠𝑡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ă 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o-RO" sz="1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𝑎𝑠𝑡𝑓𝑒𝑙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î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𝑛𝑐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â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o-RO" sz="1600" dirty="0" smtClean="0"/>
                  <a:t> </a:t>
                </a:r>
                <a:endParaRPr lang="en-US" sz="1600" dirty="0" smtClean="0"/>
              </a:p>
              <a:p>
                <a:pPr marL="57150" indent="0">
                  <a:buNone/>
                </a:pPr>
                <a:endParaRPr lang="en-US" sz="2000" dirty="0"/>
              </a:p>
              <a:p>
                <a:pPr marL="57150" indent="0">
                  <a:buNone/>
                </a:pPr>
                <a:r>
                  <a:rPr lang="en-US" sz="2000" dirty="0" err="1" smtClean="0"/>
                  <a:t>algoritmul</a:t>
                </a:r>
                <a:r>
                  <a:rPr lang="en-US" sz="2000" dirty="0" smtClean="0"/>
                  <a:t> A </a:t>
                </a:r>
                <a:r>
                  <a:rPr lang="en-US" sz="2000" dirty="0" err="1" smtClean="0"/>
                  <a:t>verific</a:t>
                </a:r>
                <a:r>
                  <a:rPr lang="ro-RO" sz="2000" dirty="0" smtClean="0"/>
                  <a:t>ă un limbaj L dacă pentru orice șir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o-RO" sz="2000" dirty="0" smtClean="0"/>
                  <a:t> se găsește un certificat y care să demonstreze că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724400"/>
              </a:xfrm>
              <a:blipFill rotWithShape="0">
                <a:blip r:embed="rId2"/>
                <a:stretch>
                  <a:fillRect l="-78" t="-645" r="-39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99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Clasa de complexitate NP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9652" y="1524000"/>
                <a:ext cx="8209547" cy="4114800"/>
              </a:xfrm>
            </p:spPr>
            <p:txBody>
              <a:bodyPr/>
              <a:lstStyle/>
              <a:p>
                <a:r>
                  <a:rPr lang="ro-RO" sz="2000" dirty="0" smtClean="0"/>
                  <a:t>Este clasa limbajelor care pot fi verificate printr-un algoritm polinomial</a:t>
                </a:r>
              </a:p>
              <a:p>
                <a:endParaRPr lang="ro-RO" sz="2000" dirty="0"/>
              </a:p>
              <a:p>
                <a:r>
                  <a:rPr lang="ro-RO" sz="2000" dirty="0" smtClean="0"/>
                  <a:t>HAM-CYCLE </a:t>
                </a:r>
                <a:r>
                  <a:rPr lang="ro-RO" sz="2000" dirty="0" err="1" smtClean="0"/>
                  <a:t>apartine</a:t>
                </a:r>
                <a:r>
                  <a:rPr lang="ro-RO" sz="2000" dirty="0" smtClean="0"/>
                  <a:t> în clasa de complexitate NP</a:t>
                </a:r>
              </a:p>
              <a:p>
                <a:endParaRPr lang="ro-RO" sz="2000" dirty="0"/>
              </a:p>
              <a:p>
                <a:r>
                  <a:rPr lang="ro-RO" sz="2000" dirty="0" smtClean="0"/>
                  <a:t>Mai mult, dacă un limbaj este in clasa P (polinomial) atunci in mod cert este si in clasa NP	</a:t>
                </a:r>
              </a:p>
              <a:p>
                <a:endParaRPr lang="ro-RO" sz="2000" dirty="0"/>
              </a:p>
              <a:p>
                <a:r>
                  <a:rPr lang="ro-RO" sz="2000" dirty="0" smtClean="0"/>
                  <a:t>Cei mai </a:t>
                </a:r>
                <a:r>
                  <a:rPr lang="ro-RO" sz="2000" dirty="0" err="1" smtClean="0"/>
                  <a:t>multi</a:t>
                </a:r>
                <a:r>
                  <a:rPr lang="ro-RO" sz="2000" dirty="0" smtClean="0"/>
                  <a:t> cercetători cred că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ro-RO" sz="2000" dirty="0" smtClean="0"/>
                  <a:t>  , mai precis clasa NP este mai largă decât clasa P</a:t>
                </a:r>
              </a:p>
              <a:p>
                <a:endParaRPr lang="ro-RO" sz="2000" dirty="0"/>
              </a:p>
              <a:p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652" y="1524000"/>
                <a:ext cx="8209547" cy="4114800"/>
              </a:xfrm>
              <a:blipFill rotWithShape="0">
                <a:blip r:embed="rId2"/>
                <a:stretch>
                  <a:fillRect t="-741" r="-29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30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Clasa de complexitate </a:t>
            </a:r>
            <a:r>
              <a:rPr lang="ro-RO" sz="3200" dirty="0" err="1" smtClean="0"/>
              <a:t>co</a:t>
            </a:r>
            <a:r>
              <a:rPr lang="ro-RO" sz="3200" dirty="0" smtClean="0"/>
              <a:t>-NP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876800"/>
              </a:xfrm>
            </p:spPr>
            <p:txBody>
              <a:bodyPr/>
              <a:lstStyle/>
              <a:p>
                <a:r>
                  <a:rPr lang="ro-RO" sz="2000" dirty="0" err="1" smtClean="0"/>
                  <a:t>co</a:t>
                </a:r>
                <a:r>
                  <a:rPr lang="ro-RO" sz="2000" dirty="0" smtClean="0"/>
                  <a:t>-NP: mulțimea limbajelor L astfel încât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ro-R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</m:oMath>
                </a14:m>
                <a:endParaRPr lang="ro-RO" sz="2000" dirty="0" smtClean="0"/>
              </a:p>
              <a:p>
                <a:endParaRPr lang="ro-RO" sz="2000" dirty="0"/>
              </a:p>
              <a:p>
                <a:endParaRPr lang="ro-RO" sz="2000" dirty="0" smtClean="0"/>
              </a:p>
              <a:p>
                <a:endParaRPr lang="ro-RO" sz="2000" dirty="0"/>
              </a:p>
              <a:p>
                <a:endParaRPr lang="ro-RO" sz="2000" dirty="0" smtClean="0"/>
              </a:p>
              <a:p>
                <a:endParaRPr lang="ro-RO" sz="2000" dirty="0"/>
              </a:p>
              <a:p>
                <a:endParaRPr lang="ro-RO" sz="2000" dirty="0" smtClean="0"/>
              </a:p>
              <a:p>
                <a:endParaRPr lang="ro-RO" sz="2000" dirty="0"/>
              </a:p>
              <a:p>
                <a:endParaRPr lang="ro-RO" sz="2000" dirty="0" smtClean="0"/>
              </a:p>
              <a:p>
                <a:endParaRPr lang="ro-RO" sz="2000" dirty="0"/>
              </a:p>
              <a:p>
                <a:endParaRPr lang="ro-RO" sz="2000" dirty="0" smtClean="0"/>
              </a:p>
              <a:p>
                <a:r>
                  <a:rPr lang="ro-RO" sz="2000" dirty="0" smtClean="0"/>
                  <a:t>Dintre cele 4 posibilități, alternativa d este văzută ca și cea mai plauzibilă</a:t>
                </a:r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876800"/>
              </a:xfrm>
              <a:blipFill rotWithShape="0">
                <a:blip r:embed="rId2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81638"/>
            <a:ext cx="6800000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7772400" cy="1362075"/>
          </a:xfrm>
        </p:spPr>
        <p:txBody>
          <a:bodyPr/>
          <a:lstStyle/>
          <a:p>
            <a:r>
              <a:rPr lang="ro-RO" dirty="0" smtClean="0"/>
              <a:t>Probleme NP-complete</a:t>
            </a: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1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Reductibilitate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9652" y="1524000"/>
                <a:ext cx="8209547" cy="4114800"/>
              </a:xfrm>
            </p:spPr>
            <p:txBody>
              <a:bodyPr/>
              <a:lstStyle/>
              <a:p>
                <a:r>
                  <a:rPr lang="ro-RO" sz="2000" dirty="0" smtClean="0"/>
                  <a:t>Spunem că o problemă Q poate fi </a:t>
                </a:r>
                <a:r>
                  <a:rPr lang="ro-RO" sz="2000" i="1" dirty="0" smtClean="0"/>
                  <a:t>redusă</a:t>
                </a:r>
                <a:r>
                  <a:rPr lang="ro-RO" sz="2000" dirty="0" smtClean="0"/>
                  <a:t> la o problemă Q</a:t>
                </a:r>
                <a:r>
                  <a:rPr lang="en-US" sz="2000" dirty="0" smtClean="0"/>
                  <a:t>’ </a:t>
                </a:r>
                <a:r>
                  <a:rPr lang="en-US" sz="2000" dirty="0" err="1" smtClean="0"/>
                  <a:t>dac</a:t>
                </a:r>
                <a:r>
                  <a:rPr lang="ro-RO" sz="2000" dirty="0" smtClean="0"/>
                  <a:t>ă orice instanță a lui Q poate fi transformată (ușor) într-o instanță a lui Q</a:t>
                </a:r>
                <a:r>
                  <a:rPr lang="en-US" sz="2000" dirty="0" smtClean="0"/>
                  <a:t>’</a:t>
                </a:r>
                <a:endParaRPr lang="ro-RO" sz="2000" dirty="0" smtClean="0"/>
              </a:p>
              <a:p>
                <a:r>
                  <a:rPr lang="ro-RO" sz="2000" dirty="0" smtClean="0"/>
                  <a:t>In acest caz, spunem că problema Q nu este mai dificilă decât problema Q</a:t>
                </a:r>
                <a:r>
                  <a:rPr lang="en-US" sz="2000" dirty="0" smtClean="0"/>
                  <a:t>’.</a:t>
                </a:r>
              </a:p>
              <a:p>
                <a:endParaRPr lang="ro-RO" sz="2000" dirty="0"/>
              </a:p>
              <a:p>
                <a:pPr marL="0" indent="0">
                  <a:buNone/>
                </a:pPr>
                <a:r>
                  <a:rPr lang="ro-RO" sz="2000" b="1" dirty="0" smtClean="0"/>
                  <a:t>In termeni de limbaje formale</a:t>
                </a:r>
              </a:p>
              <a:p>
                <a:r>
                  <a:rPr lang="ro-RO" sz="2000" dirty="0" smtClean="0"/>
                  <a:t>Un limbaj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000" dirty="0" smtClean="0"/>
                  <a:t> este reductibil in timp polinomial la un alt limbaj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000" dirty="0" smtClean="0"/>
                  <a:t> și scriem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000" dirty="0" smtClean="0"/>
                  <a:t> dacă există o </a:t>
                </a:r>
                <a:r>
                  <a:rPr lang="ro-RO" sz="2000" dirty="0" err="1" smtClean="0"/>
                  <a:t>functie</a:t>
                </a:r>
                <a:r>
                  <a:rPr lang="ro-RO" sz="2000" dirty="0" smtClean="0"/>
                  <a:t> calculabilă în timp polinomial f astfel încât dacă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dirty="0" smtClean="0"/>
                  <a:t>atunci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20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ro-RO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o-RO" sz="2000" dirty="0" smtClean="0"/>
              </a:p>
              <a:p>
                <a:r>
                  <a:rPr lang="ro-RO" sz="2000" dirty="0" smtClean="0"/>
                  <a:t>f este funcția de reducere, iar algoritmul F care calculează pe f este algoritmul de reducere</a:t>
                </a:r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652" y="1524000"/>
                <a:ext cx="8209547" cy="4114800"/>
              </a:xfrm>
              <a:blipFill rotWithShape="0">
                <a:blip r:embed="rId2"/>
                <a:stretch>
                  <a:fillRect l="-742" t="-741" r="-965" b="-177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27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5588" y="1524000"/>
                <a:ext cx="8157411" cy="4114800"/>
              </a:xfrm>
            </p:spPr>
            <p:txBody>
              <a:bodyPr/>
              <a:lstStyle/>
              <a:p>
                <a:r>
                  <a:rPr lang="ro-RO" sz="2000" dirty="0" smtClean="0"/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2000" dirty="0" smtClean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000" dirty="0" smtClean="0"/>
                  <a:t> sunt 2 limbaje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2000" dirty="0" smtClean="0"/>
                  <a:t>,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o-RO" sz="2000" dirty="0" smtClean="0"/>
                  <a:t> , atunci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ro-RO" sz="2000" dirty="0" smtClean="0"/>
              </a:p>
              <a:p>
                <a:r>
                  <a:rPr lang="ro-RO" sz="2000" dirty="0" smtClean="0"/>
                  <a:t>Consecință: dacă o problemă poate fi redusă la o altă problemă de clasă polinomială, atunci și aceasta este tot de clasă polinomială</a:t>
                </a:r>
              </a:p>
              <a:p>
                <a:endParaRPr lang="ro-RO" sz="2000" dirty="0"/>
              </a:p>
              <a:p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588" y="1524000"/>
                <a:ext cx="8157411" cy="4114800"/>
              </a:xfrm>
              <a:blipFill rotWithShape="0"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68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Limbaj NP-complete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2400" dirty="0" smtClean="0"/>
                  <a:t>Un limbaj L este NP-complete dacă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</m:oMath>
                </a14:m>
                <a:endParaRPr lang="ro-RO" sz="20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/>
                    </m:sSub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/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pentru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orice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000" dirty="0" smtClean="0"/>
              </a:p>
              <a:p>
                <a:endParaRPr lang="ro-RO" sz="2400" dirty="0" smtClean="0"/>
              </a:p>
              <a:p>
                <a:r>
                  <a:rPr lang="en-US" sz="2000" dirty="0" err="1" smtClean="0"/>
                  <a:t>Dac</a:t>
                </a:r>
                <a:r>
                  <a:rPr lang="ro-RO" sz="2000" dirty="0" smtClean="0"/>
                  <a:t>ă un limbaj satisface proprietatea 2 dar nu in mod necesar proprietatea 1, atunci spunem că acesta este NP-hard</a:t>
                </a:r>
              </a:p>
              <a:p>
                <a:endParaRPr lang="ro-RO" sz="2000" dirty="0" smtClean="0"/>
              </a:p>
              <a:p>
                <a:pPr marL="0" indent="0">
                  <a:buNone/>
                </a:pPr>
                <a:r>
                  <a:rPr lang="ro-RO" sz="2400" b="1" dirty="0" smtClean="0"/>
                  <a:t>Teoremă:</a:t>
                </a:r>
                <a:endParaRPr lang="ro-RO" sz="2400" b="1" dirty="0"/>
              </a:p>
              <a:p>
                <a:pPr marL="0" indent="0">
                  <a:buNone/>
                </a:pPr>
                <a:r>
                  <a:rPr lang="ro-RO" sz="2000" dirty="0" smtClean="0"/>
                  <a:t>Dacă o problemă NP-completă este rezolvabilă în timp polinomial, atunci P = NP. </a:t>
                </a:r>
              </a:p>
              <a:p>
                <a:pPr marL="0" indent="0">
                  <a:buNone/>
                </a:pPr>
                <a:r>
                  <a:rPr lang="ro-RO" sz="2000" dirty="0" smtClean="0"/>
                  <a:t>In mod echivalent, dacă avem o problemă din NP care nu este rezolvabilă în timp polinomial, atunci nicio problemă NP-completă nu este rezolvabilă in timp polinomial.</a:t>
                </a:r>
                <a:endParaRPr lang="ro-R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0">
                <a:blip r:embed="rId2"/>
                <a:stretch>
                  <a:fillRect l="-1111" t="-1185" b="-1881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57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 err="1" smtClean="0"/>
              <a:t>Relatia</a:t>
            </a:r>
            <a:r>
              <a:rPr lang="ro-RO" sz="3600" dirty="0" smtClean="0"/>
              <a:t> intre clasele de complexitate</a:t>
            </a:r>
            <a:endParaRPr lang="ro-RO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2333333" cy="183809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3354074"/>
            <a:ext cx="7772400" cy="2581505"/>
          </a:xfrm>
        </p:spPr>
        <p:txBody>
          <a:bodyPr/>
          <a:lstStyle/>
          <a:p>
            <a:r>
              <a:rPr lang="ro-RO" sz="2000" dirty="0" smtClean="0"/>
              <a:t>Pentru a justifica figura de mai sus trebuie demonstrat că </a:t>
            </a:r>
            <a:r>
              <a:rPr lang="ro-RO" sz="2000" dirty="0" err="1" smtClean="0"/>
              <a:t>multimea</a:t>
            </a:r>
            <a:r>
              <a:rPr lang="ro-RO" sz="2000" dirty="0" smtClean="0"/>
              <a:t> NPC nu este vidă: adică trebuie găsită cel </a:t>
            </a:r>
            <a:r>
              <a:rPr lang="ro-RO" sz="2000" dirty="0" err="1" smtClean="0"/>
              <a:t>putin</a:t>
            </a:r>
            <a:r>
              <a:rPr lang="ro-RO" sz="2000" dirty="0" smtClean="0"/>
              <a:t> o problemă NP-completă</a:t>
            </a:r>
          </a:p>
          <a:p>
            <a:endParaRPr lang="ro-RO" sz="2000" dirty="0"/>
          </a:p>
          <a:p>
            <a:r>
              <a:rPr lang="ro-RO" sz="2000" dirty="0" smtClean="0"/>
              <a:t>Problema satisfacerii circuitelor: dacă se dă un circuit boolean </a:t>
            </a:r>
            <a:r>
              <a:rPr lang="ro-RO" sz="2000" dirty="0" err="1" smtClean="0"/>
              <a:t>combina</a:t>
            </a:r>
            <a:r>
              <a:rPr lang="ro-RO" sz="2000" dirty="0" err="1"/>
              <a:t>ț</a:t>
            </a:r>
            <a:r>
              <a:rPr lang="ro-RO" sz="2000" dirty="0" err="1" smtClean="0"/>
              <a:t>ional</a:t>
            </a:r>
            <a:r>
              <a:rPr lang="ro-RO" sz="2000" dirty="0" smtClean="0"/>
              <a:t> </a:t>
            </a:r>
            <a:r>
              <a:rPr lang="ro-RO" sz="2000" dirty="0" smtClean="0"/>
              <a:t>compus din </a:t>
            </a:r>
            <a:r>
              <a:rPr lang="ro-RO" sz="2000" dirty="0" smtClean="0"/>
              <a:t>porțile AND</a:t>
            </a:r>
            <a:r>
              <a:rPr lang="ro-RO" sz="2000" dirty="0" smtClean="0"/>
              <a:t>, OR și NOT, este acesta </a:t>
            </a:r>
            <a:r>
              <a:rPr lang="ro-RO" sz="2000" dirty="0" smtClean="0"/>
              <a:t>satisfiabil? </a:t>
            </a:r>
            <a:endParaRPr lang="ro-RO" sz="2000" dirty="0" smtClean="0"/>
          </a:p>
          <a:p>
            <a:r>
              <a:rPr lang="ro-RO" sz="2000" dirty="0" smtClean="0"/>
              <a:t>Adică găsim o combinație de inputuri pentru circuit astfel încât acesta să producă valoarea de adevăr 1 la ieșire?</a:t>
            </a:r>
          </a:p>
        </p:txBody>
      </p:sp>
    </p:spTree>
    <p:extLst>
      <p:ext uri="{BB962C8B-B14F-4D97-AF65-F5344CB8AC3E}">
        <p14:creationId xmlns:p14="http://schemas.microsoft.com/office/powerpoint/2010/main" val="200620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1621"/>
            <a:ext cx="7772400" cy="266155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79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2400" dirty="0" smtClean="0"/>
              <a:t>Se demonstrează pe rând proprietățile:</a:t>
            </a:r>
          </a:p>
          <a:p>
            <a:pPr lvl="1"/>
            <a:r>
              <a:rPr lang="ro-RO" sz="2000" dirty="0" smtClean="0"/>
              <a:t>Problema satisfacerii circuitelor este NP</a:t>
            </a:r>
          </a:p>
          <a:p>
            <a:pPr lvl="1"/>
            <a:r>
              <a:rPr lang="ro-RO" sz="2000" dirty="0" smtClean="0"/>
              <a:t>Problema satisfacerii circuitelor este NP-HARD</a:t>
            </a:r>
          </a:p>
          <a:p>
            <a:pPr lvl="1"/>
            <a:r>
              <a:rPr lang="ro-RO" sz="2000" dirty="0"/>
              <a:t>Problema satisfacerii circuitelor este </a:t>
            </a:r>
            <a:r>
              <a:rPr lang="ro-RO" sz="2000" dirty="0" smtClean="0"/>
              <a:t>NP-Complete</a:t>
            </a:r>
          </a:p>
          <a:p>
            <a:pPr lvl="1"/>
            <a:endParaRPr lang="ro-RO" sz="2000" dirty="0"/>
          </a:p>
          <a:p>
            <a:r>
              <a:rPr lang="ro-RO" sz="2400" dirty="0" smtClean="0"/>
              <a:t>Deci există cel </a:t>
            </a:r>
            <a:r>
              <a:rPr lang="ro-RO" sz="2400" dirty="0" err="1" smtClean="0"/>
              <a:t>putin</a:t>
            </a:r>
            <a:r>
              <a:rPr lang="ro-RO" sz="2400" dirty="0" smtClean="0"/>
              <a:t> o problemă NP-complete, deci </a:t>
            </a:r>
            <a:r>
              <a:rPr lang="ro-RO" sz="2400" dirty="0" err="1" smtClean="0"/>
              <a:t>multimea</a:t>
            </a:r>
            <a:r>
              <a:rPr lang="ro-RO" sz="2400" dirty="0" smtClean="0"/>
              <a:t> NPC nu este vidă</a:t>
            </a:r>
          </a:p>
          <a:p>
            <a:endParaRPr lang="ro-RO" sz="2400" dirty="0" smtClean="0"/>
          </a:p>
          <a:p>
            <a:r>
              <a:rPr lang="ro-RO" sz="2400" dirty="0" smtClean="0"/>
              <a:t>Deci dacă o problemă practică o reducem la o problemă cunoscută ca și NP-complete, atunci vom căuta o </a:t>
            </a:r>
            <a:r>
              <a:rPr lang="ro-RO" sz="2400" dirty="0" smtClean="0"/>
              <a:t>aproximare a soluției acesteia sau vom rezolva un caz special care este tractabil</a:t>
            </a:r>
            <a:endParaRPr lang="ro-RO" sz="2400" dirty="0"/>
          </a:p>
          <a:p>
            <a:pPr lvl="1"/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72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 smtClean="0"/>
              <a:t>Exemple de probleme NP-complete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2000" b="1" dirty="0" smtClean="0"/>
              <a:t>Problema clicilor</a:t>
            </a:r>
            <a:r>
              <a:rPr lang="ro-RO" sz="2000" dirty="0" smtClean="0"/>
              <a:t>: o clică este un subgraf complet al unui graf. Se pune problema găsirii clicii de dimensiune maximă </a:t>
            </a:r>
            <a:r>
              <a:rPr lang="ro-RO" sz="2000" dirty="0" err="1" smtClean="0"/>
              <a:t>intr</a:t>
            </a:r>
            <a:r>
              <a:rPr lang="ro-RO" sz="2000" dirty="0" smtClean="0"/>
              <a:t>-un graf</a:t>
            </a:r>
          </a:p>
          <a:p>
            <a:endParaRPr lang="ro-RO" sz="2000" dirty="0"/>
          </a:p>
          <a:p>
            <a:r>
              <a:rPr lang="ro-RO" sz="2000" b="1" dirty="0" smtClean="0"/>
              <a:t>Problema Vertex-</a:t>
            </a:r>
            <a:r>
              <a:rPr lang="ro-RO" sz="2000" b="1" dirty="0" err="1" smtClean="0"/>
              <a:t>cover</a:t>
            </a:r>
            <a:r>
              <a:rPr lang="ro-RO" sz="2000" dirty="0" smtClean="0"/>
              <a:t>: dacă avem un graf neorientat G=(V,E) și o </a:t>
            </a:r>
            <a:r>
              <a:rPr lang="ro-RO" sz="2000" dirty="0" err="1" smtClean="0"/>
              <a:t>submultime</a:t>
            </a:r>
            <a:r>
              <a:rPr lang="ro-RO" sz="2000" dirty="0" smtClean="0"/>
              <a:t> V</a:t>
            </a:r>
            <a:r>
              <a:rPr lang="en-US" sz="2000" dirty="0" smtClean="0"/>
              <a:t>’ de </a:t>
            </a:r>
            <a:r>
              <a:rPr lang="en-US" sz="2000" dirty="0" err="1" smtClean="0"/>
              <a:t>noduri</a:t>
            </a:r>
            <a:r>
              <a:rPr lang="en-US" sz="2000" dirty="0" smtClean="0"/>
              <a:t>. V’ </a:t>
            </a:r>
            <a:r>
              <a:rPr lang="en-US" sz="2000" dirty="0" err="1" smtClean="0"/>
              <a:t>este</a:t>
            </a:r>
            <a:r>
              <a:rPr lang="en-US" sz="2000" dirty="0" smtClean="0"/>
              <a:t> un “vertex cover” </a:t>
            </a:r>
            <a:r>
              <a:rPr lang="en-US" sz="2000" dirty="0" err="1" smtClean="0"/>
              <a:t>dac</a:t>
            </a:r>
            <a:r>
              <a:rPr lang="ro-RO" sz="2000" dirty="0" smtClean="0"/>
              <a:t>ă pentru orice arc (</a:t>
            </a:r>
            <a:r>
              <a:rPr lang="ro-RO" sz="2000" dirty="0" err="1" smtClean="0"/>
              <a:t>u,v</a:t>
            </a:r>
            <a:r>
              <a:rPr lang="ro-RO" sz="2000" dirty="0" smtClean="0"/>
              <a:t>) din E, u și v sunt din V</a:t>
            </a:r>
            <a:r>
              <a:rPr lang="en-US" sz="2000" dirty="0" smtClean="0"/>
              <a:t>’. </a:t>
            </a:r>
            <a:r>
              <a:rPr lang="en-US" sz="2000" dirty="0" err="1" smtClean="0"/>
              <a:t>Dac</a:t>
            </a:r>
            <a:r>
              <a:rPr lang="ro-RO" sz="2000" dirty="0" smtClean="0"/>
              <a:t>ă dă un graf, se pune problema găsirii vertex-</a:t>
            </a:r>
            <a:r>
              <a:rPr lang="ro-RO" sz="2000" dirty="0" err="1" smtClean="0"/>
              <a:t>cover</a:t>
            </a:r>
            <a:r>
              <a:rPr lang="ro-RO" sz="2000" dirty="0" smtClean="0"/>
              <a:t> de dimensiune minimă</a:t>
            </a:r>
          </a:p>
          <a:p>
            <a:endParaRPr lang="ro-RO" sz="2000" dirty="0"/>
          </a:p>
          <a:p>
            <a:r>
              <a:rPr lang="ro-RO" sz="2000" dirty="0" smtClean="0"/>
              <a:t>Problema ciclurilor </a:t>
            </a:r>
            <a:r>
              <a:rPr lang="ro-RO" sz="2000" dirty="0" err="1" smtClean="0"/>
              <a:t>hamiltoniene</a:t>
            </a:r>
            <a:endParaRPr lang="ro-RO" sz="2000" dirty="0" smtClean="0"/>
          </a:p>
          <a:p>
            <a:endParaRPr lang="ro-RO" sz="2000" dirty="0"/>
          </a:p>
          <a:p>
            <a:r>
              <a:rPr lang="ro-RO" sz="2000" b="1" dirty="0" err="1" smtClean="0"/>
              <a:t>Traveling</a:t>
            </a:r>
            <a:r>
              <a:rPr lang="ro-RO" sz="2000" b="1" dirty="0" smtClean="0"/>
              <a:t> </a:t>
            </a:r>
            <a:r>
              <a:rPr lang="ro-RO" sz="2000" b="1" dirty="0" err="1" smtClean="0"/>
              <a:t>sales-man</a:t>
            </a:r>
            <a:r>
              <a:rPr lang="ro-RO" sz="2000" dirty="0" smtClean="0"/>
              <a:t> (problema comis-voiajorului): presupune găsirea ciclului </a:t>
            </a:r>
            <a:r>
              <a:rPr lang="ro-RO" sz="2000" dirty="0" err="1" smtClean="0"/>
              <a:t>hamiltonian</a:t>
            </a:r>
            <a:r>
              <a:rPr lang="ro-RO" sz="2000" dirty="0" smtClean="0"/>
              <a:t> de dimensiune minimă</a:t>
            </a:r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- 14 Ianuarie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42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11894</TotalTime>
  <Words>1410</Words>
  <Application>Microsoft Office PowerPoint</Application>
  <PresentationFormat>On-screen Show (4:3)</PresentationFormat>
  <Paragraphs>203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Cambria Math</vt:lpstr>
      <vt:lpstr>Tahoma</vt:lpstr>
      <vt:lpstr>Times New Roman</vt:lpstr>
      <vt:lpstr>Wingdings</vt:lpstr>
      <vt:lpstr>Blueprint</vt:lpstr>
      <vt:lpstr>Algoritmi și structuri de date – curs 13     - Informatică Economică, an II –</vt:lpstr>
      <vt:lpstr>Cuprins</vt:lpstr>
      <vt:lpstr>Dificultatea problemelor din algoritmică</vt:lpstr>
      <vt:lpstr>Exemple de probleme ușoare/grele</vt:lpstr>
      <vt:lpstr>Probleme rezolvabile in timp polinomial</vt:lpstr>
      <vt:lpstr>Probleme abstracte</vt:lpstr>
      <vt:lpstr>Tipuri de probleme</vt:lpstr>
      <vt:lpstr>Codarea unei probleme</vt:lpstr>
      <vt:lpstr>Timp polinomial de rezolvare</vt:lpstr>
      <vt:lpstr>Limbaje formale</vt:lpstr>
      <vt:lpstr>Problemele concrete in teoria limbajelor</vt:lpstr>
      <vt:lpstr>Probleme concrete in teoria limbajelor</vt:lpstr>
      <vt:lpstr>Clase de complexitate</vt:lpstr>
      <vt:lpstr>Verificarea solutiei in timp polinomial</vt:lpstr>
      <vt:lpstr>Problema ciclurilor hamiltoniene</vt:lpstr>
      <vt:lpstr>Algoritmi de verificare</vt:lpstr>
      <vt:lpstr>Clasa de complexitate NP</vt:lpstr>
      <vt:lpstr>Clasa de complexitate co-NP</vt:lpstr>
      <vt:lpstr>Probleme NP-complete</vt:lpstr>
      <vt:lpstr>Reductibilitate</vt:lpstr>
      <vt:lpstr>PowerPoint Presentation</vt:lpstr>
      <vt:lpstr>Limbaj NP-complete</vt:lpstr>
      <vt:lpstr>Relatia intre clasele de complexitate</vt:lpstr>
      <vt:lpstr>PowerPoint Presentation</vt:lpstr>
      <vt:lpstr>PowerPoint Presentation</vt:lpstr>
      <vt:lpstr>Exemple de probleme NP-complete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328</cp:revision>
  <dcterms:created xsi:type="dcterms:W3CDTF">2004-11-24T18:35:22Z</dcterms:created>
  <dcterms:modified xsi:type="dcterms:W3CDTF">2020-01-14T11:12:16Z</dcterms:modified>
</cp:coreProperties>
</file>