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2"/>
  </p:notesMasterIdLst>
  <p:sldIdLst>
    <p:sldId id="300" r:id="rId2"/>
    <p:sldId id="257" r:id="rId3"/>
    <p:sldId id="309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296" r:id="rId13"/>
    <p:sldId id="297" r:id="rId14"/>
    <p:sldId id="298" r:id="rId15"/>
    <p:sldId id="299" r:id="rId16"/>
    <p:sldId id="310" r:id="rId17"/>
    <p:sldId id="311" r:id="rId18"/>
    <p:sldId id="312" r:id="rId19"/>
    <p:sldId id="313" r:id="rId20"/>
    <p:sldId id="314" r:id="rId21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1FF025B8-CDF1-47E0-A314-DC57550098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0111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9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459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693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1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GB"/>
              <a:t>Cluj-Napoca  - 21 Noiembrie 2022</a:t>
            </a: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CED30-8BB3-4254-8858-39CEA52735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8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- 21 Noiembrie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9DBAD-A52A-4DC7-80FE-981ECB1F2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- 21 Noiembrie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88759-1A87-43FC-9D81-BC4D400D2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8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- 21 Noiembrie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7477D-BB97-457C-89BA-5713B0B0B4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9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- 21 Noiembrie 2022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387D-1133-468E-AE72-C925541E4D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- 21 Noiembrie 2022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3CC5C-E80A-488B-AD6C-3180914442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53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- 21 Noiembrie 2022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A99A8-BCD7-4B7E-8522-3CE9331863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85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- 21 Noiembrie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067C4-FE98-4433-8D52-56E1BA8177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7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- 21 Noiembrie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D716F-35CF-4603-9782-F2FDC8C4C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61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- 21 Noiembrie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A8865-FCD6-43CD-88ED-AF2AD3463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6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- 21 Noiembrie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BABAE-6959-4344-8AD1-D6370A2C50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2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- 21 Noiembrie 2022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B209-2CBE-428E-A057-AD0A68D539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163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- 21 Noiembrie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D4E0-6A23-45C4-A877-717DF862B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70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ro-RO" noProof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- 21 Noiembrie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A3B64-3C04-4941-BAB2-F7767CF73D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5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104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11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30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grpSp>
            <p:nvGrpSpPr>
              <p:cNvPr id="4112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31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</p:grpSp>
        <p:sp>
          <p:nvSpPr>
            <p:cNvPr id="31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sp>
          <p:nvSpPr>
            <p:cNvPr id="31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grpSp>
          <p:nvGrpSpPr>
            <p:cNvPr id="4107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31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09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10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138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GB"/>
              <a:t>Cluj-Napoca  - 21 Noiembrie 2022</a:t>
            </a:r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084E7CB-EF2E-4647-B803-81CC09BA3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990600"/>
          </a:xfrm>
        </p:spPr>
        <p:txBody>
          <a:bodyPr/>
          <a:lstStyle/>
          <a:p>
            <a:pPr eaLnBrk="1" hangingPunct="1"/>
            <a:r>
              <a:rPr lang="en-US" sz="3200" dirty="0" err="1"/>
              <a:t>Algoritmi</a:t>
            </a:r>
            <a:r>
              <a:rPr lang="en-US" sz="3200" dirty="0"/>
              <a:t> </a:t>
            </a:r>
            <a:r>
              <a:rPr lang="ro-RO" sz="3200" dirty="0"/>
              <a:t>și structuri de date</a:t>
            </a:r>
            <a:r>
              <a:rPr lang="en-US" sz="3200" dirty="0"/>
              <a:t> – curs 6</a:t>
            </a:r>
            <a:r>
              <a:rPr lang="en-US" sz="3600" dirty="0"/>
              <a:t>   </a:t>
            </a:r>
            <a:br>
              <a:rPr lang="en-US" sz="3600" dirty="0"/>
            </a:br>
            <a:r>
              <a:rPr lang="ro-RO" sz="2000" dirty="0"/>
              <a:t>- Informatică Economică, an II –</a:t>
            </a:r>
          </a:p>
        </p:txBody>
      </p:sp>
      <p:sp>
        <p:nvSpPr>
          <p:cNvPr id="61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276600" y="4833938"/>
            <a:ext cx="4953000" cy="804862"/>
          </a:xfrm>
        </p:spPr>
        <p:txBody>
          <a:bodyPr/>
          <a:lstStyle/>
          <a:p>
            <a:pPr eaLnBrk="1" hangingPunct="1"/>
            <a:r>
              <a:rPr lang="en-US" sz="2400" dirty="0" err="1"/>
              <a:t>Prof.dr</a:t>
            </a:r>
            <a:r>
              <a:rPr lang="en-US" sz="2400" dirty="0"/>
              <a:t>. Gheorghe Cosmin Silaghi</a:t>
            </a:r>
            <a:endParaRPr lang="ro-RO" sz="2400" dirty="0"/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876300" y="3124200"/>
            <a:ext cx="4876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2000" dirty="0">
                <a:solidFill>
                  <a:schemeClr val="tx2"/>
                </a:solidFill>
              </a:rPr>
              <a:t>Divide et </a:t>
            </a:r>
            <a:r>
              <a:rPr lang="en-US" sz="2000" dirty="0" err="1">
                <a:solidFill>
                  <a:schemeClr val="tx2"/>
                </a:solidFill>
              </a:rPr>
              <a:t>impera</a:t>
            </a:r>
            <a:r>
              <a:rPr lang="en-US" sz="2000" dirty="0">
                <a:solidFill>
                  <a:schemeClr val="tx2"/>
                </a:solidFill>
              </a:rPr>
              <a:t>.</a:t>
            </a:r>
          </a:p>
          <a:p>
            <a:r>
              <a:rPr lang="en-US" sz="2000" dirty="0" err="1">
                <a:solidFill>
                  <a:schemeClr val="tx2"/>
                </a:solidFill>
              </a:rPr>
              <a:t>Metode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avansate</a:t>
            </a:r>
            <a:r>
              <a:rPr lang="en-US" sz="2000" dirty="0">
                <a:solidFill>
                  <a:schemeClr val="tx2"/>
                </a:solidFill>
              </a:rPr>
              <a:t> de </a:t>
            </a:r>
            <a:r>
              <a:rPr lang="en-US" sz="2000" dirty="0" err="1">
                <a:solidFill>
                  <a:schemeClr val="tx2"/>
                </a:solidFill>
              </a:rPr>
              <a:t>sortare</a:t>
            </a:r>
            <a:endParaRPr lang="ro-RO" sz="2000" dirty="0">
              <a:solidFill>
                <a:schemeClr val="tx2"/>
              </a:solidFill>
            </a:endParaRPr>
          </a:p>
        </p:txBody>
      </p:sp>
      <p:pic>
        <p:nvPicPr>
          <p:cNvPr id="4" name="Picture 5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752599" cy="98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http://bis.econ.ubbcluj.ro/website/templates/bistemplate/images/sigla_fsega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570" y="0"/>
            <a:ext cx="977030" cy="97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http://bis.econ.ubbcluj.ro/website/templates/bistemplate/images/sigla_ubb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0"/>
            <a:ext cx="914399" cy="9144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3048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- 21 Noiembrie 2022</a:t>
            </a:r>
            <a:endParaRPr lang="en-GB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14400"/>
          </a:xfrm>
        </p:spPr>
        <p:txBody>
          <a:bodyPr/>
          <a:lstStyle/>
          <a:p>
            <a:pPr eaLnBrk="1" hangingPunct="1"/>
            <a:r>
              <a:rPr lang="ro-RO" sz="3200"/>
              <a:t>Cuprins</a:t>
            </a:r>
            <a:endParaRPr lang="en-GB" sz="3200"/>
          </a:p>
        </p:txBody>
      </p:sp>
      <p:sp>
        <p:nvSpPr>
          <p:cNvPr id="717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9248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 err="1"/>
              <a:t>Mergesort</a:t>
            </a: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Quicksort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Heapsort</a:t>
            </a:r>
            <a:endParaRPr lang="ro-RO" sz="2000" dirty="0"/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lvl="1" eaLnBrk="1" hangingPunct="1">
              <a:lnSpc>
                <a:spcPct val="90000"/>
              </a:lnSpc>
            </a:pPr>
            <a:endParaRPr lang="ro-RO" sz="1600" dirty="0"/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sz="2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</a:t>
            </a:r>
            <a:r>
              <a:rPr lang="ro-RO" sz="3200" dirty="0" err="1"/>
              <a:t>ivide-and-conquer</a:t>
            </a:r>
            <a:endParaRPr lang="ro-RO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r>
              <a:rPr lang="ro-RO" sz="1800" i="1" dirty="0"/>
              <a:t>Abordare divide-and-conquer</a:t>
            </a:r>
            <a:r>
              <a:rPr lang="en-US" sz="1800" i="1" dirty="0"/>
              <a:t> (divide et </a:t>
            </a:r>
            <a:r>
              <a:rPr lang="en-US" sz="1800" i="1" dirty="0" err="1"/>
              <a:t>impera</a:t>
            </a:r>
            <a:r>
              <a:rPr lang="en-US" sz="1800" i="1" dirty="0"/>
              <a:t>)</a:t>
            </a:r>
            <a:r>
              <a:rPr lang="ro-RO" sz="1800" dirty="0"/>
              <a:t>: </a:t>
            </a:r>
          </a:p>
          <a:p>
            <a:pPr lvl="1"/>
            <a:r>
              <a:rPr lang="ro-RO" sz="1600" dirty="0"/>
              <a:t>problema initială se sparge in subprobleme cu structură similară cu problema originală, dar de dimeniune mai mică. </a:t>
            </a:r>
          </a:p>
          <a:p>
            <a:pPr lvl="1"/>
            <a:r>
              <a:rPr lang="ro-RO" sz="1600" dirty="0"/>
              <a:t>aceste subprobleme sunt rezolvate recursiv </a:t>
            </a:r>
          </a:p>
          <a:p>
            <a:pPr lvl="1"/>
            <a:r>
              <a:rPr lang="ro-RO" sz="1600" dirty="0"/>
              <a:t>solutiile recursive sunt combinate pentru a produce solutia problemei initiale</a:t>
            </a:r>
          </a:p>
          <a:p>
            <a:endParaRPr lang="ro-RO" sz="1800" dirty="0"/>
          </a:p>
          <a:p>
            <a:r>
              <a:rPr lang="ro-RO" sz="1800" dirty="0"/>
              <a:t>Metoda se poate aplica în rezolvarea unei probleme care îndeplineşte următoarele </a:t>
            </a:r>
            <a:r>
              <a:rPr lang="ro-RO" sz="1800" i="1" dirty="0"/>
              <a:t>condiţii</a:t>
            </a:r>
            <a:r>
              <a:rPr lang="ro-RO" sz="1800" dirty="0"/>
              <a:t>:</a:t>
            </a:r>
            <a:endParaRPr lang="en-US" sz="1800" dirty="0"/>
          </a:p>
          <a:p>
            <a:pPr lvl="1"/>
            <a:r>
              <a:rPr lang="fr-FR" sz="1400" dirty="0"/>
              <a:t>se </a:t>
            </a:r>
            <a:r>
              <a:rPr lang="fr-FR" sz="1400" dirty="0" err="1"/>
              <a:t>poate</a:t>
            </a:r>
            <a:r>
              <a:rPr lang="fr-FR" sz="1400" dirty="0"/>
              <a:t> </a:t>
            </a:r>
            <a:r>
              <a:rPr lang="fr-FR" sz="1400" dirty="0" err="1"/>
              <a:t>descompune</a:t>
            </a:r>
            <a:r>
              <a:rPr lang="fr-FR" sz="1400" dirty="0"/>
              <a:t> </a:t>
            </a:r>
            <a:r>
              <a:rPr lang="fr-FR" sz="1400" dirty="0" err="1"/>
              <a:t>în</a:t>
            </a:r>
            <a:r>
              <a:rPr lang="fr-FR" sz="1400" dirty="0"/>
              <a:t> </a:t>
            </a:r>
            <a:r>
              <a:rPr lang="fr-FR" sz="1400" dirty="0" err="1"/>
              <a:t>două</a:t>
            </a:r>
            <a:r>
              <a:rPr lang="fr-FR" sz="1400" dirty="0"/>
              <a:t> </a:t>
            </a:r>
            <a:r>
              <a:rPr lang="fr-FR" sz="1400" dirty="0" err="1"/>
              <a:t>sau</a:t>
            </a:r>
            <a:r>
              <a:rPr lang="fr-FR" sz="1400" dirty="0"/>
              <a:t> mai </a:t>
            </a:r>
            <a:r>
              <a:rPr lang="fr-FR" sz="1400" dirty="0" err="1"/>
              <a:t>multe</a:t>
            </a:r>
            <a:r>
              <a:rPr lang="fr-FR" sz="1400" dirty="0"/>
              <a:t> </a:t>
            </a:r>
            <a:r>
              <a:rPr lang="fr-FR" sz="1400" dirty="0" err="1"/>
              <a:t>subprobleme</a:t>
            </a:r>
            <a:r>
              <a:rPr lang="fr-FR" sz="1400" dirty="0"/>
              <a:t> </a:t>
            </a:r>
          </a:p>
          <a:p>
            <a:pPr lvl="1"/>
            <a:r>
              <a:rPr lang="fr-FR" sz="1400" dirty="0" err="1"/>
              <a:t>aceste</a:t>
            </a:r>
            <a:r>
              <a:rPr lang="fr-FR" sz="1400" dirty="0"/>
              <a:t> </a:t>
            </a:r>
            <a:r>
              <a:rPr lang="fr-FR" sz="1400" dirty="0" err="1"/>
              <a:t>suprobleme</a:t>
            </a:r>
            <a:r>
              <a:rPr lang="fr-FR" sz="1400" dirty="0"/>
              <a:t> </a:t>
            </a:r>
            <a:r>
              <a:rPr lang="fr-FR" sz="1400" i="1" dirty="0"/>
              <a:t>se </a:t>
            </a:r>
            <a:r>
              <a:rPr lang="fr-FR" sz="1400" i="1" dirty="0" err="1"/>
              <a:t>rezolva</a:t>
            </a:r>
            <a:r>
              <a:rPr lang="fr-FR" sz="1400" i="1" dirty="0"/>
              <a:t> </a:t>
            </a:r>
            <a:r>
              <a:rPr lang="fr-FR" sz="1400" i="1" dirty="0" err="1"/>
              <a:t>independent</a:t>
            </a:r>
            <a:r>
              <a:rPr lang="fr-FR" sz="1400" dirty="0"/>
              <a:t> </a:t>
            </a:r>
            <a:r>
              <a:rPr lang="fr-FR" sz="1400" dirty="0" err="1"/>
              <a:t>una</a:t>
            </a:r>
            <a:r>
              <a:rPr lang="fr-FR" sz="1400" dirty="0"/>
              <a:t> </a:t>
            </a:r>
            <a:r>
              <a:rPr lang="fr-FR" sz="1400" dirty="0" err="1"/>
              <a:t>faţă</a:t>
            </a:r>
            <a:r>
              <a:rPr lang="fr-FR" sz="1400" dirty="0"/>
              <a:t> de </a:t>
            </a:r>
            <a:r>
              <a:rPr lang="fr-FR" sz="1400" dirty="0" err="1"/>
              <a:t>alta</a:t>
            </a:r>
            <a:r>
              <a:rPr lang="fr-FR" sz="1400" dirty="0"/>
              <a:t> (o </a:t>
            </a:r>
            <a:r>
              <a:rPr lang="fr-FR" sz="1400" dirty="0" err="1"/>
              <a:t>subproblemă</a:t>
            </a:r>
            <a:r>
              <a:rPr lang="fr-FR" sz="1400" dirty="0"/>
              <a:t> nu se </a:t>
            </a:r>
            <a:r>
              <a:rPr lang="fr-FR" sz="1400" dirty="0" err="1"/>
              <a:t>rezolvă</a:t>
            </a:r>
            <a:r>
              <a:rPr lang="fr-FR" sz="1400" dirty="0"/>
              <a:t> </a:t>
            </a:r>
            <a:r>
              <a:rPr lang="fr-FR" sz="1400" dirty="0" err="1"/>
              <a:t>pe</a:t>
            </a:r>
            <a:r>
              <a:rPr lang="fr-FR" sz="1400" dirty="0"/>
              <a:t> </a:t>
            </a:r>
            <a:r>
              <a:rPr lang="fr-FR" sz="1400" dirty="0" err="1"/>
              <a:t>baza</a:t>
            </a:r>
            <a:r>
              <a:rPr lang="fr-FR" sz="1400" dirty="0"/>
              <a:t> </a:t>
            </a:r>
            <a:r>
              <a:rPr lang="fr-FR" sz="1400" dirty="0" err="1"/>
              <a:t>alteia</a:t>
            </a:r>
            <a:r>
              <a:rPr lang="fr-FR" sz="1400" dirty="0"/>
              <a:t> </a:t>
            </a:r>
            <a:r>
              <a:rPr lang="fr-FR" sz="1400" dirty="0" err="1"/>
              <a:t>şi</a:t>
            </a:r>
            <a:r>
              <a:rPr lang="fr-FR" sz="1400" dirty="0"/>
              <a:t> nu </a:t>
            </a:r>
            <a:r>
              <a:rPr lang="fr-FR" sz="1400" dirty="0" err="1"/>
              <a:t>foloseşte</a:t>
            </a:r>
            <a:r>
              <a:rPr lang="fr-FR" sz="1400" dirty="0"/>
              <a:t> </a:t>
            </a:r>
            <a:r>
              <a:rPr lang="fr-FR" sz="1400" dirty="0" err="1"/>
              <a:t>rezultatele</a:t>
            </a:r>
            <a:r>
              <a:rPr lang="fr-FR" sz="1400" dirty="0"/>
              <a:t> </a:t>
            </a:r>
            <a:r>
              <a:rPr lang="fr-FR" sz="1400" dirty="0" err="1"/>
              <a:t>celeilalte</a:t>
            </a:r>
            <a:r>
              <a:rPr lang="fr-FR" sz="1400" dirty="0"/>
              <a:t>)</a:t>
            </a:r>
          </a:p>
          <a:p>
            <a:pPr lvl="1"/>
            <a:r>
              <a:rPr lang="fr-FR" sz="1400" dirty="0"/>
              <a:t>a</a:t>
            </a:r>
            <a:r>
              <a:rPr lang="ro-RO" sz="1400" dirty="0"/>
              <a:t>ceste subprobleme sunt similare cu problema iniţială</a:t>
            </a:r>
            <a:endParaRPr lang="en-US" sz="1400" dirty="0"/>
          </a:p>
          <a:p>
            <a:pPr lvl="1"/>
            <a:r>
              <a:rPr lang="ro-RO" sz="1400" dirty="0"/>
              <a:t>la rândul lor subproblemele se pot descompune (dacă este necesar) în alte subprobleme mai simple</a:t>
            </a:r>
            <a:endParaRPr lang="en-US" sz="1400" dirty="0"/>
          </a:p>
          <a:p>
            <a:pPr lvl="1"/>
            <a:r>
              <a:rPr lang="ro-RO" sz="1400" dirty="0"/>
              <a:t>aceste subprobleme simple se pot soluţiona imediat prin algoritmul simplificat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126726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Sortare prin interclasare</a:t>
            </a:r>
            <a:r>
              <a:rPr lang="en-US" sz="3200" dirty="0"/>
              <a:t> (Merge Sort)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r>
                  <a:rPr lang="ro-RO" sz="1800" dirty="0"/>
                  <a:t>Divide: sirul A de n elemente se imparte in 2 subsiruri de n/2 elemente</a:t>
                </a:r>
              </a:p>
              <a:p>
                <a:r>
                  <a:rPr lang="ro-RO" sz="1800" dirty="0"/>
                  <a:t>Conquer: se sortează recursiv cele 2 subsiruri</a:t>
                </a:r>
              </a:p>
              <a:p>
                <a:r>
                  <a:rPr lang="ro-RO" sz="1800" dirty="0"/>
                  <a:t>Combine: se combină prin interclasare cele 2 siruri sortate obtinute la pasul conquer</a:t>
                </a:r>
              </a:p>
              <a:p>
                <a:endParaRPr lang="ro-RO" sz="1800" dirty="0"/>
              </a:p>
              <a:p>
                <a:r>
                  <a:rPr lang="ro-RO" sz="1800" dirty="0"/>
                  <a:t>Recursivitatea se incheie la sirurile de lungime 1, care implicit sunt deja sortate</a:t>
                </a:r>
              </a:p>
              <a:p>
                <a:endParaRPr lang="ro-RO" sz="1800" dirty="0"/>
              </a:p>
              <a:p>
                <a:r>
                  <a:rPr lang="ro-RO" sz="1800" dirty="0"/>
                  <a:t>Merge(A, p, q, r): interclasarea subsirurilor sortate A</a:t>
                </a:r>
                <a:r>
                  <a:rPr lang="en-US" sz="1800" dirty="0"/>
                  <a:t>[</a:t>
                </a:r>
                <a:r>
                  <a:rPr lang="en-US" sz="1800" dirty="0" err="1"/>
                  <a:t>p,q</a:t>
                </a:r>
                <a:r>
                  <a:rPr lang="en-US" sz="1800" dirty="0"/>
                  <a:t>] </a:t>
                </a:r>
                <a:r>
                  <a:rPr lang="ro-RO" sz="1800" dirty="0"/>
                  <a:t>și A</a:t>
                </a:r>
                <a:r>
                  <a:rPr lang="en-US" sz="1800" dirty="0"/>
                  <a:t>[q+1, r]</a:t>
                </a:r>
              </a:p>
              <a:p>
                <a:r>
                  <a:rPr lang="en-US" sz="1800" dirty="0" err="1"/>
                  <a:t>Complexitatea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procedurii</a:t>
                </a:r>
                <a:r>
                  <a:rPr lang="en-US" sz="1800" dirty="0"/>
                  <a:t> Merge: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smtClean="0">
                        <a:latin typeface="Cambria Math"/>
                      </a:rPr>
                      <m:t>Θ</m:t>
                    </m:r>
                    <m:r>
                      <a:rPr lang="en-US" sz="1800" b="0" i="1" smtClean="0">
                        <a:latin typeface="Cambria Math"/>
                      </a:rPr>
                      <m:t>(</m:t>
                    </m:r>
                    <m:r>
                      <a:rPr lang="en-US" sz="1800" b="0" i="1" smtClean="0">
                        <a:latin typeface="Cambria Math"/>
                      </a:rPr>
                      <m:t>𝑛</m:t>
                    </m:r>
                    <m:r>
                      <a:rPr lang="en-US" sz="18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, </a:t>
                </a:r>
                <a:r>
                  <a:rPr lang="en-US" sz="1800" dirty="0" err="1"/>
                  <a:t>unde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𝑛</m:t>
                    </m:r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r>
                      <a:rPr lang="en-US" sz="1800" b="0" i="1" smtClean="0">
                        <a:latin typeface="Cambria Math"/>
                      </a:rPr>
                      <m:t>𝑟</m:t>
                    </m:r>
                    <m:r>
                      <a:rPr lang="en-US" sz="1800" b="0" i="1" smtClean="0">
                        <a:latin typeface="Cambria Math"/>
                      </a:rPr>
                      <m:t>−</m:t>
                    </m:r>
                    <m:r>
                      <a:rPr lang="en-US" sz="1800" b="0" i="1" smtClean="0">
                        <a:latin typeface="Cambria Math"/>
                      </a:rPr>
                      <m:t>𝑝</m:t>
                    </m:r>
                    <m:r>
                      <a:rPr lang="en-US" sz="1800" b="0" i="1" smtClean="0">
                        <a:latin typeface="Cambria Math"/>
                      </a:rPr>
                      <m:t>+1</m:t>
                    </m:r>
                  </m:oMath>
                </a14:m>
                <a:endParaRPr lang="en-US" sz="1800" i="1" dirty="0"/>
              </a:p>
              <a:p>
                <a:endParaRPr lang="ro-RO" sz="18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0">
                <a:blip r:embed="rId2"/>
                <a:stretch>
                  <a:fillRect t="-741" r="-109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2709323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Sortare prin interclasare</a:t>
            </a:r>
            <a:r>
              <a:rPr lang="en-US" sz="3200" dirty="0"/>
              <a:t> (Merge Sort)</a:t>
            </a:r>
            <a:endParaRPr lang="ro-RO" sz="3200" dirty="0"/>
          </a:p>
        </p:txBody>
      </p:sp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4033" name="Object 1"/>
          <p:cNvGraphicFramePr>
            <a:graphicFrameLocks noChangeAspect="1"/>
          </p:cNvGraphicFramePr>
          <p:nvPr/>
        </p:nvGraphicFramePr>
        <p:xfrm>
          <a:off x="2000232" y="1857364"/>
          <a:ext cx="5516164" cy="4429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630486" imgH="3712711" progId="">
                  <p:embed/>
                </p:oleObj>
              </mc:Choice>
              <mc:Fallback>
                <p:oleObj r:id="rId3" imgW="4630486" imgH="371271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32" y="1857364"/>
                        <a:ext cx="5516164" cy="44291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3248000" cy="457200"/>
          </a:xfrm>
        </p:spPr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0874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Procedura</a:t>
            </a:r>
            <a:r>
              <a:rPr lang="en-US" sz="3200" dirty="0"/>
              <a:t> de </a:t>
            </a:r>
            <a:r>
              <a:rPr lang="en-US" sz="3200" dirty="0" err="1"/>
              <a:t>interclasare</a:t>
            </a:r>
            <a:endParaRPr lang="ro-RO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791200" y="1524000"/>
            <a:ext cx="3048000" cy="41148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Loop invariant</a:t>
            </a:r>
          </a:p>
          <a:p>
            <a:r>
              <a:rPr lang="en-US" sz="1800" dirty="0"/>
              <a:t>La </a:t>
            </a:r>
            <a:r>
              <a:rPr lang="en-US" sz="1800" dirty="0" err="1"/>
              <a:t>inceputul</a:t>
            </a:r>
            <a:r>
              <a:rPr lang="en-US" sz="1800" dirty="0"/>
              <a:t> </a:t>
            </a:r>
            <a:r>
              <a:rPr lang="en-US" sz="1800" dirty="0" err="1"/>
              <a:t>buclei</a:t>
            </a:r>
            <a:r>
              <a:rPr lang="en-US" sz="1800" dirty="0"/>
              <a:t> for din </a:t>
            </a:r>
            <a:r>
              <a:rPr lang="en-US" sz="1800" dirty="0" err="1"/>
              <a:t>linia</a:t>
            </a:r>
            <a:r>
              <a:rPr lang="en-US" sz="1800" dirty="0"/>
              <a:t> 12 a</a:t>
            </a:r>
            <a:r>
              <a:rPr lang="ro-RO" sz="1800" dirty="0"/>
              <a:t>u simultan loc următoarele condiții:</a:t>
            </a:r>
          </a:p>
          <a:p>
            <a:pPr>
              <a:buAutoNum type="arabicPeriod"/>
            </a:pPr>
            <a:r>
              <a:rPr lang="ro-RO" sz="1800" dirty="0"/>
              <a:t>A</a:t>
            </a:r>
            <a:r>
              <a:rPr lang="en-US" sz="1800" dirty="0"/>
              <a:t>[p..k-1] con</a:t>
            </a:r>
            <a:r>
              <a:rPr lang="ro-RO" sz="1800" dirty="0"/>
              <a:t>ține k-p cele mai mici elemente din L și R</a:t>
            </a:r>
          </a:p>
          <a:p>
            <a:pPr>
              <a:buAutoNum type="arabicPeriod"/>
            </a:pPr>
            <a:r>
              <a:rPr lang="ro-RO" sz="1800" dirty="0"/>
              <a:t>L</a:t>
            </a:r>
            <a:r>
              <a:rPr lang="en-US" sz="1800" dirty="0"/>
              <a:t>[</a:t>
            </a:r>
            <a:r>
              <a:rPr lang="en-US" sz="1800" dirty="0" err="1"/>
              <a:t>i</a:t>
            </a:r>
            <a:r>
              <a:rPr lang="en-US" sz="1800" dirty="0"/>
              <a:t>] </a:t>
            </a:r>
            <a:r>
              <a:rPr lang="ro-RO" sz="1800" dirty="0"/>
              <a:t>și R</a:t>
            </a:r>
            <a:r>
              <a:rPr lang="en-US" sz="1800" dirty="0"/>
              <a:t>[j] </a:t>
            </a:r>
            <a:r>
              <a:rPr lang="en-US" sz="1800" dirty="0" err="1"/>
              <a:t>sunt</a:t>
            </a:r>
            <a:r>
              <a:rPr lang="en-US" sz="1800" dirty="0"/>
              <a:t> </a:t>
            </a:r>
            <a:r>
              <a:rPr lang="en-US" sz="1800" dirty="0" err="1"/>
              <a:t>cele</a:t>
            </a:r>
            <a:r>
              <a:rPr lang="en-US" sz="1800" dirty="0"/>
              <a:t> </a:t>
            </a:r>
            <a:r>
              <a:rPr lang="en-US" sz="1800" dirty="0" err="1"/>
              <a:t>mai</a:t>
            </a:r>
            <a:r>
              <a:rPr lang="en-US" sz="1800" dirty="0"/>
              <a:t> </a:t>
            </a:r>
            <a:r>
              <a:rPr lang="en-US" sz="1800" dirty="0" err="1"/>
              <a:t>mici</a:t>
            </a:r>
            <a:r>
              <a:rPr lang="en-US" sz="1800" dirty="0"/>
              <a:t> </a:t>
            </a:r>
            <a:r>
              <a:rPr lang="en-US" sz="1800" dirty="0" err="1"/>
              <a:t>elemente</a:t>
            </a:r>
            <a:r>
              <a:rPr lang="en-US" sz="1800" dirty="0"/>
              <a:t> din L </a:t>
            </a:r>
            <a:r>
              <a:rPr lang="ro-RO" sz="1800" dirty="0"/>
              <a:t>și R </a:t>
            </a:r>
            <a:endParaRPr lang="en-US" sz="1800" dirty="0"/>
          </a:p>
          <a:p>
            <a:pPr marL="0" indent="0">
              <a:buNone/>
            </a:pPr>
            <a:endParaRPr lang="ro-RO" sz="1800" b="1" dirty="0"/>
          </a:p>
        </p:txBody>
      </p:sp>
      <p:pic>
        <p:nvPicPr>
          <p:cNvPr id="4098" name="Picture 2" descr="http://highered.mcgraw-hill.com/sites/dl/free/0070131511/25317/merge_sor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51054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674029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4203"/>
            <a:ext cx="9144000" cy="442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81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Sortare prin interclasare - pseudocod</a:t>
            </a:r>
          </a:p>
        </p:txBody>
      </p:sp>
      <p:pic>
        <p:nvPicPr>
          <p:cNvPr id="5122" name="Picture 2" descr="http://highered.mcgraw-hill.com/sites/dl/free/0070131511/25317/merge_sort_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4588385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314707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Complexitatea algoritmilor </a:t>
            </a:r>
            <a:br>
              <a:rPr lang="ro-RO" sz="3200" dirty="0"/>
            </a:br>
            <a:r>
              <a:rPr lang="ro-RO" sz="3200" dirty="0"/>
              <a:t>divide-and-conquer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r>
                  <a:rPr lang="ro-RO" sz="1800" dirty="0"/>
                  <a:t>Problema de dimensiune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ro-RO" sz="1800" dirty="0"/>
                  <a:t> se imparte in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ro-RO" sz="1800" dirty="0"/>
                  <a:t> subprobleme de dimensiune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1/</m:t>
                    </m:r>
                    <m:r>
                      <a:rPr lang="ro-RO" sz="1800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ro-RO" sz="1800" dirty="0"/>
                  <a:t> din problema originală</a:t>
                </a:r>
              </a:p>
              <a:p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𝐷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r>
                      <a:rPr lang="ro-RO" sz="1800" b="0" i="1" smtClean="0">
                        <a:latin typeface="Cambria Math"/>
                      </a:rPr>
                      <m:t>𝑛</m:t>
                    </m:r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800" dirty="0"/>
                  <a:t> – timpul de execuție necesar pentru pasul </a:t>
                </a:r>
                <a:r>
                  <a:rPr lang="ro-RO" sz="1800" i="1" dirty="0"/>
                  <a:t>divide</a:t>
                </a:r>
              </a:p>
              <a:p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𝐶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r>
                      <a:rPr lang="ro-RO" sz="1800" b="0" i="1" smtClean="0">
                        <a:latin typeface="Cambria Math"/>
                      </a:rPr>
                      <m:t>𝑛</m:t>
                    </m:r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800" dirty="0"/>
                  <a:t> – timpul de execuție necesar pentru pasul </a:t>
                </a:r>
                <a:r>
                  <a:rPr lang="ro-RO" sz="1800" i="1" dirty="0"/>
                  <a:t>combine</a:t>
                </a:r>
              </a:p>
              <a:p>
                <a:endParaRPr lang="ro-RO" sz="1800" dirty="0"/>
              </a:p>
              <a:p>
                <a:pPr marL="0" indent="0">
                  <a:buNone/>
                </a:pPr>
                <a:r>
                  <a:rPr lang="ro-RO" sz="1800" dirty="0"/>
                  <a:t>Pentru a calcula T(n) se rezolvă recurența de mai jos:</a:t>
                </a:r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o-RO" sz="1800" b="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ro-R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ro-RO" sz="1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o-RO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o-RO" sz="1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l-GR" sz="1800" i="1" smtClean="0">
                                  <a:latin typeface="Cambria Math"/>
                                </a:rPr>
                                <m:t>Θ</m:t>
                              </m:r>
                              <m:d>
                                <m:dPr>
                                  <m:ctrlPr>
                                    <a:rPr lang="ro-RO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b="0" i="1" smtClean="0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ro-RO" sz="1800" b="0" i="1" smtClean="0">
                                  <a:latin typeface="Cambria Math"/>
                                </a:rPr>
                                <m:t>,  </m:t>
                              </m:r>
                              <m:r>
                                <a:rPr lang="ro-RO" sz="1800" b="0" i="1" smtClean="0">
                                  <a:latin typeface="Cambria Math"/>
                                </a:rPr>
                                <m:t>𝑑𝑎𝑐</m:t>
                              </m:r>
                              <m:r>
                                <a:rPr lang="ro-RO" sz="1800" b="0" i="1" smtClean="0">
                                  <a:latin typeface="Cambria Math"/>
                                </a:rPr>
                                <m:t>ă </m:t>
                              </m:r>
                              <m:r>
                                <a:rPr lang="ro-RO" sz="18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ro-RO" sz="1800" b="0" i="1" smtClean="0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ro-RO" sz="1800" b="0" i="1" smtClean="0">
                                  <a:latin typeface="Cambria Math"/>
                                  <a:ea typeface="Cambria Math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ro-RO" sz="1800" b="0" i="1" smtClean="0">
                                  <a:latin typeface="Cambria Math"/>
                                </a:rPr>
                                <m:t>𝑎𝑇</m:t>
                              </m:r>
                              <m:d>
                                <m:dPr>
                                  <m:ctrlPr>
                                    <a:rPr lang="ro-RO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o-RO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o-RO" sz="1800" b="0" i="1" smtClean="0">
                                          <a:latin typeface="Cambria Math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ro-RO" sz="1800" b="0" i="1" smtClean="0">
                                          <a:latin typeface="Cambria Math"/>
                                        </a:rPr>
                                        <m:t>𝑏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ro-RO" sz="18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ro-RO" sz="1800" b="0" i="1" smtClean="0">
                                  <a:latin typeface="Cambria Math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ro-RO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b="0" i="1" smtClean="0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ro-RO" sz="18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ro-RO" sz="1800" b="0" i="1" smtClean="0">
                                  <a:latin typeface="Cambria Math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ro-RO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b="0" i="1" smtClean="0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ro-RO" sz="1800" b="0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ro-RO" sz="1800" b="0" i="1" smtClean="0">
                                  <a:latin typeface="Cambria Math"/>
                                </a:rPr>
                                <m:t>𝑖𝑛</m:t>
                              </m:r>
                              <m:r>
                                <a:rPr lang="ro-RO" sz="18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ro-RO" sz="1800" b="0" i="1" smtClean="0">
                                  <a:latin typeface="Cambria Math"/>
                                </a:rPr>
                                <m:t>𝑐𝑎𝑧</m:t>
                              </m:r>
                              <m:r>
                                <a:rPr lang="ro-RO" sz="18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ro-RO" sz="1800" b="0" i="1" smtClean="0">
                                  <a:latin typeface="Cambria Math"/>
                                </a:rPr>
                                <m:t>𝑐𝑜𝑛𝑡𝑟𝑎𝑟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o-RO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1">
                <a:blip r:embed="rId2"/>
                <a:stretch>
                  <a:fillRect l="-627" t="-741" r="-86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2402780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Complexitatea sortarii prin interclasare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r>
                  <a:rPr lang="ro-RO" sz="1800" dirty="0"/>
                  <a:t>Pasul </a:t>
                </a:r>
                <a:r>
                  <a:rPr lang="ro-RO" sz="1800" i="1" dirty="0"/>
                  <a:t>divide</a:t>
                </a:r>
                <a:r>
                  <a:rPr lang="ro-RO" sz="1800" dirty="0"/>
                  <a:t>: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𝐷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=1</m:t>
                    </m:r>
                  </m:oMath>
                </a14:m>
                <a:endParaRPr lang="ro-RO" sz="1800" dirty="0"/>
              </a:p>
              <a:p>
                <a:r>
                  <a:rPr lang="ro-RO" sz="1800" dirty="0"/>
                  <a:t>Pasul </a:t>
                </a:r>
                <a:r>
                  <a:rPr lang="ro-RO" sz="1800" i="1" dirty="0"/>
                  <a:t>combine</a:t>
                </a:r>
                <a:r>
                  <a:rPr lang="ro-RO" sz="1800" dirty="0"/>
                  <a:t>: procedura Merge: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sz="1800" b="0" i="1" smtClean="0">
                        <a:latin typeface="Cambria Math"/>
                      </a:rPr>
                      <m:t>Θ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r>
                      <a:rPr lang="ro-RO" sz="1800" b="0" i="1" smtClean="0">
                        <a:latin typeface="Cambria Math"/>
                      </a:rPr>
                      <m:t>𝑛</m:t>
                    </m:r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800" dirty="0"/>
              </a:p>
              <a:p>
                <a:r>
                  <a:rPr lang="ro-RO" sz="1800" dirty="0"/>
                  <a:t>Pasul </a:t>
                </a:r>
                <a:r>
                  <a:rPr lang="ro-RO" sz="1800" i="1" dirty="0"/>
                  <a:t>conquer</a:t>
                </a:r>
                <a:r>
                  <a:rPr lang="ro-RO" sz="1800" dirty="0"/>
                  <a:t>: problema se imparte in 2 subprobleme de mărime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𝑛</m:t>
                    </m:r>
                    <m:r>
                      <a:rPr lang="ro-RO" sz="1800" b="0" i="1" smtClean="0">
                        <a:latin typeface="Cambria Math"/>
                      </a:rPr>
                      <m:t>/2</m:t>
                    </m:r>
                  </m:oMath>
                </a14:m>
                <a:r>
                  <a:rPr lang="ro-RO" sz="1800" dirty="0"/>
                  <a:t>, deci acestea contribuie cu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2</m:t>
                    </m:r>
                    <m:r>
                      <a:rPr lang="ro-RO" sz="1800" b="0" i="1" smtClean="0">
                        <a:latin typeface="Cambria Math"/>
                      </a:rPr>
                      <m:t>𝑇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f>
                      <m:f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num>
                      <m:den>
                        <m:r>
                          <a:rPr lang="ro-RO" sz="1800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800" dirty="0"/>
              </a:p>
              <a:p>
                <a:endParaRPr lang="ro-RO" sz="1800" dirty="0"/>
              </a:p>
              <a:p>
                <a:pPr marL="0" indent="0">
                  <a:buNone/>
                </a:pPr>
                <a:r>
                  <a:rPr lang="ro-RO" sz="1800" dirty="0"/>
                  <a:t>Trebuie rezolvată recurența: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o-RO" sz="1800" b="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ro-R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ro-RO" sz="1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o-R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o-R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l-GR" sz="1800" b="0" i="1" smtClean="0">
                                    <a:latin typeface="Cambria Math"/>
                                  </a:rPr>
                                  <m:t>Θ</m:t>
                                </m:r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(1)</m:t>
                                </m:r>
                              </m:e>
                              <m:e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𝑑𝑎𝑐</m:t>
                                </m:r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ă </m:t>
                                </m:r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ro-RO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ro-RO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o-RO" sz="1800" b="0" i="1" smtClean="0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ro-RO" sz="1800" b="0" i="1" smtClean="0">
                                            <a:latin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1800" b="0" i="1" smtClean="0">
                                    <a:latin typeface="Cambria Math"/>
                                  </a:rPr>
                                  <m:t>Θ</m:t>
                                </m:r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𝑑𝑎𝑐</m:t>
                                </m:r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ă </m:t>
                                </m:r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ro-RO" sz="1800" b="0" i="1" smtClean="0">
                                    <a:latin typeface="Cambria Math"/>
                                    <a:ea typeface="Cambria Math"/>
                                  </a:rPr>
                                  <m:t>&gt;1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o-RO" sz="1800" dirty="0"/>
              </a:p>
              <a:p>
                <a:pPr marL="0" indent="0">
                  <a:buNone/>
                </a:pPr>
                <a:r>
                  <a:rPr lang="ro-RO" sz="1800" dirty="0"/>
                  <a:t>Rezultă: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o-RO" sz="1800" b="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ro-R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ro-RO" sz="1800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1800" b="0" i="1" smtClean="0">
                          <a:latin typeface="Cambria Math"/>
                        </a:rPr>
                        <m:t>Θ</m:t>
                      </m:r>
                      <m:r>
                        <a:rPr lang="ro-RO" sz="1800" b="0" i="1" smtClean="0">
                          <a:latin typeface="Cambria Math"/>
                        </a:rPr>
                        <m:t>(</m:t>
                      </m:r>
                      <m:r>
                        <a:rPr lang="ro-RO" sz="1800" b="0" i="1" smtClean="0">
                          <a:latin typeface="Cambria Math"/>
                        </a:rPr>
                        <m:t>𝑛</m:t>
                      </m:r>
                      <m:sSub>
                        <m:sSubPr>
                          <m:ctrlPr>
                            <a:rPr lang="ro-RO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b="0" i="1" smtClean="0">
                              <a:latin typeface="Cambria Math"/>
                            </a:rPr>
                            <m:t>𝑙𝑜𝑔</m:t>
                          </m:r>
                        </m:e>
                        <m:sub>
                          <m:r>
                            <a:rPr lang="ro-RO" sz="1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ro-RO" sz="1800" b="0" i="1" smtClean="0">
                          <a:latin typeface="Cambria Math"/>
                        </a:rPr>
                        <m:t>𝑛</m:t>
                      </m:r>
                      <m:r>
                        <a:rPr lang="ro-RO" sz="18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ro-RO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1">
                <a:blip r:embed="rId2"/>
                <a:stretch>
                  <a:fillRect l="-627" t="-741" r="-15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1820492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664" y="148305"/>
            <a:ext cx="4968671" cy="656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88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Quicksort</a:t>
            </a:r>
            <a:endParaRPr lang="ro-RO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524000"/>
            <a:ext cx="8239991" cy="2057400"/>
          </a:xfrm>
        </p:spPr>
        <p:txBody>
          <a:bodyPr/>
          <a:lstStyle/>
          <a:p>
            <a:r>
              <a:rPr lang="en-US" sz="1600" dirty="0" err="1"/>
              <a:t>Abordare</a:t>
            </a:r>
            <a:r>
              <a:rPr lang="en-US" sz="1600" dirty="0"/>
              <a:t> de tip divide-and-conquer</a:t>
            </a:r>
          </a:p>
          <a:p>
            <a:pPr marL="0" indent="0">
              <a:buNone/>
            </a:pPr>
            <a:r>
              <a:rPr lang="en-US" sz="1600" b="1" dirty="0"/>
              <a:t>Divide:</a:t>
            </a:r>
            <a:r>
              <a:rPr lang="en-US" sz="1600" dirty="0"/>
              <a:t> se </a:t>
            </a:r>
            <a:r>
              <a:rPr lang="en-US" sz="1600" dirty="0" err="1"/>
              <a:t>partitioneaz</a:t>
            </a:r>
            <a:r>
              <a:rPr lang="ro-RO" sz="1600" dirty="0"/>
              <a:t>ă șirul A</a:t>
            </a:r>
            <a:r>
              <a:rPr lang="en-US" sz="1600" dirty="0"/>
              <a:t>[p...r] in 2 </a:t>
            </a:r>
            <a:r>
              <a:rPr lang="en-US" sz="1600" dirty="0" err="1"/>
              <a:t>subsiruri</a:t>
            </a:r>
            <a:r>
              <a:rPr lang="en-US" sz="1600" dirty="0"/>
              <a:t> A[p…q-1] </a:t>
            </a:r>
            <a:r>
              <a:rPr lang="en-US" sz="1600" dirty="0" err="1"/>
              <a:t>si</a:t>
            </a:r>
            <a:r>
              <a:rPr lang="en-US" sz="1600" dirty="0"/>
              <a:t> A[q+1…r] </a:t>
            </a:r>
            <a:r>
              <a:rPr lang="en-US" sz="1600" dirty="0" err="1"/>
              <a:t>astfel</a:t>
            </a:r>
            <a:r>
              <a:rPr lang="en-US" sz="1600" dirty="0"/>
              <a:t> </a:t>
            </a:r>
            <a:r>
              <a:rPr lang="en-US" sz="1600" dirty="0" err="1"/>
              <a:t>incat</a:t>
            </a:r>
            <a:r>
              <a:rPr lang="en-US" sz="1600" dirty="0"/>
              <a:t> </a:t>
            </a:r>
            <a:r>
              <a:rPr lang="en-US" sz="1600" dirty="0" err="1"/>
              <a:t>fiecare</a:t>
            </a:r>
            <a:r>
              <a:rPr lang="en-US" sz="1600" dirty="0"/>
              <a:t> element din </a:t>
            </a:r>
            <a:r>
              <a:rPr lang="en-US" sz="1600" dirty="0" err="1"/>
              <a:t>subsirul</a:t>
            </a:r>
            <a:r>
              <a:rPr lang="en-US" sz="1600" dirty="0"/>
              <a:t> A[p..q-1]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mai</a:t>
            </a:r>
            <a:r>
              <a:rPr lang="en-US" sz="1600" dirty="0"/>
              <a:t> </a:t>
            </a:r>
            <a:r>
              <a:rPr lang="en-US" sz="1600" dirty="0" err="1"/>
              <a:t>mic</a:t>
            </a:r>
            <a:r>
              <a:rPr lang="en-US" sz="1600" dirty="0"/>
              <a:t> </a:t>
            </a:r>
            <a:r>
              <a:rPr lang="en-US" sz="1600" dirty="0" err="1"/>
              <a:t>sau</a:t>
            </a:r>
            <a:r>
              <a:rPr lang="en-US" sz="1600" dirty="0"/>
              <a:t> </a:t>
            </a:r>
            <a:r>
              <a:rPr lang="en-US" sz="1600" dirty="0" err="1"/>
              <a:t>egal</a:t>
            </a:r>
            <a:r>
              <a:rPr lang="en-US" sz="1600" dirty="0"/>
              <a:t> cu A[q] </a:t>
            </a:r>
            <a:r>
              <a:rPr lang="en-US" sz="1600" dirty="0" err="1"/>
              <a:t>si</a:t>
            </a:r>
            <a:r>
              <a:rPr lang="en-US" sz="1600" dirty="0"/>
              <a:t> care la </a:t>
            </a:r>
            <a:r>
              <a:rPr lang="en-US" sz="1600" dirty="0" err="1"/>
              <a:t>randul</a:t>
            </a:r>
            <a:r>
              <a:rPr lang="en-US" sz="1600" dirty="0"/>
              <a:t> s</a:t>
            </a:r>
            <a:r>
              <a:rPr lang="ro-RO" sz="1600" dirty="0"/>
              <a:t>ău este mai mic sau egal decât fiecare element din subșirul A</a:t>
            </a:r>
            <a:r>
              <a:rPr lang="en-US" sz="1600" dirty="0"/>
              <a:t>[q+1..r]</a:t>
            </a:r>
          </a:p>
          <a:p>
            <a:pPr marL="0" indent="0">
              <a:buNone/>
            </a:pPr>
            <a:r>
              <a:rPr lang="en-US" sz="1600" b="1" dirty="0"/>
              <a:t>Conquer:</a:t>
            </a:r>
            <a:r>
              <a:rPr lang="en-US" sz="1600" dirty="0"/>
              <a:t> se </a:t>
            </a:r>
            <a:r>
              <a:rPr lang="en-US" sz="1600" dirty="0" err="1"/>
              <a:t>sorteaz</a:t>
            </a:r>
            <a:r>
              <a:rPr lang="ro-RO" sz="1600" dirty="0"/>
              <a:t>ă subșirurile A</a:t>
            </a:r>
            <a:r>
              <a:rPr lang="en-US" sz="1600" dirty="0"/>
              <a:t>[p..q-1] </a:t>
            </a:r>
            <a:r>
              <a:rPr lang="ro-RO" sz="1600" dirty="0"/>
              <a:t>și </a:t>
            </a:r>
            <a:r>
              <a:rPr lang="en-US" sz="1600" dirty="0"/>
              <a:t>A[q+1..r] </a:t>
            </a:r>
            <a:r>
              <a:rPr lang="en-US" sz="1600" dirty="0" err="1"/>
              <a:t>prin</a:t>
            </a:r>
            <a:r>
              <a:rPr lang="en-US" sz="1600" dirty="0"/>
              <a:t> </a:t>
            </a:r>
            <a:r>
              <a:rPr lang="en-US" sz="1600" dirty="0" err="1"/>
              <a:t>apeluri</a:t>
            </a:r>
            <a:r>
              <a:rPr lang="en-US" sz="1600" dirty="0"/>
              <a:t> recursive la </a:t>
            </a:r>
            <a:r>
              <a:rPr lang="en-US" sz="1600" dirty="0" err="1"/>
              <a:t>func</a:t>
            </a:r>
            <a:r>
              <a:rPr lang="ro-RO" sz="1600" dirty="0"/>
              <a:t>ția quicksort</a:t>
            </a:r>
          </a:p>
          <a:p>
            <a:pPr marL="0" indent="0">
              <a:buNone/>
            </a:pPr>
            <a:r>
              <a:rPr lang="ro-RO" sz="1600" b="1" dirty="0"/>
              <a:t>Combine:</a:t>
            </a:r>
            <a:r>
              <a:rPr lang="ro-RO" sz="1600" dirty="0"/>
              <a:t> sirul A</a:t>
            </a:r>
            <a:r>
              <a:rPr lang="en-US" sz="1600" dirty="0"/>
              <a:t>[</a:t>
            </a:r>
            <a:r>
              <a:rPr lang="en-US" sz="1600" dirty="0" err="1"/>
              <a:t>p,r</a:t>
            </a:r>
            <a:r>
              <a:rPr lang="en-US" sz="1600" dirty="0"/>
              <a:t>]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deja</a:t>
            </a:r>
            <a:r>
              <a:rPr lang="en-US" sz="1600" dirty="0"/>
              <a:t> </a:t>
            </a:r>
            <a:r>
              <a:rPr lang="en-US" sz="1600" dirty="0" err="1"/>
              <a:t>sortat</a:t>
            </a:r>
            <a:r>
              <a:rPr lang="en-US" sz="1600" dirty="0"/>
              <a:t>, </a:t>
            </a:r>
            <a:r>
              <a:rPr lang="en-US" sz="1600" dirty="0" err="1"/>
              <a:t>deci</a:t>
            </a:r>
            <a:r>
              <a:rPr lang="en-US" sz="1600" dirty="0"/>
              <a:t> combine nu are </a:t>
            </a:r>
            <a:r>
              <a:rPr lang="en-US" sz="1600" dirty="0" err="1"/>
              <a:t>obiect</a:t>
            </a:r>
            <a:endParaRPr lang="en-US" sz="1600" dirty="0"/>
          </a:p>
          <a:p>
            <a:endParaRPr lang="en-US" sz="1600" b="1" dirty="0"/>
          </a:p>
        </p:txBody>
      </p:sp>
      <p:pic>
        <p:nvPicPr>
          <p:cNvPr id="5122" name="Picture 2" descr="http://highered.mcgraw-hill.com/sites/dl/free/0070131511/25322/quicksor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72" y="3571876"/>
            <a:ext cx="4267200" cy="1735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918737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Parti</a:t>
            </a:r>
            <a:r>
              <a:rPr lang="ro-RO" sz="3200" dirty="0"/>
              <a:t>ționarea șirului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4191000"/>
                <a:ext cx="4343400" cy="2438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o-RO" sz="1800" b="1" dirty="0"/>
                  <a:t>Loop invariant</a:t>
                </a:r>
              </a:p>
              <a:p>
                <a:pPr marL="0" indent="0">
                  <a:buNone/>
                </a:pPr>
                <a:r>
                  <a:rPr lang="ro-RO" sz="1800" dirty="0"/>
                  <a:t>1. </a:t>
                </a:r>
                <a:r>
                  <a:rPr lang="en-US" sz="1800" dirty="0" err="1"/>
                  <a:t>Dac</a:t>
                </a:r>
                <a:r>
                  <a:rPr lang="ro-RO" sz="1800" dirty="0"/>
                  <a:t>ă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𝑝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𝑘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𝑖</m:t>
                    </m:r>
                  </m:oMath>
                </a14:m>
                <a:r>
                  <a:rPr lang="ro-RO" sz="1800" dirty="0"/>
                  <a:t> atunci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𝐴</m:t>
                    </m:r>
                    <m:r>
                      <a:rPr lang="en-US" sz="1800" b="0" i="1" smtClean="0">
                        <a:latin typeface="Cambria Math"/>
                      </a:rPr>
                      <m:t>[</m:t>
                    </m:r>
                    <m:r>
                      <a:rPr lang="en-US" sz="1800" b="0" i="1" smtClean="0">
                        <a:latin typeface="Cambria Math"/>
                      </a:rPr>
                      <m:t>𝑘</m:t>
                    </m:r>
                    <m:r>
                      <a:rPr lang="en-US" sz="1800" b="0" i="1" smtClean="0">
                        <a:latin typeface="Cambria Math"/>
                      </a:rPr>
                      <m:t>]≤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𝑥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2. </a:t>
                </a:r>
                <a:r>
                  <a:rPr lang="ro-RO" sz="1800" dirty="0"/>
                  <a:t>Dacă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𝑖</m:t>
                    </m:r>
                    <m:r>
                      <a:rPr lang="ro-RO" sz="1800" b="0" i="1" smtClean="0">
                        <a:latin typeface="Cambria Math"/>
                      </a:rPr>
                      <m:t>+1≤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𝑘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𝑗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−1</m:t>
                    </m:r>
                  </m:oMath>
                </a14:m>
                <a:r>
                  <a:rPr lang="ro-RO" sz="1800" dirty="0"/>
                  <a:t> atunci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𝐴</m:t>
                    </m:r>
                    <m:r>
                      <a:rPr lang="en-US" sz="1800" b="0" i="1" smtClean="0">
                        <a:latin typeface="Cambria Math"/>
                      </a:rPr>
                      <m:t>[</m:t>
                    </m:r>
                    <m:r>
                      <a:rPr lang="en-US" sz="1800" b="0" i="1" smtClean="0">
                        <a:latin typeface="Cambria Math"/>
                      </a:rPr>
                      <m:t>𝑘</m:t>
                    </m:r>
                    <m:r>
                      <a:rPr lang="en-US" sz="1800" b="0" i="1" smtClean="0">
                        <a:latin typeface="Cambria Math"/>
                      </a:rPr>
                      <m:t>]&gt;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𝑥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3. </a:t>
                </a:r>
                <a:r>
                  <a:rPr lang="en-US" sz="1800" dirty="0" err="1"/>
                  <a:t>Dac</a:t>
                </a:r>
                <a:r>
                  <a:rPr lang="ro-RO" sz="1800" dirty="0"/>
                  <a:t>ă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𝑘</m:t>
                    </m:r>
                    <m:r>
                      <a:rPr lang="ro-RO" sz="1800" b="0" i="1" smtClean="0">
                        <a:latin typeface="Cambria Math"/>
                      </a:rPr>
                      <m:t>=</m:t>
                    </m:r>
                    <m:r>
                      <a:rPr lang="ro-RO" sz="1800" b="0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ro-RO" sz="1800" dirty="0"/>
                  <a:t>, atunci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r>
                      <a:rPr lang="en-US" sz="1800" b="0" i="1" smtClean="0">
                        <a:latin typeface="Cambria Math"/>
                      </a:rPr>
                      <m:t>𝑥</m:t>
                    </m:r>
                  </m:oMath>
                </a14:m>
                <a:endParaRPr lang="ro-RO" sz="18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4191000"/>
                <a:ext cx="4343400" cy="2438400"/>
              </a:xfrm>
              <a:blipFill rotWithShape="1">
                <a:blip r:embed="rId2"/>
                <a:stretch>
                  <a:fillRect l="-1122" t="-125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 descr="http://highered.mcgraw-hill.com/sites/dl/free/0070131511/25322/partition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413425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49382"/>
            <a:ext cx="3276600" cy="6126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18" y="5638800"/>
            <a:ext cx="4419600" cy="991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2601512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Performanta</a:t>
            </a:r>
            <a:r>
              <a:rPr lang="en-US" sz="3200" dirty="0"/>
              <a:t> quicksort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3820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 err="1"/>
                  <a:t>Cazul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cel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mai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defavorabil</a:t>
                </a:r>
                <a:endParaRPr lang="en-US" sz="1800" b="1" dirty="0"/>
              </a:p>
              <a:p>
                <a:r>
                  <a:rPr lang="en-US" sz="1800" dirty="0" err="1"/>
                  <a:t>Atunci</a:t>
                </a:r>
                <a:r>
                  <a:rPr lang="en-US" sz="1800" dirty="0"/>
                  <a:t> c</a:t>
                </a:r>
                <a:r>
                  <a:rPr lang="ro-RO" sz="1800" dirty="0"/>
                  <a:t>ând partiționarea produce o suproblemă cu n-1 elemente și una cu 0</a:t>
                </a:r>
                <a:endParaRPr lang="ro-RO" sz="1600" dirty="0"/>
              </a:p>
              <a:p>
                <a:r>
                  <a:rPr lang="ro-RO" sz="1600" dirty="0"/>
                  <a:t>Situația de mai sus se întâmplă la fiecare apel recursiv</a:t>
                </a:r>
              </a:p>
              <a:p>
                <a:r>
                  <a:rPr lang="ro-RO" sz="1600" dirty="0"/>
                  <a:t>=</a:t>
                </a:r>
                <a:r>
                  <a:rPr lang="en-US" sz="1600" dirty="0"/>
                  <a:t>&gt;</a:t>
                </a:r>
                <a:r>
                  <a:rPr lang="ro-RO" sz="1600" dirty="0"/>
                  <a:t> partiționarea se execută în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endParaRPr lang="ro-RO" sz="1800" dirty="0"/>
              </a:p>
              <a:p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=</m:t>
                    </m:r>
                    <m:r>
                      <a:rPr lang="ro-RO" sz="1800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  <m:r>
                          <a:rPr lang="ro-RO" sz="1800" b="0" i="1" smtClean="0"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+</m:t>
                    </m:r>
                    <m:r>
                      <a:rPr lang="ro-RO" sz="1800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/>
                          </a:rPr>
                          <m:t>0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l-GR" sz="1800" b="0" i="1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=</m:t>
                    </m:r>
                    <m:r>
                      <a:rPr lang="ro-RO" sz="1800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  <m:r>
                          <a:rPr lang="ro-RO" sz="1800" b="0" i="1" smtClean="0"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l-GR" sz="1800" i="1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sz="1800" b="0" i="1" smtClean="0">
                        <a:latin typeface="Cambria Math"/>
                      </a:rPr>
                      <m:t>Θ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ro-RO" sz="18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800" dirty="0"/>
              </a:p>
              <a:p>
                <a:pPr marL="0" indent="0">
                  <a:buNone/>
                </a:pPr>
                <a:r>
                  <a:rPr lang="ro-RO" sz="1800" b="1" dirty="0"/>
                  <a:t>Cazul cel mai favorabil</a:t>
                </a:r>
              </a:p>
              <a:p>
                <a:r>
                  <a:rPr lang="ro-RO" sz="1800" dirty="0"/>
                  <a:t>Atunci cand partiționarea produce 2 subsiruri amandouă nu mai lungi de n/2</a:t>
                </a:r>
              </a:p>
              <a:p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=2</m:t>
                    </m:r>
                    <m:r>
                      <a:rPr lang="ro-RO" sz="1800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o-RO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1800" b="0" i="1" smtClean="0"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ro-RO" sz="1800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ro-RO" sz="1800" b="0" i="1" smtClean="0"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l-GR" sz="1800" b="0" i="1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sz="1800" b="0" i="1" smtClean="0">
                        <a:latin typeface="Cambria Math"/>
                      </a:rPr>
                      <m:t>Θ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r>
                      <a:rPr lang="ro-RO" sz="1800" b="0" i="1" smtClean="0"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o-RO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800" b="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ro-RO" sz="18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800" dirty="0"/>
              </a:p>
              <a:p>
                <a:pPr marL="0" indent="0">
                  <a:buNone/>
                </a:pPr>
                <a:r>
                  <a:rPr lang="ro-RO" sz="1800" b="1" dirty="0"/>
                  <a:t>Cazul mediu</a:t>
                </a:r>
              </a:p>
              <a:p>
                <a:r>
                  <a:rPr lang="ro-RO" sz="1800" dirty="0"/>
                  <a:t>Daca presupunem că in fiecare pas are loc o impartire in 2 subsiruri de lungimi 1/10 si 9/10, atunci</a:t>
                </a:r>
              </a:p>
              <a:p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=</m:t>
                    </m:r>
                    <m:r>
                      <a:rPr lang="ro-RO" sz="1800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o-RO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1800" b="0" i="1" smtClean="0">
                                <a:latin typeface="Cambria Math"/>
                              </a:rPr>
                              <m:t>9</m:t>
                            </m:r>
                            <m:r>
                              <a:rPr lang="ro-RO" sz="1800" b="0" i="1" smtClean="0"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ro-RO" sz="1800" b="0" i="1" smtClean="0">
                                <a:latin typeface="Cambria Math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ro-RO" sz="1800" b="0" i="1" smtClean="0">
                        <a:latin typeface="Cambria Math"/>
                      </a:rPr>
                      <m:t>+</m:t>
                    </m:r>
                    <m:r>
                      <a:rPr lang="ro-RO" sz="1800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o-RO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1800" b="0" i="1" smtClean="0"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ro-RO" sz="1800" b="0" i="1" smtClean="0">
                                <a:latin typeface="Cambria Math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ro-RO" sz="1800" b="0" i="1" smtClean="0">
                        <a:latin typeface="Cambria Math"/>
                      </a:rPr>
                      <m:t>+</m:t>
                    </m:r>
                    <m:r>
                      <a:rPr lang="ro-RO" sz="1800" b="0" i="1" smtClean="0">
                        <a:latin typeface="Cambria Math"/>
                      </a:rPr>
                      <m:t>𝑐𝑛</m:t>
                    </m:r>
                    <m:r>
                      <a:rPr lang="ro-RO" sz="1800" b="0" i="1" smtClean="0">
                        <a:latin typeface="Cambria Math"/>
                      </a:rPr>
                      <m:t>=</m:t>
                    </m:r>
                    <m:r>
                      <a:rPr lang="ro-RO" sz="1800" b="0" i="1" smtClean="0">
                        <a:latin typeface="Cambria Math"/>
                      </a:rPr>
                      <m:t>𝑂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r>
                      <a:rPr lang="ro-RO" sz="1800" b="0" i="1" smtClean="0"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o-RO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800" b="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ro-RO" sz="1800" b="0" i="1" smtClean="0">
                                <a:latin typeface="Cambria Math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  <m:r>
                          <a:rPr lang="ro-RO" sz="1800" b="0" i="1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ro-RO" sz="1800" dirty="0"/>
              </a:p>
              <a:p>
                <a:r>
                  <a:rPr lang="ro-RO" sz="1800" dirty="0"/>
                  <a:t>=</a:t>
                </a:r>
                <a:r>
                  <a:rPr lang="en-US" sz="1800" dirty="0"/>
                  <a:t>&gt;</a:t>
                </a:r>
                <a:r>
                  <a:rPr lang="en-US" sz="1800" dirty="0" err="1"/>
                  <a:t>performanta</a:t>
                </a:r>
                <a:r>
                  <a:rPr lang="en-US" sz="1800" dirty="0"/>
                  <a:t> quicksort: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𝑂</m:t>
                    </m:r>
                    <m:r>
                      <a:rPr lang="en-US" sz="1800" b="0" i="1" smtClean="0">
                        <a:latin typeface="Cambria Math"/>
                      </a:rPr>
                      <m:t>(</m:t>
                    </m:r>
                    <m:r>
                      <a:rPr lang="en-US" sz="1800" b="0" i="1" smtClean="0"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800" b="0" i="1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en-US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382000" cy="5105400"/>
              </a:xfrm>
              <a:blipFill>
                <a:blip r:embed="rId2"/>
                <a:stretch>
                  <a:fillRect l="-582" t="-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1460135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Randomized quicksort</a:t>
            </a:r>
            <a:endParaRPr lang="ro-RO" sz="3200" dirty="0"/>
          </a:p>
        </p:txBody>
      </p:sp>
      <p:pic>
        <p:nvPicPr>
          <p:cNvPr id="1026" name="Picture 2" descr="http://highered.mcgraw-hill.com/sites/dl/free/0070131511/25322/randomized_partition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1"/>
            <a:ext cx="4100448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highered.mcgraw-hill.com/sites/dl/free/0070131511/25322/randomized_quicksort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200400"/>
            <a:ext cx="5715000" cy="178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3409757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/>
              <a:t>Heap</a:t>
            </a:r>
            <a:endParaRPr lang="ro-RO" sz="32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4363" y="1524000"/>
            <a:ext cx="8286750" cy="2667000"/>
          </a:xfrm>
        </p:spPr>
        <p:txBody>
          <a:bodyPr/>
          <a:lstStyle/>
          <a:p>
            <a:pPr marL="342900" lvl="1" indent="-342900">
              <a:buClr>
                <a:schemeClr val="hlink"/>
              </a:buClr>
              <a:buSzPct val="110000"/>
              <a:buBlip>
                <a:blip r:embed="rId2"/>
              </a:buBlip>
            </a:pPr>
            <a:r>
              <a:rPr lang="en-US" sz="1600" dirty="0"/>
              <a:t>Un heap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ro-RO" sz="1600" dirty="0"/>
              <a:t>un sir de obiecte care pot fi văzute ca și un arbore binar aproape complet – ultimul rand al arborelui se completează de la stânga la dreapta. </a:t>
            </a:r>
          </a:p>
          <a:p>
            <a:pPr marL="342900" lvl="1" indent="-342900">
              <a:buClr>
                <a:schemeClr val="hlink"/>
              </a:buClr>
              <a:buSzPct val="110000"/>
              <a:buBlip>
                <a:blip r:embed="rId2"/>
              </a:buBlip>
            </a:pPr>
            <a:r>
              <a:rPr lang="en-US" sz="1600" dirty="0"/>
              <a:t>Un sir A care </a:t>
            </a:r>
            <a:r>
              <a:rPr lang="en-US" sz="1600" dirty="0" err="1"/>
              <a:t>reprezint</a:t>
            </a:r>
            <a:r>
              <a:rPr lang="ro-RO" sz="1600" dirty="0"/>
              <a:t>ă</a:t>
            </a:r>
            <a:r>
              <a:rPr lang="en-US" sz="1600" dirty="0"/>
              <a:t> un heap are 2 </a:t>
            </a:r>
            <a:r>
              <a:rPr lang="en-US" sz="1600" dirty="0" err="1"/>
              <a:t>atribute</a:t>
            </a:r>
            <a:r>
              <a:rPr lang="en-US" sz="1600" dirty="0"/>
              <a:t>:</a:t>
            </a:r>
            <a:endParaRPr lang="ro-RO" sz="1600" dirty="0"/>
          </a:p>
          <a:p>
            <a:pPr marL="742950" lvl="2" indent="-342900">
              <a:buSzPct val="110000"/>
              <a:buBlip>
                <a:blip r:embed="rId2"/>
              </a:buBlip>
            </a:pPr>
            <a:r>
              <a:rPr lang="ro-RO" sz="1600" dirty="0"/>
              <a:t>A.length: Lungimea heapului – ne furnizează numărul de elemente din sir</a:t>
            </a:r>
          </a:p>
          <a:p>
            <a:pPr marL="742950" lvl="2" indent="-342900">
              <a:buSzPct val="110000"/>
              <a:buBlip>
                <a:blip r:embed="rId2"/>
              </a:buBlip>
            </a:pPr>
            <a:r>
              <a:rPr lang="ro-RO" sz="1600" dirty="0"/>
              <a:t>A.heap-size: ne spune câte elemente din heap sunt stocate in sirul A</a:t>
            </a:r>
          </a:p>
          <a:p>
            <a:pPr marL="342900" lvl="1" indent="-342900">
              <a:buSzPct val="110000"/>
              <a:buBlip>
                <a:blip r:embed="rId2"/>
              </a:buBlip>
            </a:pPr>
            <a:r>
              <a:rPr lang="ro-RO" sz="1800" dirty="0"/>
              <a:t>Pentru un nod i avem:</a:t>
            </a:r>
          </a:p>
          <a:p>
            <a:pPr marL="742950" lvl="2" indent="-342900">
              <a:buSzPct val="110000"/>
              <a:buBlip>
                <a:blip r:embed="rId2"/>
              </a:buBlip>
            </a:pPr>
            <a:r>
              <a:rPr lang="ro-RO" sz="1600" dirty="0"/>
              <a:t>PARENT(i) = i/2                 - imparțire intreagă</a:t>
            </a:r>
          </a:p>
          <a:p>
            <a:pPr marL="742950" lvl="2" indent="-342900">
              <a:buSzPct val="110000"/>
              <a:buBlip>
                <a:blip r:embed="rId2"/>
              </a:buBlip>
            </a:pPr>
            <a:r>
              <a:rPr lang="ro-RO" sz="1600" dirty="0"/>
              <a:t>LEFT(i) = 2i</a:t>
            </a:r>
          </a:p>
          <a:p>
            <a:pPr marL="742950" lvl="2" indent="-342900">
              <a:buSzPct val="110000"/>
              <a:buBlip>
                <a:blip r:embed="rId2"/>
              </a:buBlip>
            </a:pPr>
            <a:r>
              <a:rPr lang="ro-RO" sz="1600" dirty="0"/>
              <a:t>RIGHT(i) = 2i+1</a:t>
            </a:r>
          </a:p>
          <a:p>
            <a:pPr marL="342900" lvl="1" indent="-342900">
              <a:buSzPct val="110000"/>
              <a:buBlip>
                <a:blip r:embed="rId2"/>
              </a:buBlip>
            </a:pPr>
            <a:endParaRPr lang="ro-RO" sz="2000" dirty="0"/>
          </a:p>
          <a:p>
            <a:pPr marL="0" lvl="1" indent="0">
              <a:buSzPct val="110000"/>
              <a:buNone/>
            </a:pPr>
            <a:endParaRPr lang="ro-RO" sz="2000" dirty="0"/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495800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4500563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0" name="Rectangle 5"/>
          <p:cNvSpPr>
            <a:spLocks noChangeArrowheads="1"/>
          </p:cNvSpPr>
          <p:nvPr/>
        </p:nvSpPr>
        <p:spPr bwMode="auto">
          <a:xfrm>
            <a:off x="4362450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1" name="Rectangle 6"/>
          <p:cNvSpPr>
            <a:spLocks noChangeArrowheads="1"/>
          </p:cNvSpPr>
          <p:nvPr/>
        </p:nvSpPr>
        <p:spPr bwMode="auto">
          <a:xfrm>
            <a:off x="432911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2" name="Rectangle 7"/>
          <p:cNvSpPr>
            <a:spLocks noChangeArrowheads="1"/>
          </p:cNvSpPr>
          <p:nvPr/>
        </p:nvSpPr>
        <p:spPr bwMode="auto">
          <a:xfrm>
            <a:off x="432911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3" name="Rectangle 8"/>
          <p:cNvSpPr>
            <a:spLocks noChangeArrowheads="1"/>
          </p:cNvSpPr>
          <p:nvPr/>
        </p:nvSpPr>
        <p:spPr bwMode="auto">
          <a:xfrm>
            <a:off x="366236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4" name="Rectangle 9"/>
          <p:cNvSpPr>
            <a:spLocks noChangeArrowheads="1"/>
          </p:cNvSpPr>
          <p:nvPr/>
        </p:nvSpPr>
        <p:spPr bwMode="auto">
          <a:xfrm>
            <a:off x="360045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267200"/>
            <a:ext cx="8077199" cy="2502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770242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 dirty="0"/>
              <a:t>Heap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14363" y="1524000"/>
                <a:ext cx="8286750" cy="4114800"/>
              </a:xfrm>
            </p:spPr>
            <p:txBody>
              <a:bodyPr/>
              <a:lstStyle/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r>
                  <a:rPr lang="ro-RO" sz="1600" dirty="0"/>
                  <a:t>Max-heap: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𝑃𝐴𝑅𝐸𝑁𝑇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e>
                    </m:d>
                  </m:oMath>
                </a14:m>
                <a:endParaRPr lang="en-US" sz="1600" b="0" dirty="0">
                  <a:ea typeface="Cambria Math"/>
                </a:endParaRPr>
              </a:p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r>
                  <a:rPr lang="en-US" sz="1600" dirty="0"/>
                  <a:t>Min-heap: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𝑃𝐴𝑅𝐸𝑁𝑇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e>
                    </m:d>
                  </m:oMath>
                </a14:m>
                <a:endParaRPr lang="en-US" sz="1600" b="0" dirty="0">
                  <a:ea typeface="Cambria Math"/>
                </a:endParaRPr>
              </a:p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r>
                  <a:rPr lang="en-US" sz="1600" dirty="0"/>
                  <a:t>In</a:t>
                </a:r>
                <a:r>
                  <a:rPr lang="ro-RO" sz="1600" dirty="0"/>
                  <a:t>ălțimea unui nod: cel mai mare număr de laturi de la nod la o frunză descendă din acel nod</a:t>
                </a:r>
              </a:p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r>
                  <a:rPr lang="ro-RO" sz="1600" dirty="0"/>
                  <a:t>Pentru un heap cu n elemente, înălțimea sa este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Θ</m:t>
                    </m:r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600" b="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ro-RO" sz="1600" b="0" i="1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600" dirty="0"/>
                  <a:t> –</a:t>
                </a:r>
                <a:r>
                  <a:rPr lang="ro-RO" sz="1600" dirty="0">
                    <a:solidFill>
                      <a:srgbClr val="FF0000"/>
                    </a:solidFill>
                  </a:rPr>
                  <a:t> rog demonstrație</a:t>
                </a:r>
              </a:p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endParaRPr lang="en-US" sz="16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363" y="1524000"/>
                <a:ext cx="8286750" cy="4114800"/>
              </a:xfrm>
              <a:blipFill rotWithShape="1">
                <a:blip r:embed="rId3"/>
                <a:stretch>
                  <a:fillRect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495800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4500563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0" name="Rectangle 5"/>
          <p:cNvSpPr>
            <a:spLocks noChangeArrowheads="1"/>
          </p:cNvSpPr>
          <p:nvPr/>
        </p:nvSpPr>
        <p:spPr bwMode="auto">
          <a:xfrm>
            <a:off x="4362450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1" name="Rectangle 6"/>
          <p:cNvSpPr>
            <a:spLocks noChangeArrowheads="1"/>
          </p:cNvSpPr>
          <p:nvPr/>
        </p:nvSpPr>
        <p:spPr bwMode="auto">
          <a:xfrm>
            <a:off x="432911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2" name="Rectangle 7"/>
          <p:cNvSpPr>
            <a:spLocks noChangeArrowheads="1"/>
          </p:cNvSpPr>
          <p:nvPr/>
        </p:nvSpPr>
        <p:spPr bwMode="auto">
          <a:xfrm>
            <a:off x="432911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3" name="Rectangle 8"/>
          <p:cNvSpPr>
            <a:spLocks noChangeArrowheads="1"/>
          </p:cNvSpPr>
          <p:nvPr/>
        </p:nvSpPr>
        <p:spPr bwMode="auto">
          <a:xfrm>
            <a:off x="366236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4" name="Rectangle 9"/>
          <p:cNvSpPr>
            <a:spLocks noChangeArrowheads="1"/>
          </p:cNvSpPr>
          <p:nvPr/>
        </p:nvSpPr>
        <p:spPr bwMode="auto">
          <a:xfrm>
            <a:off x="360045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2409247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Menținerea proprietății de heap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610958" y="1524000"/>
            <a:ext cx="3380642" cy="2362200"/>
          </a:xfrm>
        </p:spPr>
        <p:txBody>
          <a:bodyPr/>
          <a:lstStyle/>
          <a:p>
            <a:r>
              <a:rPr lang="ro-RO" sz="1800" dirty="0"/>
              <a:t>Se presupune că:</a:t>
            </a:r>
          </a:p>
          <a:p>
            <a:pPr lvl="1"/>
            <a:r>
              <a:rPr lang="ro-RO" sz="1600" dirty="0"/>
              <a:t>LEFT(i) și RIGHT(i) sunt Max-heap</a:t>
            </a:r>
          </a:p>
          <a:p>
            <a:pPr lvl="1"/>
            <a:r>
              <a:rPr lang="ro-RO" sz="1600" dirty="0"/>
              <a:t>A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mai</a:t>
            </a:r>
            <a:r>
              <a:rPr lang="en-US" sz="1600" dirty="0"/>
              <a:t> </a:t>
            </a:r>
            <a:r>
              <a:rPr lang="en-US" sz="1600" dirty="0" err="1"/>
              <a:t>mic</a:t>
            </a:r>
            <a:r>
              <a:rPr lang="en-US" sz="1600" dirty="0"/>
              <a:t> </a:t>
            </a:r>
            <a:r>
              <a:rPr lang="en-US" sz="1600" dirty="0" err="1"/>
              <a:t>dec</a:t>
            </a:r>
            <a:r>
              <a:rPr lang="ro-RO" sz="1600" dirty="0"/>
              <a:t>ât copii lui</a:t>
            </a:r>
          </a:p>
          <a:p>
            <a:r>
              <a:rPr lang="ro-RO" sz="1800" dirty="0"/>
              <a:t>Max-Heapify coboară A</a:t>
            </a:r>
            <a:r>
              <a:rPr lang="en-US" sz="1800" dirty="0"/>
              <a:t>[</a:t>
            </a:r>
            <a:r>
              <a:rPr lang="en-US" sz="1800" dirty="0" err="1"/>
              <a:t>i</a:t>
            </a:r>
            <a:r>
              <a:rPr lang="en-US" sz="1800" dirty="0"/>
              <a:t>] in heap </a:t>
            </a:r>
            <a:r>
              <a:rPr lang="en-US" sz="1800" dirty="0" err="1"/>
              <a:t>pentru</a:t>
            </a:r>
            <a:r>
              <a:rPr lang="en-US" sz="1800" dirty="0"/>
              <a:t> me</a:t>
            </a:r>
            <a:r>
              <a:rPr lang="ro-RO" sz="1800" dirty="0"/>
              <a:t>nținerea structurii de heap</a:t>
            </a:r>
            <a:endParaRPr lang="ro-RO" sz="2000" dirty="0"/>
          </a:p>
          <a:p>
            <a:endParaRPr lang="ro-RO" sz="1800" dirty="0"/>
          </a:p>
        </p:txBody>
      </p:sp>
      <p:pic>
        <p:nvPicPr>
          <p:cNvPr id="2050" name="Picture 2" descr="http://highered.mcgraw-hill.com/sites/dl/free/0070131511/25321/max_heapify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4977113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09600" y="4876800"/>
            <a:ext cx="7924800" cy="1828800"/>
          </a:xfrm>
          <a:prstGeom prst="rect">
            <a:avLst/>
          </a:prstGeom>
          <a:blipFill rotWithShape="1">
            <a:blip r:embed="rId3"/>
            <a:stretch>
              <a:fillRect t="-1667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o-RO">
                <a:noFill/>
              </a:rPr>
              <a:t> 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1782308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Construirea</a:t>
            </a:r>
            <a:r>
              <a:rPr lang="en-US" sz="3200" dirty="0"/>
              <a:t> </a:t>
            </a:r>
            <a:r>
              <a:rPr lang="en-US" sz="3200" dirty="0" err="1"/>
              <a:t>unui</a:t>
            </a:r>
            <a:r>
              <a:rPr lang="en-US" sz="3200" dirty="0"/>
              <a:t> heap</a:t>
            </a:r>
            <a:endParaRPr lang="ro-RO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1295400"/>
          </a:xfrm>
        </p:spPr>
        <p:txBody>
          <a:bodyPr/>
          <a:lstStyle/>
          <a:p>
            <a:r>
              <a:rPr lang="en-US" sz="1800" dirty="0"/>
              <a:t>Se </a:t>
            </a:r>
            <a:r>
              <a:rPr lang="en-US" sz="1800" dirty="0" err="1"/>
              <a:t>poate</a:t>
            </a:r>
            <a:r>
              <a:rPr lang="en-US" sz="1800" dirty="0"/>
              <a:t> </a:t>
            </a:r>
            <a:r>
              <a:rPr lang="en-US" sz="1800" dirty="0" err="1"/>
              <a:t>porni</a:t>
            </a:r>
            <a:r>
              <a:rPr lang="en-US" sz="1800" dirty="0"/>
              <a:t> de </a:t>
            </a:r>
            <a:r>
              <a:rPr lang="en-US" sz="1800" dirty="0" err="1"/>
              <a:t>jos</a:t>
            </a:r>
            <a:r>
              <a:rPr lang="en-US" sz="1800" dirty="0"/>
              <a:t> </a:t>
            </a:r>
            <a:r>
              <a:rPr lang="ro-RO" sz="1800" dirty="0"/>
              <a:t>în sus (de la fru</a:t>
            </a:r>
            <a:r>
              <a:rPr lang="en-US" sz="1800" dirty="0"/>
              <a:t>n</a:t>
            </a:r>
            <a:r>
              <a:rPr lang="ro-RO" sz="1800" dirty="0"/>
              <a:t>ze) care sunt heap de heapsize=1 pentru a construi heapul</a:t>
            </a:r>
          </a:p>
          <a:p>
            <a:r>
              <a:rPr lang="ro-RO" sz="1800" dirty="0"/>
              <a:t>Loop invariant: la începutul fiecărei iterații a buclei for, fiecare din nodurile i+1, i+2, ..., n sunt rădăcinile unui heap </a:t>
            </a:r>
            <a:endParaRPr lang="ro-RO" sz="1400" dirty="0"/>
          </a:p>
        </p:txBody>
      </p:sp>
      <p:pic>
        <p:nvPicPr>
          <p:cNvPr id="3074" name="Picture 2" descr="http://highered.mcgraw-hill.com/sites/dl/free/0070131511/25321/build_max_heap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19400"/>
            <a:ext cx="4267200" cy="1507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 bwMode="auto">
              <a:xfrm>
                <a:off x="609600" y="4495800"/>
                <a:ext cx="7772400" cy="1295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ro-RO" sz="1800" kern="0" dirty="0"/>
                  <a:t>Fiecare Max-heapify rulează în </a:t>
                </a:r>
                <a14:m>
                  <m:oMath xmlns:m="http://schemas.openxmlformats.org/officeDocument/2006/math">
                    <m:r>
                      <a:rPr lang="ro-RO" sz="1800" b="0" i="1" kern="0" smtClean="0">
                        <a:latin typeface="Cambria Math"/>
                      </a:rPr>
                      <m:t>𝑂</m:t>
                    </m:r>
                    <m:r>
                      <a:rPr lang="ro-RO" sz="1800" b="0" i="1" kern="0" smtClean="0"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ro-RO" sz="1800" b="0" i="1" kern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o-RO" sz="18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800" b="0" i="0" kern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ro-RO" sz="1800" b="0" i="1" kern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ro-RO" sz="1800" b="0" i="1" kern="0" smtClean="0">
                            <a:latin typeface="Cambria Math"/>
                          </a:rPr>
                          <m:t>𝑛</m:t>
                        </m:r>
                        <m:r>
                          <a:rPr lang="ro-RO" sz="1800" b="0" i="1" kern="0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ro-RO" sz="1800" b="0" kern="0" dirty="0"/>
              </a:p>
              <a:p>
                <a:r>
                  <a:rPr lang="ro-RO" sz="1800" kern="0" dirty="0"/>
                  <a:t>Se execută </a:t>
                </a:r>
                <a14:m>
                  <m:oMath xmlns:m="http://schemas.openxmlformats.org/officeDocument/2006/math">
                    <m:r>
                      <a:rPr lang="ro-RO" sz="1800" b="0" i="1" kern="0" smtClean="0">
                        <a:latin typeface="Cambria Math"/>
                      </a:rPr>
                      <m:t>𝑂</m:t>
                    </m:r>
                    <m:r>
                      <a:rPr lang="ro-RO" sz="1800" b="0" i="1" kern="0" smtClean="0">
                        <a:latin typeface="Cambria Math"/>
                      </a:rPr>
                      <m:t>(</m:t>
                    </m:r>
                    <m:r>
                      <a:rPr lang="ro-RO" sz="1800" b="0" i="1" kern="0" smtClean="0">
                        <a:latin typeface="Cambria Math"/>
                      </a:rPr>
                      <m:t>𝑛</m:t>
                    </m:r>
                    <m:r>
                      <a:rPr lang="ro-RO" sz="1800" b="0" i="1" kern="0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800" kern="0" dirty="0"/>
                  <a:t> apeluri ale lui Max-heapify</a:t>
                </a:r>
              </a:p>
              <a:p>
                <a:pPr marL="0" indent="0">
                  <a:buNone/>
                </a:pPr>
                <a:r>
                  <a:rPr lang="ro-RO" sz="1800" b="0" kern="0" dirty="0"/>
                  <a:t>=</a:t>
                </a:r>
                <a:r>
                  <a:rPr lang="en-US" sz="1800" kern="0" dirty="0"/>
                  <a:t>&gt;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sz="1800" b="0" i="1" kern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1800" b="0" i="1" kern="0" smtClean="0">
                        <a:latin typeface="Cambria Math"/>
                      </a:rPr>
                      <m:t>𝑂</m:t>
                    </m:r>
                    <m:r>
                      <a:rPr lang="en-US" sz="1800" b="0" i="1" kern="0" smtClean="0">
                        <a:latin typeface="Cambria Math"/>
                      </a:rPr>
                      <m:t>(</m:t>
                    </m:r>
                    <m:r>
                      <a:rPr lang="en-US" sz="1800" b="0" i="1" kern="0" smtClean="0"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kern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sz="1800" b="0" i="1" kern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800" b="0" i="1" kern="0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en-US" sz="1800" b="0" i="1" kern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kern="0" dirty="0"/>
                  <a:t>  - </a:t>
                </a:r>
                <a:r>
                  <a:rPr lang="en-US" sz="1800" kern="0" dirty="0" err="1"/>
                  <a:t>aceast</a:t>
                </a:r>
                <a:r>
                  <a:rPr lang="ro-RO" sz="1800" kern="0" dirty="0"/>
                  <a:t>ă mărginire superioară nu este asimptotică</a:t>
                </a:r>
              </a:p>
              <a:p>
                <a:r>
                  <a:rPr lang="ro-RO" sz="1800" kern="0" dirty="0"/>
                  <a:t>Se poate deriva mărginirea asimptotică </a:t>
                </a:r>
                <a14:m>
                  <m:oMath xmlns:m="http://schemas.openxmlformats.org/officeDocument/2006/math">
                    <m:r>
                      <a:rPr lang="ro-RO" sz="1800" i="1" ker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ro-RO" sz="1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 ker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800" i="1" kern="0">
                        <a:latin typeface="Cambria Math"/>
                      </a:rPr>
                      <m:t>=</m:t>
                    </m:r>
                    <m:r>
                      <a:rPr lang="ro-RO" sz="1800" i="1" kern="0">
                        <a:latin typeface="Cambria Math"/>
                      </a:rPr>
                      <m:t>𝑂</m:t>
                    </m:r>
                    <m:r>
                      <a:rPr lang="ro-RO" sz="1800" i="1" kern="0">
                        <a:latin typeface="Cambria Math"/>
                      </a:rPr>
                      <m:t>(</m:t>
                    </m:r>
                    <m:r>
                      <a:rPr lang="ro-RO" sz="1800" i="1" kern="0">
                        <a:latin typeface="Cambria Math"/>
                      </a:rPr>
                      <m:t>𝑛</m:t>
                    </m:r>
                    <m:r>
                      <a:rPr lang="ro-RO" sz="1800" i="1" kern="0">
                        <a:latin typeface="Cambria Math"/>
                      </a:rPr>
                      <m:t>)</m:t>
                    </m:r>
                  </m:oMath>
                </a14:m>
                <a:endParaRPr lang="ro-RO" sz="1800" kern="0" dirty="0"/>
              </a:p>
              <a:p>
                <a:endParaRPr lang="ro-RO" sz="1800" kern="0" dirty="0"/>
              </a:p>
              <a:p>
                <a:pPr marL="0" indent="0">
                  <a:buNone/>
                </a:pPr>
                <a:endParaRPr lang="ro-RO" sz="1800" kern="0" dirty="0"/>
              </a:p>
              <a:p>
                <a:pPr marL="0" indent="0">
                  <a:buNone/>
                </a:pPr>
                <a:endParaRPr lang="ro-RO" sz="1800" kern="0" dirty="0"/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4495800"/>
                <a:ext cx="7772400" cy="1295400"/>
              </a:xfrm>
              <a:prstGeom prst="rect">
                <a:avLst/>
              </a:prstGeom>
              <a:blipFill rotWithShape="1">
                <a:blip r:embed="rId4"/>
                <a:stretch>
                  <a:fillRect l="-627" t="-2358" b="-1179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808588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Heapsort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3657600"/>
                <a:ext cx="7772400" cy="2133600"/>
              </a:xfrm>
            </p:spPr>
            <p:txBody>
              <a:bodyPr/>
              <a:lstStyle/>
              <a:p>
                <a:r>
                  <a:rPr lang="en-US" sz="1800" dirty="0"/>
                  <a:t>Fiecare </a:t>
                </a:r>
                <a:r>
                  <a:rPr lang="en-US" sz="1800" dirty="0" err="1"/>
                  <a:t>apel</a:t>
                </a:r>
                <a:r>
                  <a:rPr lang="en-US" sz="1800" dirty="0"/>
                  <a:t> Build-max-heap se </a:t>
                </a:r>
                <a:r>
                  <a:rPr lang="en-US" sz="1800" dirty="0" err="1"/>
                  <a:t>execut</a:t>
                </a:r>
                <a:r>
                  <a:rPr lang="ro-RO" sz="1800" dirty="0"/>
                  <a:t>ă în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𝑂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r>
                      <a:rPr lang="ro-RO" sz="1800" b="0" i="1" smtClean="0">
                        <a:latin typeface="Cambria Math"/>
                      </a:rPr>
                      <m:t>𝑛</m:t>
                    </m:r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800" dirty="0"/>
              </a:p>
              <a:p>
                <a:r>
                  <a:rPr lang="ro-RO" sz="1800" dirty="0"/>
                  <a:t>Pentru fiecare dintre cele n-1 apeluri din bucla for avem timpul de executie pentru Max-heapify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𝑂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o-RO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800" b="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ro-RO" sz="18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800" dirty="0"/>
              </a:p>
              <a:p>
                <a:pPr marL="0" indent="0">
                  <a:buNone/>
                </a:pPr>
                <a:r>
                  <a:rPr lang="ro-RO" sz="1800" b="0" dirty="0"/>
                  <a:t>=</a:t>
                </a:r>
                <a:r>
                  <a:rPr lang="en-US" sz="1800" b="0" dirty="0"/>
                  <a:t>&gt;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=</m:t>
                    </m:r>
                    <m:r>
                      <a:rPr lang="ro-RO" sz="1800" b="0" i="1" smtClean="0">
                        <a:latin typeface="Cambria Math"/>
                      </a:rPr>
                      <m:t>𝑂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r>
                      <a:rPr lang="ro-RO" sz="1800" b="0" i="1" smtClean="0"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o-RO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800" b="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ro-RO" sz="18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8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3657600"/>
                <a:ext cx="7772400" cy="2133600"/>
              </a:xfrm>
              <a:blipFill rotWithShape="1">
                <a:blip r:embed="rId2"/>
                <a:stretch>
                  <a:fillRect l="-627" t="-142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http://highered.mcgraw-hill.com/sites/dl/free/0070131511/25321/heapsort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4800600" cy="1944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- 21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3183832263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5928</TotalTime>
  <Words>1230</Words>
  <Application>Microsoft Office PowerPoint</Application>
  <PresentationFormat>On-screen Show (4:3)</PresentationFormat>
  <Paragraphs>139</Paragraphs>
  <Slides>20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Cambria Math</vt:lpstr>
      <vt:lpstr>Tahoma</vt:lpstr>
      <vt:lpstr>Times New Roman</vt:lpstr>
      <vt:lpstr>Wingdings</vt:lpstr>
      <vt:lpstr>Blueprint</vt:lpstr>
      <vt:lpstr>Algoritmi și structuri de date – curs 6    - Informatică Economică, an II –</vt:lpstr>
      <vt:lpstr>Cuprins</vt:lpstr>
      <vt:lpstr>Divide-and-conquer</vt:lpstr>
      <vt:lpstr>Sortare prin interclasare (Merge Sort)</vt:lpstr>
      <vt:lpstr>Sortare prin interclasare (Merge Sort)</vt:lpstr>
      <vt:lpstr>Procedura de interclasare</vt:lpstr>
      <vt:lpstr>PowerPoint Presentation</vt:lpstr>
      <vt:lpstr>Sortare prin interclasare - pseudocod</vt:lpstr>
      <vt:lpstr>Complexitatea algoritmilor  divide-and-conquer</vt:lpstr>
      <vt:lpstr>Complexitatea sortarii prin interclasare</vt:lpstr>
      <vt:lpstr>PowerPoint Presentation</vt:lpstr>
      <vt:lpstr>Quicksort</vt:lpstr>
      <vt:lpstr>Partiționarea șirului</vt:lpstr>
      <vt:lpstr>Performanta quicksort</vt:lpstr>
      <vt:lpstr>Randomized quicksort</vt:lpstr>
      <vt:lpstr>Heap</vt:lpstr>
      <vt:lpstr>Heap</vt:lpstr>
      <vt:lpstr>Menținerea proprietății de heap</vt:lpstr>
      <vt:lpstr>Construirea unui heap</vt:lpstr>
      <vt:lpstr>Heapsort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</dc:creator>
  <cp:lastModifiedBy>GHEORGHE-COSMIN SILAGHI</cp:lastModifiedBy>
  <cp:revision>293</cp:revision>
  <dcterms:created xsi:type="dcterms:W3CDTF">2004-11-24T18:35:22Z</dcterms:created>
  <dcterms:modified xsi:type="dcterms:W3CDTF">2022-11-14T05:49:16Z</dcterms:modified>
</cp:coreProperties>
</file>