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3"/>
  </p:notesMasterIdLst>
  <p:sldIdLst>
    <p:sldId id="256" r:id="rId2"/>
    <p:sldId id="281" r:id="rId3"/>
    <p:sldId id="257" r:id="rId4"/>
    <p:sldId id="258" r:id="rId5"/>
    <p:sldId id="280" r:id="rId6"/>
    <p:sldId id="284" r:id="rId7"/>
    <p:sldId id="283" r:id="rId8"/>
    <p:sldId id="259" r:id="rId9"/>
    <p:sldId id="285" r:id="rId10"/>
    <p:sldId id="260" r:id="rId11"/>
    <p:sldId id="282" r:id="rId12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146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FF025B8-CDF1-47E0-A314-DC57550098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11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009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CED30-8BB3-4254-8858-39CEA52735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DBAD-A52A-4DC7-80FE-981ECB1F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88759-1A87-43FC-9D81-BC4D400D2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7477D-BB97-457C-89BA-5713B0B0B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9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387D-1133-468E-AE72-C925541E4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3CC5C-E80A-488B-AD6C-31809144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A99A8-BCD7-4B7E-8522-3CE933186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85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067C4-FE98-4433-8D52-56E1BA817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7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D716F-35CF-4603-9782-F2FDC8C4C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8865-FCD6-43CD-88ED-AF2AD346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ABAE-6959-4344-8AD1-D6370A2C50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B209-2CBE-428E-A057-AD0A68D53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6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4E0-6A23-45C4-A877-717DF862B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0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A3B64-3C04-4941-BAB2-F7767CF73D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5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30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1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</p:grpSp>
        <p:sp>
          <p:nvSpPr>
            <p:cNvPr id="3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sp>
          <p:nvSpPr>
            <p:cNvPr id="3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84E7CB-EF2E-4647-B803-81CC09BA3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3048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- 26 Octombrie 2020</a:t>
            </a:r>
            <a:endParaRPr lang="en-GB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990600"/>
          </a:xfrm>
        </p:spPr>
        <p:txBody>
          <a:bodyPr/>
          <a:lstStyle/>
          <a:p>
            <a:pPr eaLnBrk="1" hangingPunct="1"/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și structuri de date</a:t>
            </a:r>
            <a:r>
              <a:rPr lang="en-US" sz="3200" dirty="0"/>
              <a:t> – curs </a:t>
            </a:r>
            <a:r>
              <a:rPr lang="en-US" sz="3200" dirty="0" smtClean="0"/>
              <a:t>3</a:t>
            </a:r>
            <a:r>
              <a:rPr lang="en-US" sz="3600" dirty="0" smtClean="0"/>
              <a:t>   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ro-RO" sz="2000" dirty="0"/>
              <a:t>- Informatică Economică, an II –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833938"/>
            <a:ext cx="4953000" cy="804862"/>
          </a:xfrm>
        </p:spPr>
        <p:txBody>
          <a:bodyPr/>
          <a:lstStyle/>
          <a:p>
            <a:pPr eaLnBrk="1" hangingPunct="1"/>
            <a:r>
              <a:rPr lang="ro-RO"/>
              <a:t>Gheorghe Cosmin Silaghi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38200" y="3048000"/>
            <a:ext cx="487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2000" dirty="0" err="1">
                <a:solidFill>
                  <a:schemeClr val="tx2"/>
                </a:solidFill>
              </a:rPr>
              <a:t>Arbori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binari</a:t>
            </a:r>
            <a:r>
              <a:rPr lang="en-US" sz="2000" dirty="0">
                <a:solidFill>
                  <a:schemeClr val="tx2"/>
                </a:solidFill>
              </a:rPr>
              <a:t> de </a:t>
            </a:r>
            <a:r>
              <a:rPr lang="en-US" sz="2000" dirty="0" err="1">
                <a:solidFill>
                  <a:schemeClr val="tx2"/>
                </a:solidFill>
              </a:rPr>
              <a:t>cautare</a:t>
            </a:r>
            <a:endParaRPr lang="ro-RO" sz="2000" dirty="0">
              <a:solidFill>
                <a:schemeClr val="tx2"/>
              </a:solidFill>
            </a:endParaRPr>
          </a:p>
        </p:txBody>
      </p:sp>
      <p:pic>
        <p:nvPicPr>
          <p:cNvPr id="4" name="Picture 5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52599" cy="9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://bis.econ.ubbcluj.ro/website/templates/bistemplate/images/sigla_fseg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570" y="0"/>
            <a:ext cx="977030" cy="9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http://bis.econ.ubbcluj.ro/website/templates/bistemplate/images/sigla_ub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0"/>
            <a:ext cx="914399" cy="91440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dirty="0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err="1"/>
              <a:t>Definire</a:t>
            </a:r>
            <a:endParaRPr lang="en-US" sz="2000" dirty="0"/>
          </a:p>
          <a:p>
            <a:r>
              <a:rPr lang="en-US" sz="2000" dirty="0" err="1"/>
              <a:t>Cautarea</a:t>
            </a:r>
            <a:r>
              <a:rPr lang="en-US" sz="2000" dirty="0"/>
              <a:t> </a:t>
            </a:r>
            <a:r>
              <a:rPr lang="en-US" sz="2000" dirty="0" err="1"/>
              <a:t>elementelor</a:t>
            </a:r>
            <a:r>
              <a:rPr lang="en-US" sz="2000" dirty="0"/>
              <a:t> in arbore</a:t>
            </a:r>
          </a:p>
          <a:p>
            <a:r>
              <a:rPr lang="en-US" sz="2000" dirty="0" err="1"/>
              <a:t>Inserare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stergere</a:t>
            </a:r>
            <a:endParaRPr lang="en-US" sz="2000" dirty="0"/>
          </a:p>
          <a:p>
            <a:endParaRPr lang="ro-RO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378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dirty="0"/>
              <a:t>Arbore </a:t>
            </a:r>
            <a:r>
              <a:rPr lang="en-US" sz="2800" dirty="0" err="1"/>
              <a:t>binar</a:t>
            </a:r>
            <a:r>
              <a:rPr lang="en-US" sz="2800" dirty="0"/>
              <a:t> de </a:t>
            </a:r>
            <a:r>
              <a:rPr lang="en-US" sz="2800" dirty="0" err="1"/>
              <a:t>cautare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Rectangle 3" descr="Rectangle: Click to edit Master text styles&#10;Second level&#10;Third level&#10;Fourth level&#10;Fifth level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609600" y="1524000"/>
                <a:ext cx="8534400" cy="4114800"/>
              </a:xfrm>
              <a:noFill/>
            </p:spPr>
            <p:txBody>
              <a:bodyPr/>
              <a:lstStyle/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en-US" sz="1600" dirty="0"/>
                  <a:t>Fiecare nod de arbore </a:t>
                </a:r>
                <a:r>
                  <a:rPr lang="en-US" sz="1600" dirty="0" err="1"/>
                  <a:t>contine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cheia</a:t>
                </a:r>
                <a:r>
                  <a:rPr lang="en-US" sz="1600" dirty="0"/>
                  <a:t>, date </a:t>
                </a:r>
                <a:r>
                  <a:rPr lang="en-US" sz="1600" dirty="0" err="1"/>
                  <a:t>auxiliare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si</a:t>
                </a:r>
                <a:r>
                  <a:rPr lang="en-US" sz="1600" dirty="0"/>
                  <a:t> 3 </a:t>
                </a:r>
                <a:r>
                  <a:rPr lang="en-US" sz="1600" dirty="0" err="1"/>
                  <a:t>referinte</a:t>
                </a:r>
                <a:r>
                  <a:rPr lang="en-US" sz="1600" dirty="0"/>
                  <a:t>: left, right </a:t>
                </a:r>
                <a:r>
                  <a:rPr lang="en-US" sz="1600" dirty="0" err="1"/>
                  <a:t>si</a:t>
                </a:r>
                <a:r>
                  <a:rPr lang="en-US" sz="1600" dirty="0"/>
                  <a:t> p care </a:t>
                </a:r>
                <a:r>
                  <a:rPr lang="en-US" sz="1600" dirty="0" err="1"/>
                  <a:t>pointeaz</a:t>
                </a:r>
                <a:r>
                  <a:rPr lang="ro-RO" sz="1600" dirty="0"/>
                  <a:t>ă către nodurile copii stanga respectiv dreapta și către nodul părinte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Dacă un copil sau un părinte lipseste, referinta respectivă va fi Nil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endParaRPr lang="ro-RO" sz="1600" dirty="0"/>
              </a:p>
              <a:p>
                <a:pPr marL="0" indent="0" eaLnBrk="1" hangingPunct="1">
                  <a:lnSpc>
                    <a:spcPct val="90000"/>
                  </a:lnSpc>
                  <a:buNone/>
                </a:pPr>
                <a:r>
                  <a:rPr lang="ro-RO" sz="1600" dirty="0"/>
                  <a:t>Arbore binar de căutare – definire: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Un arbore este binar de căutare dacă este un arbore binar (adică fiecare nod are cel mult 2 copii) si</a:t>
                </a:r>
              </a:p>
              <a:p>
                <a:pPr marL="533400" indent="-533400" eaLnBrk="1" hangingPunct="1">
                  <a:lnSpc>
                    <a:spcPct val="90000"/>
                  </a:lnSpc>
                </a:pPr>
                <a:r>
                  <a:rPr lang="ro-RO" sz="1600" dirty="0"/>
                  <a:t>Daca x este un nod in arbore, si y este un nod in subarborele stang atunci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𝑦</m:t>
                    </m:r>
                    <m:r>
                      <a:rPr lang="ro-RO" sz="1600" b="0" i="1" smtClean="0">
                        <a:latin typeface="Cambria Math"/>
                      </a:rPr>
                      <m:t>.</m:t>
                    </m:r>
                    <m:r>
                      <a:rPr lang="ro-RO" sz="1600" b="0" i="1" smtClean="0">
                        <a:latin typeface="Cambria Math"/>
                      </a:rPr>
                      <m:t>𝑘𝑒𝑦</m:t>
                    </m:r>
                    <m:r>
                      <a:rPr lang="ro-RO" sz="1600" b="0" i="1" smtClean="0">
                        <a:latin typeface="Cambria Math"/>
                      </a:rPr>
                      <m:t> ≤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𝑘𝑒𝑦</m:t>
                    </m:r>
                  </m:oMath>
                </a14:m>
                <a:r>
                  <a:rPr lang="ro-RO" sz="1600" dirty="0"/>
                  <a:t>. Dacă y este un nod in subarborele drept, atunci </a:t>
                </a:r>
                <a14:m>
                  <m:oMath xmlns:m="http://schemas.openxmlformats.org/officeDocument/2006/math">
                    <m:r>
                      <a:rPr lang="ro-RO" sz="1600" b="0" i="1" smtClean="0">
                        <a:latin typeface="Cambria Math"/>
                      </a:rPr>
                      <m:t>𝑥</m:t>
                    </m:r>
                    <m:r>
                      <a:rPr lang="ro-RO" sz="1600" b="0" i="1" smtClean="0">
                        <a:latin typeface="Cambria Math"/>
                      </a:rPr>
                      <m:t>.</m:t>
                    </m:r>
                    <m:r>
                      <a:rPr lang="ro-RO" sz="1600" b="0" i="1" smtClean="0">
                        <a:latin typeface="Cambria Math"/>
                      </a:rPr>
                      <m:t>𝑘𝑒𝑦</m:t>
                    </m:r>
                    <m:r>
                      <a:rPr lang="ro-RO" sz="1600" b="0" i="1" smtClean="0">
                        <a:latin typeface="Cambria Math"/>
                      </a:rPr>
                      <m:t> ≤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𝑦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.</m:t>
                    </m:r>
                    <m:r>
                      <a:rPr lang="ro-RO" sz="1600" b="0" i="1" smtClean="0">
                        <a:latin typeface="Cambria Math"/>
                        <a:ea typeface="Cambria Math"/>
                      </a:rPr>
                      <m:t>𝑘𝑒𝑦</m:t>
                    </m:r>
                  </m:oMath>
                </a14:m>
                <a:endParaRPr lang="ro-RO" sz="1600" dirty="0"/>
              </a:p>
              <a:p>
                <a:pPr marL="533400" indent="-533400" eaLnBrk="1" hangingPunct="1">
                  <a:lnSpc>
                    <a:spcPct val="90000"/>
                  </a:lnSpc>
                </a:pPr>
                <a:endParaRPr lang="ro-RO" sz="1600" dirty="0"/>
              </a:p>
            </p:txBody>
          </p:sp>
        </mc:Choice>
        <mc:Fallback xmlns="">
          <p:sp>
            <p:nvSpPr>
              <p:cNvPr id="10243" name="Rectangle 3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609600" y="1524000"/>
                <a:ext cx="8534400" cy="4114800"/>
              </a:xfrm>
              <a:blipFill rotWithShape="1">
                <a:blip r:embed="rId2"/>
                <a:stretch>
                  <a:fillRect l="-357" t="-103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- 26 Octombrie 2020</a:t>
            </a:r>
            <a:endParaRPr lang="en-GB" sz="14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1" y="3886200"/>
            <a:ext cx="7391399" cy="2938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988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dirty="0"/>
              <a:t>Parcurgeri ale arborelui binar de căutare</a:t>
            </a:r>
            <a:endParaRPr lang="en-GB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Rectangle 3" descr="Rectangle: Click to edit Master text styles&#10;Second level&#10;Third level&#10;Fourth level&#10;Fifth level"/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609600" y="1600200"/>
                <a:ext cx="7924800" cy="4114800"/>
              </a:xfrm>
              <a:noFill/>
            </p:spPr>
            <p:txBody>
              <a:bodyPr/>
              <a:lstStyle/>
              <a:p>
                <a:pPr marL="533400" indent="-533400" eaLnBrk="1" hangingPunct="1"/>
                <a:r>
                  <a:rPr lang="ro-RO" sz="1800" dirty="0"/>
                  <a:t>Parcurgerea in inordine: stang-radacină-drept: produce nodurile arborelui in ordinea sortată a cheilor</a:t>
                </a:r>
              </a:p>
              <a:p>
                <a:pPr marL="0" indent="0" eaLnBrk="1" hangingPunct="1">
                  <a:buNone/>
                </a:pPr>
                <a:endParaRPr lang="ro-RO" sz="1800" dirty="0"/>
              </a:p>
              <a:p>
                <a:pPr marL="0" indent="0" eaLnBrk="1" hangingPunct="1">
                  <a:buNone/>
                </a:pPr>
                <a:r>
                  <a:rPr lang="ro-RO" sz="1600" dirty="0"/>
                  <a:t>INORDER-TREE-WALK(x)</a:t>
                </a:r>
              </a:p>
              <a:p>
                <a:pPr marL="0" indent="0" eaLnBrk="1" hangingPunct="1">
                  <a:buNone/>
                </a:pPr>
                <a:r>
                  <a:rPr lang="ro-RO" sz="1600" dirty="0"/>
                  <a:t>1. If x != Nil</a:t>
                </a:r>
              </a:p>
              <a:p>
                <a:pPr marL="0" indent="0" eaLnBrk="1" hangingPunct="1">
                  <a:buNone/>
                </a:pPr>
                <a:r>
                  <a:rPr lang="ro-RO" sz="1400" dirty="0"/>
                  <a:t>2.	INORDER-TREE-WALK(x.left)</a:t>
                </a:r>
              </a:p>
              <a:p>
                <a:pPr marL="0" indent="0" eaLnBrk="1" hangingPunct="1">
                  <a:buNone/>
                </a:pPr>
                <a:r>
                  <a:rPr lang="ro-RO" sz="1400" dirty="0"/>
                  <a:t>3.	Print x.key</a:t>
                </a:r>
              </a:p>
              <a:p>
                <a:pPr marL="0" indent="0" eaLnBrk="1" hangingPunct="1">
                  <a:buNone/>
                </a:pPr>
                <a:r>
                  <a:rPr lang="ro-RO" sz="1400" dirty="0"/>
                  <a:t>4.	INORDER-TREE-WALK(x.right)</a:t>
                </a:r>
              </a:p>
              <a:p>
                <a:pPr marL="0" indent="0" eaLnBrk="1" hangingPunct="1">
                  <a:buNone/>
                </a:pPr>
                <a:endParaRPr lang="ro-RO" sz="1600" dirty="0"/>
              </a:p>
              <a:p>
                <a:pPr marL="533400" indent="-533400" eaLnBrk="1" hangingPunct="1"/>
                <a:r>
                  <a:rPr lang="ro-RO" sz="1600" dirty="0"/>
                  <a:t>Parcurgerea in preordine: radacină-stang-drept</a:t>
                </a:r>
              </a:p>
              <a:p>
                <a:pPr marL="533400" indent="-533400" eaLnBrk="1" hangingPunct="1"/>
                <a:r>
                  <a:rPr lang="ro-RO" sz="1600" dirty="0"/>
                  <a:t>Parcurgerea in postordine: stang-drept-radacină</a:t>
                </a:r>
              </a:p>
              <a:p>
                <a:pPr marL="533400" indent="-533400" eaLnBrk="1" hangingPunct="1"/>
                <a:endParaRPr lang="ro-RO" sz="1600" dirty="0"/>
              </a:p>
              <a:p>
                <a:pPr marL="533400" indent="-533400" eaLnBrk="1" hangingPunct="1"/>
                <a:r>
                  <a:rPr lang="ro-RO" sz="1600" dirty="0"/>
                  <a:t>Temă: implementati toate cele 3 proceduri de parcurgere a arborilor</a:t>
                </a:r>
              </a:p>
              <a:p>
                <a:pPr marL="533400" indent="-533400" eaLnBrk="1" hangingPunct="1"/>
                <a:endParaRPr lang="ro-RO" sz="1600" dirty="0"/>
              </a:p>
              <a:p>
                <a:pPr marL="533400" indent="-533400" eaLnBrk="1" hangingPunct="1"/>
                <a:r>
                  <a:rPr lang="ro-RO" sz="1600" dirty="0"/>
                  <a:t>Complexitatea acestor parcurgeri: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Θ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</a:rPr>
                      <m:t>𝑛</m:t>
                    </m:r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600" dirty="0"/>
              </a:p>
              <a:p>
                <a:pPr marL="0" indent="0" eaLnBrk="1" hangingPunct="1">
                  <a:buNone/>
                </a:pPr>
                <a:endParaRPr lang="ro-RO" sz="1600" dirty="0"/>
              </a:p>
            </p:txBody>
          </p:sp>
        </mc:Choice>
        <mc:Fallback xmlns="">
          <p:sp>
            <p:nvSpPr>
              <p:cNvPr id="11267" name="Rectangle 3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609600" y="1600200"/>
                <a:ext cx="7924800" cy="4114800"/>
              </a:xfrm>
              <a:blipFill rotWithShape="1">
                <a:blip r:embed="rId2"/>
                <a:stretch>
                  <a:fillRect l="-385" t="-741" b="-800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6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- 26 Octombrie 2020</a:t>
            </a: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137865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Căutarea unei chei in arbore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3657600" cy="4800600"/>
          </a:xfrm>
        </p:spPr>
        <p:txBody>
          <a:bodyPr/>
          <a:lstStyle/>
          <a:p>
            <a:pPr marL="0" indent="0">
              <a:buNone/>
            </a:pPr>
            <a:r>
              <a:rPr lang="ro-RO" sz="1600" dirty="0"/>
              <a:t>TREE-SEARCH(x, k)</a:t>
            </a:r>
          </a:p>
          <a:p>
            <a:pPr marL="0" indent="0">
              <a:buNone/>
            </a:pPr>
            <a:r>
              <a:rPr lang="ro-RO" sz="1400" dirty="0"/>
              <a:t>1. If x == Nil or k = x.key</a:t>
            </a:r>
          </a:p>
          <a:p>
            <a:pPr marL="0" indent="0">
              <a:buNone/>
            </a:pPr>
            <a:r>
              <a:rPr lang="ro-RO" sz="1400" dirty="0"/>
              <a:t>2.	Return x</a:t>
            </a:r>
          </a:p>
          <a:p>
            <a:pPr marL="0" indent="0">
              <a:buNone/>
            </a:pPr>
            <a:r>
              <a:rPr lang="ro-RO" sz="1400" dirty="0"/>
              <a:t>3. If k </a:t>
            </a:r>
            <a:r>
              <a:rPr lang="en-US" sz="1400" dirty="0"/>
              <a:t>&lt;</a:t>
            </a:r>
            <a:r>
              <a:rPr lang="ro-RO" sz="1400" dirty="0"/>
              <a:t> x.key</a:t>
            </a:r>
          </a:p>
          <a:p>
            <a:pPr marL="0" indent="0">
              <a:buNone/>
            </a:pPr>
            <a:r>
              <a:rPr lang="ro-RO" sz="1400" dirty="0"/>
              <a:t>4.	Return TREE-SEARCH(x.left, k)</a:t>
            </a:r>
          </a:p>
          <a:p>
            <a:pPr marL="0" indent="0">
              <a:buNone/>
            </a:pPr>
            <a:r>
              <a:rPr lang="ro-RO" sz="1400" dirty="0"/>
              <a:t>5. Else 	Return TREE-SEARCH(x.right, k)</a:t>
            </a:r>
          </a:p>
          <a:p>
            <a:endParaRPr lang="ro-RO" sz="16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648200" y="1524000"/>
            <a:ext cx="4191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ITERATIVE-TREE-SEARCH(x, k)</a:t>
            </a:r>
          </a:p>
          <a:p>
            <a:pPr marL="0" indent="0">
              <a:buFont typeface="Wingdings" pitchFamily="2" charset="2"/>
              <a:buNone/>
            </a:pPr>
            <a:r>
              <a:rPr lang="ro-RO" sz="1400" kern="0" dirty="0"/>
              <a:t>1. </a:t>
            </a:r>
            <a:r>
              <a:rPr lang="ro-RO" sz="1400" kern="0" dirty="0" err="1"/>
              <a:t>while</a:t>
            </a:r>
            <a:r>
              <a:rPr lang="ro-RO" sz="1400" kern="0" dirty="0"/>
              <a:t> </a:t>
            </a:r>
            <a:r>
              <a:rPr lang="en-US" sz="1400" kern="0" dirty="0"/>
              <a:t>!(</a:t>
            </a:r>
            <a:r>
              <a:rPr lang="ro-RO" sz="1400" kern="0" dirty="0"/>
              <a:t>x == Nil or k = </a:t>
            </a:r>
            <a:r>
              <a:rPr lang="ro-RO" sz="1400" kern="0" dirty="0" err="1"/>
              <a:t>x.key</a:t>
            </a:r>
            <a:r>
              <a:rPr lang="en-US" sz="1400" kern="0" dirty="0"/>
              <a:t>)</a:t>
            </a:r>
            <a:endParaRPr lang="ro-RO" sz="1400" kern="0" dirty="0"/>
          </a:p>
          <a:p>
            <a:pPr marL="0" indent="0">
              <a:buFont typeface="Wingdings" pitchFamily="2" charset="2"/>
              <a:buNone/>
            </a:pPr>
            <a:r>
              <a:rPr lang="ro-RO" sz="1400" kern="0" dirty="0"/>
              <a:t>2. 	If k </a:t>
            </a:r>
            <a:r>
              <a:rPr lang="en-US" sz="1400" kern="0" dirty="0"/>
              <a:t>&lt;</a:t>
            </a:r>
            <a:r>
              <a:rPr lang="ro-RO" sz="1400" kern="0" dirty="0"/>
              <a:t> x.key</a:t>
            </a:r>
          </a:p>
          <a:p>
            <a:pPr marL="0" indent="0">
              <a:buFont typeface="Wingdings" pitchFamily="2" charset="2"/>
              <a:buNone/>
            </a:pPr>
            <a:r>
              <a:rPr lang="ro-RO" sz="1400" kern="0" dirty="0"/>
              <a:t>3.		x = x.left</a:t>
            </a:r>
          </a:p>
          <a:p>
            <a:pPr marL="0" indent="0">
              <a:buFont typeface="Wingdings" pitchFamily="2" charset="2"/>
              <a:buNone/>
            </a:pPr>
            <a:r>
              <a:rPr lang="ro-RO" sz="1400" kern="0" dirty="0"/>
              <a:t>4. 	Else	x = x.right</a:t>
            </a:r>
          </a:p>
          <a:p>
            <a:pPr marL="0" indent="0">
              <a:buFont typeface="Wingdings" pitchFamily="2" charset="2"/>
              <a:buNone/>
            </a:pPr>
            <a:r>
              <a:rPr lang="ro-RO" sz="1400" kern="0" dirty="0"/>
              <a:t>5. Return x</a:t>
            </a:r>
            <a:r>
              <a:rPr lang="ro-RO" sz="1400" kern="0"/>
              <a:t>	</a:t>
            </a:r>
            <a:endParaRPr lang="ro-RO" sz="1400" kern="0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6477000"/>
            <a:ext cx="692997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1800" dirty="0"/>
              <a:t>Operațiile se execută in O(h), unde h repezintă inăltimea arborelui</a:t>
            </a:r>
          </a:p>
          <a:p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0697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mtClean="0"/>
              <a:t>Cheia cu valoare minim</a:t>
            </a:r>
            <a:r>
              <a:rPr lang="ro-RO" sz="3600" smtClean="0"/>
              <a:t>ă / maximă</a:t>
            </a:r>
            <a:endParaRPr lang="ro-RO" sz="36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3657600" cy="4800600"/>
          </a:xfrm>
        </p:spPr>
        <p:txBody>
          <a:bodyPr/>
          <a:lstStyle/>
          <a:p>
            <a:pPr marL="0" indent="0">
              <a:buNone/>
            </a:pPr>
            <a:endParaRPr lang="ro-RO" sz="1600" dirty="0"/>
          </a:p>
          <a:p>
            <a:r>
              <a:rPr lang="ro-RO" sz="1600" dirty="0"/>
              <a:t>Căutarea cheii cu valoare minimă</a:t>
            </a:r>
          </a:p>
          <a:p>
            <a:pPr marL="0" indent="0">
              <a:buNone/>
            </a:pPr>
            <a:r>
              <a:rPr lang="ro-RO" sz="1400" dirty="0"/>
              <a:t>TREE-MINIMUM(x)</a:t>
            </a:r>
          </a:p>
          <a:p>
            <a:pPr marL="0" indent="0">
              <a:buNone/>
            </a:pPr>
            <a:r>
              <a:rPr lang="ro-RO" sz="1400" dirty="0"/>
              <a:t>1. While x.left != Nil</a:t>
            </a:r>
          </a:p>
          <a:p>
            <a:pPr marL="0" indent="0">
              <a:buNone/>
            </a:pPr>
            <a:r>
              <a:rPr lang="ro-RO" sz="1400" dirty="0"/>
              <a:t>2.	x = x.left</a:t>
            </a:r>
          </a:p>
          <a:p>
            <a:pPr marL="0" indent="0">
              <a:buNone/>
            </a:pPr>
            <a:r>
              <a:rPr lang="ro-RO" sz="1400" dirty="0"/>
              <a:t>3. Return x</a:t>
            </a:r>
          </a:p>
          <a:p>
            <a:endParaRPr lang="ro-RO" sz="1600" dirty="0"/>
          </a:p>
          <a:p>
            <a:r>
              <a:rPr lang="ro-RO" sz="1600" dirty="0"/>
              <a:t>Căutarea cheii cu valoare maximă</a:t>
            </a:r>
          </a:p>
          <a:p>
            <a:pPr marL="0" indent="0">
              <a:buNone/>
            </a:pPr>
            <a:r>
              <a:rPr lang="ro-RO" sz="1400" dirty="0"/>
              <a:t>TREE-MAXIMUM(x)</a:t>
            </a:r>
          </a:p>
          <a:p>
            <a:pPr marL="0" indent="0">
              <a:buNone/>
            </a:pPr>
            <a:r>
              <a:rPr lang="ro-RO" sz="1400" dirty="0"/>
              <a:t>1. While x.right != Nil</a:t>
            </a:r>
          </a:p>
          <a:p>
            <a:pPr marL="0" indent="0">
              <a:buNone/>
            </a:pPr>
            <a:r>
              <a:rPr lang="ro-RO" sz="1400" dirty="0"/>
              <a:t>2.	x = x.right</a:t>
            </a:r>
          </a:p>
          <a:p>
            <a:pPr marL="0" indent="0">
              <a:buNone/>
            </a:pPr>
            <a:r>
              <a:rPr lang="ro-RO" sz="1400" dirty="0"/>
              <a:t>3. Return x</a:t>
            </a:r>
          </a:p>
          <a:p>
            <a:pPr marL="0" indent="0">
              <a:buNone/>
            </a:pPr>
            <a:endParaRPr lang="ro-RO" sz="1400" dirty="0"/>
          </a:p>
        </p:txBody>
      </p:sp>
    </p:spTree>
    <p:extLst>
      <p:ext uri="{BB962C8B-B14F-4D97-AF65-F5344CB8AC3E}">
        <p14:creationId xmlns:p14="http://schemas.microsoft.com/office/powerpoint/2010/main" val="1566746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600" smtClean="0"/>
              <a:t>Căutarea succesorului</a:t>
            </a:r>
            <a:endParaRPr lang="ro-RO" sz="360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644611" y="1524000"/>
            <a:ext cx="41910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itchFamily="2" charset="2"/>
              <a:buChar char="w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ro-RO" sz="1600" kern="0" smtClean="0"/>
              <a:t>Căutarea </a:t>
            </a:r>
            <a:r>
              <a:rPr lang="ro-RO" sz="1600" kern="0" dirty="0"/>
              <a:t>nodului cu cheie succesoare in parcurgerea in inordine</a:t>
            </a:r>
          </a:p>
          <a:p>
            <a:pPr marL="0" indent="0">
              <a:buFont typeface="Wingdings" pitchFamily="2" charset="2"/>
              <a:buNone/>
            </a:pPr>
            <a:r>
              <a:rPr lang="ro-RO" sz="1400" kern="0" dirty="0"/>
              <a:t>TREE-SUCCESSOR(x)</a:t>
            </a:r>
          </a:p>
          <a:p>
            <a:pPr marL="0" indent="0">
              <a:buFont typeface="Wingdings" pitchFamily="2" charset="2"/>
              <a:buNone/>
            </a:pPr>
            <a:r>
              <a:rPr lang="ro-RO" sz="1400" kern="0" dirty="0"/>
              <a:t>1. If x.right != Nil</a:t>
            </a:r>
          </a:p>
          <a:p>
            <a:pPr marL="0" indent="0">
              <a:buFont typeface="Wingdings" pitchFamily="2" charset="2"/>
              <a:buNone/>
            </a:pPr>
            <a:r>
              <a:rPr lang="ro-RO" sz="1400" kern="0" dirty="0"/>
              <a:t>2.	Return TREE-MINIMUM(x.right)</a:t>
            </a:r>
          </a:p>
          <a:p>
            <a:pPr marL="0" indent="0">
              <a:buFont typeface="Wingdings" pitchFamily="2" charset="2"/>
              <a:buNone/>
            </a:pPr>
            <a:r>
              <a:rPr lang="ro-RO" sz="1400" kern="0" dirty="0"/>
              <a:t>3. y = x.p</a:t>
            </a:r>
          </a:p>
          <a:p>
            <a:pPr marL="0" indent="0">
              <a:buFont typeface="Wingdings" pitchFamily="2" charset="2"/>
              <a:buNone/>
            </a:pPr>
            <a:r>
              <a:rPr lang="ro-RO" sz="1400" kern="0" dirty="0"/>
              <a:t>4. While y != Nil and x == y.right</a:t>
            </a:r>
          </a:p>
          <a:p>
            <a:pPr marL="0" indent="0">
              <a:buFont typeface="Wingdings" pitchFamily="2" charset="2"/>
              <a:buNone/>
            </a:pPr>
            <a:r>
              <a:rPr lang="ro-RO" sz="1400" kern="0" dirty="0"/>
              <a:t>5.	x = y</a:t>
            </a:r>
          </a:p>
          <a:p>
            <a:pPr marL="0" indent="0">
              <a:buFont typeface="Wingdings" pitchFamily="2" charset="2"/>
              <a:buNone/>
            </a:pPr>
            <a:r>
              <a:rPr lang="ro-RO" sz="1400" kern="0" dirty="0"/>
              <a:t>6.	y = y.p</a:t>
            </a:r>
          </a:p>
          <a:p>
            <a:pPr marL="0" indent="0">
              <a:buFont typeface="Wingdings" pitchFamily="2" charset="2"/>
              <a:buNone/>
            </a:pPr>
            <a:r>
              <a:rPr lang="ro-RO" sz="1400" kern="0" dirty="0"/>
              <a:t>7. Return y</a:t>
            </a:r>
          </a:p>
          <a:p>
            <a:pPr marL="0" indent="0">
              <a:buFont typeface="Wingdings" pitchFamily="2" charset="2"/>
              <a:buNone/>
            </a:pPr>
            <a:r>
              <a:rPr lang="ro-RO" sz="1600" kern="0" dirty="0"/>
              <a:t>Temă: scrieți procedura TREE-PREDECESOR</a:t>
            </a:r>
          </a:p>
        </p:txBody>
      </p:sp>
    </p:spTree>
    <p:extLst>
      <p:ext uri="{BB962C8B-B14F-4D97-AF65-F5344CB8AC3E}">
        <p14:creationId xmlns:p14="http://schemas.microsoft.com/office/powerpoint/2010/main" val="3288279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 dirty="0"/>
              <a:t>Inserarea unui nod</a:t>
            </a:r>
            <a:endParaRPr lang="en-GB" sz="3200" dirty="0"/>
          </a:p>
        </p:txBody>
      </p:sp>
      <p:sp>
        <p:nvSpPr>
          <p:cNvPr id="122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09600" y="1524000"/>
            <a:ext cx="8229600" cy="4648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ro-RO" sz="1600" dirty="0"/>
              <a:t>TREE-INSERT(T, z)</a:t>
            </a:r>
          </a:p>
          <a:p>
            <a:pPr marL="0" indent="0" eaLnBrk="1" hangingPunct="1">
              <a:buNone/>
            </a:pPr>
            <a:r>
              <a:rPr lang="ro-RO" sz="1600" dirty="0"/>
              <a:t>1. y = Nil</a:t>
            </a:r>
          </a:p>
          <a:p>
            <a:pPr marL="0" indent="0" eaLnBrk="1" hangingPunct="1">
              <a:buNone/>
            </a:pPr>
            <a:r>
              <a:rPr lang="ro-RO" sz="1600" dirty="0"/>
              <a:t>2. x = T.root</a:t>
            </a:r>
          </a:p>
          <a:p>
            <a:pPr marL="0" indent="0" eaLnBrk="1" hangingPunct="1">
              <a:buNone/>
            </a:pPr>
            <a:r>
              <a:rPr lang="ro-RO" sz="1600" dirty="0"/>
              <a:t>3. While x != Nil</a:t>
            </a:r>
          </a:p>
          <a:p>
            <a:pPr marL="0" indent="0" eaLnBrk="1" hangingPunct="1">
              <a:buNone/>
            </a:pPr>
            <a:r>
              <a:rPr lang="ro-RO" sz="1600" dirty="0"/>
              <a:t>4.	y = x</a:t>
            </a:r>
          </a:p>
          <a:p>
            <a:pPr marL="0" indent="0" eaLnBrk="1" hangingPunct="1">
              <a:buNone/>
            </a:pPr>
            <a:r>
              <a:rPr lang="ro-RO" sz="1600" dirty="0"/>
              <a:t>5.	If z.key </a:t>
            </a:r>
            <a:r>
              <a:rPr lang="en-US" sz="1600" dirty="0"/>
              <a:t>&lt;</a:t>
            </a:r>
            <a:r>
              <a:rPr lang="ro-RO" sz="1600" dirty="0"/>
              <a:t> x.key</a:t>
            </a:r>
            <a:endParaRPr lang="en-US" sz="1600" dirty="0"/>
          </a:p>
          <a:p>
            <a:pPr marL="0" indent="0" eaLnBrk="1" hangingPunct="1">
              <a:buNone/>
            </a:pPr>
            <a:r>
              <a:rPr lang="en-US" sz="1600" dirty="0"/>
              <a:t>6.		x = </a:t>
            </a:r>
            <a:r>
              <a:rPr lang="en-US" sz="1600" dirty="0" err="1"/>
              <a:t>x.left</a:t>
            </a:r>
            <a:endParaRPr lang="en-US" sz="1600" dirty="0"/>
          </a:p>
          <a:p>
            <a:pPr marL="0" indent="0" eaLnBrk="1" hangingPunct="1">
              <a:buNone/>
            </a:pPr>
            <a:r>
              <a:rPr lang="en-US" sz="1600" dirty="0"/>
              <a:t>7.	Else 	x = </a:t>
            </a:r>
            <a:r>
              <a:rPr lang="en-US" sz="1600" dirty="0" err="1"/>
              <a:t>x.right</a:t>
            </a:r>
            <a:endParaRPr lang="en-US" sz="1600" dirty="0"/>
          </a:p>
          <a:p>
            <a:pPr marL="0" indent="0" eaLnBrk="1" hangingPunct="1">
              <a:buNone/>
            </a:pPr>
            <a:r>
              <a:rPr lang="en-US" sz="1600" dirty="0"/>
              <a:t>8. </a:t>
            </a:r>
            <a:r>
              <a:rPr lang="en-US" sz="1600" dirty="0" err="1"/>
              <a:t>z.p</a:t>
            </a:r>
            <a:r>
              <a:rPr lang="en-US" sz="1600" dirty="0"/>
              <a:t> = y</a:t>
            </a:r>
          </a:p>
          <a:p>
            <a:pPr marL="0" indent="0" eaLnBrk="1" hangingPunct="1">
              <a:buNone/>
            </a:pPr>
            <a:r>
              <a:rPr lang="en-US" sz="1600" dirty="0"/>
              <a:t>9. If y == Nil</a:t>
            </a:r>
          </a:p>
          <a:p>
            <a:pPr marL="0" indent="0" eaLnBrk="1" hangingPunct="1">
              <a:buNone/>
            </a:pPr>
            <a:r>
              <a:rPr lang="en-US" sz="1600" dirty="0"/>
              <a:t>10.	</a:t>
            </a:r>
            <a:r>
              <a:rPr lang="en-US" sz="1600" dirty="0" err="1"/>
              <a:t>T.root</a:t>
            </a:r>
            <a:r>
              <a:rPr lang="en-US" sz="1600" dirty="0"/>
              <a:t> = z  // </a:t>
            </a:r>
            <a:r>
              <a:rPr lang="en-US" sz="1600" dirty="0" err="1"/>
              <a:t>arborele</a:t>
            </a:r>
            <a:r>
              <a:rPr lang="en-US" sz="1600" dirty="0"/>
              <a:t> a </a:t>
            </a:r>
            <a:r>
              <a:rPr lang="en-US" sz="1600" dirty="0" err="1"/>
              <a:t>fost</a:t>
            </a:r>
            <a:r>
              <a:rPr lang="en-US" sz="1600" dirty="0"/>
              <a:t> </a:t>
            </a:r>
            <a:r>
              <a:rPr lang="en-US" sz="1600" dirty="0" err="1"/>
              <a:t>gol</a:t>
            </a:r>
            <a:endParaRPr lang="en-US" sz="1600" dirty="0"/>
          </a:p>
          <a:p>
            <a:pPr marL="0" indent="0" eaLnBrk="1" hangingPunct="1">
              <a:buNone/>
            </a:pPr>
            <a:r>
              <a:rPr lang="en-US" sz="1600" dirty="0"/>
              <a:t>11. </a:t>
            </a:r>
            <a:r>
              <a:rPr lang="en-US" sz="1600" dirty="0" err="1"/>
              <a:t>Elseif</a:t>
            </a:r>
            <a:r>
              <a:rPr lang="en-US" sz="1600" dirty="0"/>
              <a:t> </a:t>
            </a:r>
            <a:r>
              <a:rPr lang="en-US" sz="1600" dirty="0" err="1"/>
              <a:t>z.key</a:t>
            </a:r>
            <a:r>
              <a:rPr lang="en-US" sz="1600" dirty="0"/>
              <a:t> &lt; </a:t>
            </a:r>
            <a:r>
              <a:rPr lang="en-US" sz="1600" dirty="0" err="1"/>
              <a:t>y.key</a:t>
            </a:r>
            <a:endParaRPr lang="en-US" sz="1600" dirty="0"/>
          </a:p>
          <a:p>
            <a:pPr marL="0" indent="0" eaLnBrk="1" hangingPunct="1">
              <a:buNone/>
            </a:pPr>
            <a:r>
              <a:rPr lang="en-US" sz="1600" dirty="0"/>
              <a:t>12.	</a:t>
            </a:r>
            <a:r>
              <a:rPr lang="en-US" sz="1600" dirty="0" err="1"/>
              <a:t>y.left</a:t>
            </a:r>
            <a:r>
              <a:rPr lang="en-US" sz="1600" dirty="0"/>
              <a:t> = z</a:t>
            </a:r>
          </a:p>
          <a:p>
            <a:pPr marL="0" indent="0" eaLnBrk="1" hangingPunct="1">
              <a:buNone/>
            </a:pPr>
            <a:r>
              <a:rPr lang="en-US" sz="1600" dirty="0"/>
              <a:t>13. Else </a:t>
            </a:r>
            <a:r>
              <a:rPr lang="en-US" sz="1600" dirty="0" err="1"/>
              <a:t>y.right</a:t>
            </a:r>
            <a:r>
              <a:rPr lang="en-US" sz="1600" dirty="0"/>
              <a:t> = z</a:t>
            </a:r>
          </a:p>
        </p:txBody>
      </p:sp>
      <p:sp>
        <p:nvSpPr>
          <p:cNvPr id="122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- 26 Octombrie 2020</a:t>
            </a: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207031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Transplant</a:t>
            </a:r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55CD937-D302-4925-9478-169A77A43643}"/>
              </a:ext>
            </a:extLst>
          </p:cNvPr>
          <p:cNvSpPr txBox="1"/>
          <p:nvPr/>
        </p:nvSpPr>
        <p:spPr>
          <a:xfrm>
            <a:off x="638432" y="1524000"/>
            <a:ext cx="7057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Procedura</a:t>
            </a:r>
            <a:r>
              <a:rPr lang="en-US" sz="1600" dirty="0"/>
              <a:t> TRANSPLANT:</a:t>
            </a:r>
          </a:p>
          <a:p>
            <a:r>
              <a:rPr lang="en-US" sz="1400" dirty="0"/>
              <a:t>In </a:t>
            </a:r>
            <a:r>
              <a:rPr lang="en-US" sz="1400" dirty="0" err="1"/>
              <a:t>arborele</a:t>
            </a:r>
            <a:r>
              <a:rPr lang="en-US" sz="1400" dirty="0"/>
              <a:t> T se </a:t>
            </a:r>
            <a:r>
              <a:rPr lang="en-US" sz="1400" dirty="0" err="1"/>
              <a:t>inlocuieste</a:t>
            </a:r>
            <a:r>
              <a:rPr lang="en-US" sz="1400" dirty="0"/>
              <a:t> </a:t>
            </a:r>
            <a:r>
              <a:rPr lang="en-US" sz="1400" dirty="0" err="1"/>
              <a:t>subarborele</a:t>
            </a:r>
            <a:r>
              <a:rPr lang="en-US" sz="1400" dirty="0"/>
              <a:t> </a:t>
            </a:r>
            <a:r>
              <a:rPr lang="en-US" sz="1400" dirty="0" err="1"/>
              <a:t>referit</a:t>
            </a:r>
            <a:r>
              <a:rPr lang="en-US" sz="1400" dirty="0"/>
              <a:t> de u cu un alt </a:t>
            </a:r>
            <a:r>
              <a:rPr lang="en-US" sz="1400" dirty="0" err="1"/>
              <a:t>subarbore</a:t>
            </a:r>
            <a:r>
              <a:rPr lang="en-US" sz="1400" dirty="0"/>
              <a:t> </a:t>
            </a:r>
            <a:r>
              <a:rPr lang="en-US" sz="1400" dirty="0" err="1"/>
              <a:t>referit</a:t>
            </a:r>
            <a:r>
              <a:rPr lang="en-US" sz="1400" dirty="0"/>
              <a:t> de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897" y="2347317"/>
            <a:ext cx="3505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400" dirty="0"/>
              <a:t>TRASNPLANT(</a:t>
            </a:r>
            <a:r>
              <a:rPr lang="en-US" sz="1400" dirty="0"/>
              <a:t>T</a:t>
            </a:r>
            <a:r>
              <a:rPr lang="ro-RO" sz="1400" dirty="0"/>
              <a:t>, u, v)</a:t>
            </a:r>
          </a:p>
          <a:p>
            <a:r>
              <a:rPr lang="ro-RO" sz="1400" dirty="0"/>
              <a:t>1. If u.p == Nil</a:t>
            </a:r>
          </a:p>
          <a:p>
            <a:r>
              <a:rPr lang="ro-RO" sz="1400" dirty="0"/>
              <a:t>2.	T.root = v</a:t>
            </a:r>
          </a:p>
          <a:p>
            <a:r>
              <a:rPr lang="ro-RO" sz="1400" dirty="0"/>
              <a:t>3. Elseif u == u.p.left</a:t>
            </a:r>
          </a:p>
          <a:p>
            <a:r>
              <a:rPr lang="ro-RO" sz="1400" dirty="0"/>
              <a:t>4.	u.p.left = v</a:t>
            </a:r>
          </a:p>
          <a:p>
            <a:r>
              <a:rPr lang="ro-RO" sz="1400" dirty="0"/>
              <a:t>5. Else u.p.right = v</a:t>
            </a:r>
          </a:p>
          <a:p>
            <a:r>
              <a:rPr lang="ro-RO" sz="1400" dirty="0"/>
              <a:t>6. If v != Nil</a:t>
            </a:r>
          </a:p>
          <a:p>
            <a:r>
              <a:rPr lang="ro-RO" sz="1400" dirty="0"/>
              <a:t>7.	v.p = u.p</a:t>
            </a:r>
          </a:p>
        </p:txBody>
      </p:sp>
    </p:spTree>
    <p:extLst>
      <p:ext uri="{BB962C8B-B14F-4D97-AF65-F5344CB8AC3E}">
        <p14:creationId xmlns:p14="http://schemas.microsoft.com/office/powerpoint/2010/main" val="3310798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2986088" y="1157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Stergerea</a:t>
            </a:r>
            <a:r>
              <a:rPr lang="en-US" sz="3200" dirty="0"/>
              <a:t> </a:t>
            </a:r>
            <a:r>
              <a:rPr lang="en-US" sz="3200" dirty="0" err="1"/>
              <a:t>unui</a:t>
            </a:r>
            <a:r>
              <a:rPr lang="en-US" sz="3200" dirty="0"/>
              <a:t> nod</a:t>
            </a:r>
            <a:endParaRPr lang="ro-RO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876800"/>
          </a:xfrm>
        </p:spPr>
        <p:txBody>
          <a:bodyPr/>
          <a:lstStyle/>
          <a:p>
            <a:r>
              <a:rPr lang="en-US" sz="1800" dirty="0"/>
              <a:t>3 </a:t>
            </a:r>
            <a:r>
              <a:rPr lang="en-US" sz="1800" dirty="0" err="1"/>
              <a:t>cazuri</a:t>
            </a:r>
            <a:r>
              <a:rPr lang="en-US" sz="1800" dirty="0"/>
              <a:t>:</a:t>
            </a:r>
          </a:p>
          <a:p>
            <a:pPr lvl="1"/>
            <a:r>
              <a:rPr lang="en-US" sz="1400" dirty="0"/>
              <a:t>Se </a:t>
            </a:r>
            <a:r>
              <a:rPr lang="en-US" sz="1400" dirty="0" err="1"/>
              <a:t>sterge</a:t>
            </a:r>
            <a:r>
              <a:rPr lang="en-US" sz="1400" dirty="0"/>
              <a:t> un nod </a:t>
            </a:r>
            <a:r>
              <a:rPr lang="en-US" sz="1400" dirty="0" err="1"/>
              <a:t>frunz</a:t>
            </a:r>
            <a:r>
              <a:rPr lang="ro-RO" sz="1400" dirty="0"/>
              <a:t>ă</a:t>
            </a:r>
          </a:p>
          <a:p>
            <a:pPr lvl="1"/>
            <a:r>
              <a:rPr lang="ro-RO" sz="1400" dirty="0"/>
              <a:t>Se sterge un nod cu un singur copil: acesta urcă in sus in arbore</a:t>
            </a:r>
          </a:p>
          <a:p>
            <a:pPr lvl="1"/>
            <a:r>
              <a:rPr lang="ro-RO" sz="1400" dirty="0"/>
              <a:t>Se sterge un nod cu 2 copii: se găseste succesorul nodului care se sterge. Subarborele drept este elevat, subarborele stang este agatat in stanga succesorului</a:t>
            </a:r>
          </a:p>
          <a:p>
            <a:pPr marL="57150" indent="0">
              <a:buNone/>
            </a:pPr>
            <a:r>
              <a:rPr lang="ro-RO" sz="1400" dirty="0"/>
              <a:t>TREE-DELETE(T, z)</a:t>
            </a:r>
          </a:p>
          <a:p>
            <a:pPr marL="57150" indent="0">
              <a:buNone/>
            </a:pPr>
            <a:r>
              <a:rPr lang="ro-RO" sz="1400" dirty="0"/>
              <a:t>1. If z.left == Nil</a:t>
            </a:r>
          </a:p>
          <a:p>
            <a:pPr marL="57150" indent="0">
              <a:buNone/>
            </a:pPr>
            <a:r>
              <a:rPr lang="ro-RO" sz="1400" dirty="0"/>
              <a:t>2.	TRANSPLANT(T, z, z.right)</a:t>
            </a:r>
          </a:p>
          <a:p>
            <a:pPr marL="57150" indent="0">
              <a:buNone/>
            </a:pPr>
            <a:r>
              <a:rPr lang="ro-RO" sz="1400" dirty="0"/>
              <a:t>3. Elseif z.right == Nil</a:t>
            </a:r>
          </a:p>
          <a:p>
            <a:pPr marL="57150" indent="0">
              <a:buNone/>
            </a:pPr>
            <a:r>
              <a:rPr lang="ro-RO" sz="1400" dirty="0"/>
              <a:t>4.	TRANSPLANT(T, z, z.left)</a:t>
            </a:r>
          </a:p>
          <a:p>
            <a:pPr marL="57150" indent="0">
              <a:buNone/>
            </a:pPr>
            <a:r>
              <a:rPr lang="ro-RO" sz="1400" dirty="0"/>
              <a:t>5. Else	y = TREE-MINIMUM(z.right)</a:t>
            </a:r>
          </a:p>
          <a:p>
            <a:pPr marL="57150" indent="0">
              <a:buNone/>
            </a:pPr>
            <a:r>
              <a:rPr lang="ro-RO" sz="1400" dirty="0"/>
              <a:t>6.	If y.p != z</a:t>
            </a:r>
          </a:p>
          <a:p>
            <a:pPr marL="57150" indent="0">
              <a:buNone/>
            </a:pPr>
            <a:r>
              <a:rPr lang="ro-RO" sz="1400" dirty="0"/>
              <a:t>7.		TRANSPLANT(T, y, y.right)</a:t>
            </a:r>
          </a:p>
          <a:p>
            <a:pPr marL="57150" indent="0">
              <a:buNone/>
            </a:pPr>
            <a:r>
              <a:rPr lang="ro-RO" sz="1400" dirty="0"/>
              <a:t>8.		y.right = z.right</a:t>
            </a:r>
          </a:p>
          <a:p>
            <a:pPr marL="57150" indent="0">
              <a:buNone/>
            </a:pPr>
            <a:r>
              <a:rPr lang="ro-RO" sz="1400" dirty="0"/>
              <a:t>9.		y.right.p = y</a:t>
            </a:r>
          </a:p>
          <a:p>
            <a:pPr marL="57150" indent="0">
              <a:buNone/>
            </a:pPr>
            <a:r>
              <a:rPr lang="ro-RO" sz="1400" dirty="0"/>
              <a:t>10.	TRANSPLANT(T, z, y)</a:t>
            </a:r>
          </a:p>
          <a:p>
            <a:pPr marL="57150" indent="0">
              <a:buNone/>
            </a:pPr>
            <a:r>
              <a:rPr lang="ro-RO" sz="1400" dirty="0"/>
              <a:t>11.	y.left = z.left</a:t>
            </a:r>
          </a:p>
          <a:p>
            <a:pPr marL="57150" indent="0">
              <a:buNone/>
            </a:pPr>
            <a:r>
              <a:rPr lang="ro-RO" sz="1400" dirty="0"/>
              <a:t>12.	y.left.p = y</a:t>
            </a:r>
          </a:p>
        </p:txBody>
      </p:sp>
      <p:sp>
        <p:nvSpPr>
          <p:cNvPr id="1331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 smtClean="0"/>
              <a:t>Cluj-Napoca  - 26 Octombrie 2020</a:t>
            </a:r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725815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 smtClean="0"/>
              <a:t>Cluj-Napoca  - 26 Octombrie 2020</a:t>
            </a:r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34" y="3513"/>
            <a:ext cx="7056732" cy="6850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409416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3131</TotalTime>
  <Words>449</Words>
  <Application>Microsoft Office PowerPoint</Application>
  <PresentationFormat>On-screen Show (4:3)</PresentationFormat>
  <Paragraphs>123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Cambria Math</vt:lpstr>
      <vt:lpstr>Tahoma</vt:lpstr>
      <vt:lpstr>Times New Roman</vt:lpstr>
      <vt:lpstr>Wingdings</vt:lpstr>
      <vt:lpstr>Blueprint</vt:lpstr>
      <vt:lpstr>Algoritmi și structuri de date – curs 3    - Informatică Economică, an II –</vt:lpstr>
      <vt:lpstr>Cuprins</vt:lpstr>
      <vt:lpstr>Arbore binar de cautare</vt:lpstr>
      <vt:lpstr>Parcurgeri ale arborelui binar de căutare</vt:lpstr>
      <vt:lpstr>Căutarea unei chei in arbore</vt:lpstr>
      <vt:lpstr>Cheia cu valoare minimă / maximă</vt:lpstr>
      <vt:lpstr>Căutarea succesorului</vt:lpstr>
      <vt:lpstr>Inserarea unui nod</vt:lpstr>
      <vt:lpstr>Transplant</vt:lpstr>
      <vt:lpstr>Stergerea unui nod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Gheorghe Cosmin Silaghi</cp:lastModifiedBy>
  <cp:revision>212</cp:revision>
  <dcterms:created xsi:type="dcterms:W3CDTF">2004-11-24T18:35:22Z</dcterms:created>
  <dcterms:modified xsi:type="dcterms:W3CDTF">2020-10-26T05:12:01Z</dcterms:modified>
</cp:coreProperties>
</file>