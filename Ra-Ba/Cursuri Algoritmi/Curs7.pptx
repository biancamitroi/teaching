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3"/>
  </p:notesMasterIdLst>
  <p:sldIdLst>
    <p:sldId id="256" r:id="rId2"/>
    <p:sldId id="300" r:id="rId3"/>
    <p:sldId id="301" r:id="rId4"/>
    <p:sldId id="302" r:id="rId5"/>
    <p:sldId id="318" r:id="rId6"/>
    <p:sldId id="319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7" r:id="rId15"/>
    <p:sldId id="310" r:id="rId16"/>
    <p:sldId id="311" r:id="rId17"/>
    <p:sldId id="312" r:id="rId18"/>
    <p:sldId id="313" r:id="rId19"/>
    <p:sldId id="316" r:id="rId20"/>
    <p:sldId id="314" r:id="rId21"/>
    <p:sldId id="315" r:id="rId22"/>
  </p:sldIdLst>
  <p:sldSz cx="9144000" cy="6858000" type="screen4x3"/>
  <p:notesSz cx="7099300" cy="10234613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16" d="100"/>
          <a:sy n="116" d="100"/>
        </p:scale>
        <p:origin x="146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1FF025B8-CDF1-47E0-A314-DC57550098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0111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F025B8-CDF1-47E0-A314-DC5755009828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4924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</p:grpSp>
      <p:sp>
        <p:nvSpPr>
          <p:cNvPr id="4163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164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GB" smtClean="0"/>
              <a:t>Cluj-Napoca  - 23 Noiembrie 2020</a:t>
            </a:r>
            <a:endParaRPr lang="en-GB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4CED30-8BB3-4254-8858-39CEA52735C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7581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- 23 Noiembrie 2020</a:t>
            </a:r>
            <a:endParaRPr lang="en-GB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9DBAD-A52A-4DC7-80FE-981ECB1F2F1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809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- 23 Noiembrie 2020</a:t>
            </a:r>
            <a:endParaRPr lang="en-GB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D88759-1A87-43FC-9D81-BC4D400D2A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1480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- 23 Noiembrie 2020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7477D-BB97-457C-89BA-5713B0B0B4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6496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- 23 Noiembrie 2020</a:t>
            </a:r>
            <a:endParaRPr lang="en-GB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E8387D-1133-468E-AE72-C925541E4D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68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- 23 Noiembrie 2020</a:t>
            </a:r>
            <a:endParaRPr lang="en-GB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F3CC5C-E80A-488B-AD6C-3180914442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536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- 23 Noiembrie 2020</a:t>
            </a:r>
            <a:endParaRPr lang="en-GB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0A99A8-BCD7-4B7E-8522-3CE9331863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855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- 23 Noiembrie 2020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D067C4-FE98-4433-8D52-56E1BA8177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2724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o-RO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- 23 Noiembrie 2020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AD716F-35CF-4603-9782-F2FDC8C4CD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9616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- 23 Noiembrie 2020</a:t>
            </a:r>
            <a:endParaRPr lang="en-GB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DA8865-FCD6-43CD-88ED-AF2AD3463E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6662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- 23 Noiembrie 2020</a:t>
            </a:r>
            <a:endParaRPr lang="en-GB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DBABAE-6959-4344-8AD1-D6370A2C50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928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9050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00600" y="19050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838200" y="40386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600" y="40386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- 23 Noiembrie 2020</a:t>
            </a:r>
            <a:endParaRPr lang="en-GB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B209-2CBE-428E-A057-AD0A68D539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1637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- 23 Noiembrie 2020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59D4E0-6A23-45C4-A877-717DF862B3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709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ro-RO" noProof="0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- 23 Noiembrie 2020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2A3B64-3C04-4941-BAB2-F7767CF73D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4358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4104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4111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3077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78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79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0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1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2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7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2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7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  <p:grpSp>
            <p:nvGrpSpPr>
              <p:cNvPr id="4112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310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</p:grpSp>
        <p:sp>
          <p:nvSpPr>
            <p:cNvPr id="3129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o-RO"/>
            </a:p>
          </p:txBody>
        </p:sp>
        <p:sp>
          <p:nvSpPr>
            <p:cNvPr id="3130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o-RO"/>
            </a:p>
          </p:txBody>
        </p:sp>
        <p:grpSp>
          <p:nvGrpSpPr>
            <p:cNvPr id="4107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3132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3133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3134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</p:grpSp>
      <p:sp>
        <p:nvSpPr>
          <p:cNvPr id="4099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4100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137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138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GB" smtClean="0"/>
              <a:t>Cluj-Napoca  - 23 Noiembrie 2020</a:t>
            </a:r>
            <a:endParaRPr lang="en-GB"/>
          </a:p>
        </p:txBody>
      </p:sp>
      <p:sp>
        <p:nvSpPr>
          <p:cNvPr id="3139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084E7CB-EF2E-4647-B803-81CC09BA31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6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990600"/>
          </a:xfrm>
        </p:spPr>
        <p:txBody>
          <a:bodyPr/>
          <a:lstStyle/>
          <a:p>
            <a:pPr eaLnBrk="1" hangingPunct="1"/>
            <a:r>
              <a:rPr lang="en-US" sz="3200" dirty="0" err="1"/>
              <a:t>Algoritmi</a:t>
            </a:r>
            <a:r>
              <a:rPr lang="en-US" sz="3200" dirty="0"/>
              <a:t> </a:t>
            </a:r>
            <a:r>
              <a:rPr lang="ro-RO" sz="3200" dirty="0"/>
              <a:t>și structuri de date</a:t>
            </a:r>
            <a:r>
              <a:rPr lang="en-US" sz="3200" dirty="0"/>
              <a:t> – curs </a:t>
            </a:r>
            <a:r>
              <a:rPr lang="en-US" sz="3200" dirty="0" smtClean="0"/>
              <a:t>7</a:t>
            </a:r>
            <a:br>
              <a:rPr lang="en-US" sz="3200" dirty="0" smtClean="0"/>
            </a:br>
            <a:r>
              <a:rPr lang="en-US" sz="3600" dirty="0" smtClean="0"/>
              <a:t>  </a:t>
            </a:r>
            <a:r>
              <a:rPr lang="ro-RO" sz="2000" dirty="0" smtClean="0"/>
              <a:t>- </a:t>
            </a:r>
            <a:r>
              <a:rPr lang="ro-RO" sz="2000" dirty="0"/>
              <a:t>Informatică Economică, an II –</a:t>
            </a:r>
          </a:p>
        </p:txBody>
      </p:sp>
      <p:sp>
        <p:nvSpPr>
          <p:cNvPr id="614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3276600" y="4833938"/>
            <a:ext cx="4953000" cy="804862"/>
          </a:xfrm>
        </p:spPr>
        <p:txBody>
          <a:bodyPr/>
          <a:lstStyle/>
          <a:p>
            <a:pPr eaLnBrk="1" hangingPunct="1"/>
            <a:r>
              <a:rPr lang="en-US" dirty="0"/>
              <a:t>Gheorghe Cosmin Silaghi</a:t>
            </a:r>
            <a:endParaRPr lang="ro-RO" dirty="0"/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876300" y="3124200"/>
            <a:ext cx="59055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en-US" sz="2000" dirty="0" err="1">
                <a:solidFill>
                  <a:schemeClr val="tx2"/>
                </a:solidFill>
              </a:rPr>
              <a:t>Metode</a:t>
            </a:r>
            <a:r>
              <a:rPr lang="en-US" sz="2000" dirty="0">
                <a:solidFill>
                  <a:schemeClr val="tx2"/>
                </a:solidFill>
              </a:rPr>
              <a:t> de </a:t>
            </a:r>
            <a:r>
              <a:rPr lang="en-US" sz="2000" dirty="0" err="1" smtClean="0">
                <a:solidFill>
                  <a:schemeClr val="tx2"/>
                </a:solidFill>
              </a:rPr>
              <a:t>programare</a:t>
            </a:r>
            <a:r>
              <a:rPr lang="en-US" sz="2000" dirty="0" smtClean="0">
                <a:solidFill>
                  <a:schemeClr val="tx2"/>
                </a:solidFill>
              </a:rPr>
              <a:t> – </a:t>
            </a:r>
            <a:r>
              <a:rPr lang="en-US" sz="2000" dirty="0" err="1" smtClean="0">
                <a:solidFill>
                  <a:schemeClr val="tx2"/>
                </a:solidFill>
              </a:rPr>
              <a:t>programarea</a:t>
            </a:r>
            <a:r>
              <a:rPr lang="en-US" sz="2000" dirty="0" smtClean="0">
                <a:solidFill>
                  <a:schemeClr val="tx2"/>
                </a:solidFill>
              </a:rPr>
              <a:t> </a:t>
            </a:r>
            <a:r>
              <a:rPr lang="en-US" sz="2000" dirty="0" err="1" smtClean="0">
                <a:solidFill>
                  <a:schemeClr val="tx2"/>
                </a:solidFill>
              </a:rPr>
              <a:t>dinamic</a:t>
            </a:r>
            <a:r>
              <a:rPr lang="ro-RO" sz="2000" dirty="0">
                <a:solidFill>
                  <a:schemeClr val="tx2"/>
                </a:solidFill>
              </a:rPr>
              <a:t>ă</a:t>
            </a:r>
          </a:p>
        </p:txBody>
      </p:sp>
      <p:pic>
        <p:nvPicPr>
          <p:cNvPr id="4" name="Picture 5" descr="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752599" cy="987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 descr="http://bis.econ.ubbcluj.ro/website/templates/bistemplate/images/sigla_fsega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2570" y="0"/>
            <a:ext cx="977030" cy="977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3" name="Picture 9" descr="http://bis.econ.ubbcluj.ro/website/templates/bistemplate/images/sigla_ubb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1" y="0"/>
            <a:ext cx="914399" cy="9144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- 23 Noiembrie 2020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Programarea dinamică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7772400" cy="4114800"/>
          </a:xfrm>
        </p:spPr>
        <p:txBody>
          <a:bodyPr/>
          <a:lstStyle/>
          <a:p>
            <a:r>
              <a:rPr lang="ro-RO" sz="1800" dirty="0"/>
              <a:t>Divide-and-conquer: se imparte problema in subprobleme disjuncte care apoi sunt rezolvate recursiv</a:t>
            </a:r>
          </a:p>
          <a:p>
            <a:r>
              <a:rPr lang="ro-RO" sz="1800" b="1" dirty="0"/>
              <a:t>Programare dinamică:</a:t>
            </a:r>
            <a:r>
              <a:rPr lang="ro-RO" sz="1800" dirty="0"/>
              <a:t> se imparte problema in subprobleme care au părți comune: </a:t>
            </a:r>
          </a:p>
          <a:p>
            <a:pPr lvl="1"/>
            <a:r>
              <a:rPr lang="ro-RO" sz="1600" dirty="0"/>
              <a:t>Subproblemele partajează cel putin o </a:t>
            </a:r>
            <a:r>
              <a:rPr lang="ro-RO" sz="1600" i="1" dirty="0"/>
              <a:t>sub-subproblemă</a:t>
            </a:r>
            <a:r>
              <a:rPr lang="ro-RO" sz="1600" dirty="0"/>
              <a:t> comună</a:t>
            </a:r>
          </a:p>
          <a:p>
            <a:r>
              <a:rPr lang="ro-RO" sz="1800" dirty="0"/>
              <a:t>PD rezolvă fiecare sub-subproblemă o singură dată si salvează rezultatul intr-o tabelă cu rezultate</a:t>
            </a:r>
          </a:p>
          <a:p>
            <a:pPr lvl="1"/>
            <a:r>
              <a:rPr lang="ro-RO" sz="1600" dirty="0"/>
              <a:t>Se evită astfel ca o sub-subproblemă să fie rezolvată de mai multe ori</a:t>
            </a:r>
          </a:p>
          <a:p>
            <a:r>
              <a:rPr lang="ro-RO" sz="1800" dirty="0"/>
              <a:t>PD se aplică la </a:t>
            </a:r>
            <a:r>
              <a:rPr lang="ro-RO" sz="1800" i="1" dirty="0"/>
              <a:t>probleme de optimizare</a:t>
            </a:r>
            <a:r>
              <a:rPr lang="ro-RO" sz="1800" dirty="0"/>
              <a:t>: </a:t>
            </a:r>
          </a:p>
          <a:p>
            <a:pPr lvl="1"/>
            <a:r>
              <a:rPr lang="ro-RO" sz="1600" dirty="0"/>
              <a:t>Au mai multe solutii posibile, fiecare caracterizate printr-o valoare</a:t>
            </a:r>
          </a:p>
          <a:p>
            <a:pPr lvl="1"/>
            <a:r>
              <a:rPr lang="ro-RO" sz="1600" dirty="0"/>
              <a:t>Dorim să identificam </a:t>
            </a:r>
            <a:r>
              <a:rPr lang="ro-RO" sz="1600" b="1" i="1" dirty="0"/>
              <a:t>o solutie</a:t>
            </a:r>
            <a:r>
              <a:rPr lang="ro-RO" sz="1600" dirty="0"/>
              <a:t> cu valoarea cea mai mica / cea mai mare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- 23 Noiembrie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4753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Programare dinamică – pași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7772400" cy="4114800"/>
          </a:xfrm>
        </p:spPr>
        <p:txBody>
          <a:bodyPr/>
          <a:lstStyle/>
          <a:p>
            <a:pPr>
              <a:buAutoNum type="arabicPeriod"/>
            </a:pPr>
            <a:r>
              <a:rPr lang="ro-RO" sz="1800" dirty="0"/>
              <a:t>Se caracterizează structura unui soluții optime</a:t>
            </a:r>
          </a:p>
          <a:p>
            <a:pPr>
              <a:buAutoNum type="arabicPeriod"/>
            </a:pPr>
            <a:r>
              <a:rPr lang="ro-RO" sz="1800" dirty="0"/>
              <a:t>In mod recursiv, se definește valoarea unui soluții optime</a:t>
            </a:r>
          </a:p>
          <a:p>
            <a:pPr>
              <a:buAutoNum type="arabicPeriod"/>
            </a:pPr>
            <a:r>
              <a:rPr lang="ro-RO" sz="1800" dirty="0"/>
              <a:t>Se calculează valoarea unei soluții optime pornindu-se de jos în sus</a:t>
            </a:r>
          </a:p>
          <a:p>
            <a:pPr>
              <a:buAutoNum type="arabicPeriod"/>
            </a:pPr>
            <a:r>
              <a:rPr lang="ro-RO" sz="1800" dirty="0"/>
              <a:t>Se calculează soluția optimă pe baza informației obtinute până în acest pas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- 23 Noiembrie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1831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2800" dirty="0"/>
              <a:t>Problemă tăierii unei bare de oțel (rod cutting)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8229600" cy="2362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o-RO" sz="1600" dirty="0"/>
                  <a:t>Compania Sterling Enterprises cumpără bare de oțel lungi si le taie in bucăți mai scurte pe care apoi le revinde. Se cunoaște prețul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1600" dirty="0"/>
                  <a:t> cu care compania vinde o bară de lungime i (lungime intreagă). Se cere determinarea locului unde se vor face taieturile la o bară de lungime n, astfel încât să se obțină câștigul maxim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o-RO" sz="1600" dirty="0"/>
                  <a:t>. </a:t>
                </a:r>
              </a:p>
              <a:p>
                <a:r>
                  <a:rPr lang="ro-RO" sz="1600" b="1" dirty="0"/>
                  <a:t>Input:</a:t>
                </a:r>
                <a:r>
                  <a:rPr lang="ro-RO" sz="1600" dirty="0"/>
                  <a:t> n – lungimea inițială a barei, preturile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1600" dirty="0"/>
                  <a:t> pentru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𝑖</m:t>
                    </m:r>
                    <m:r>
                      <a:rPr lang="ro-RO" sz="1600" b="0" i="1" smtClean="0">
                        <a:latin typeface="Cambria Math"/>
                      </a:rPr>
                      <m:t>=</m:t>
                    </m:r>
                    <m:acc>
                      <m:accPr>
                        <m:chr m:val="̅"/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o-RO" sz="1600" b="0" i="1" smtClean="0">
                            <a:latin typeface="Cambria Math"/>
                          </a:rPr>
                          <m:t>1=,</m:t>
                        </m:r>
                        <m:r>
                          <a:rPr lang="ro-RO" sz="1600" b="0" i="1" smtClean="0">
                            <a:latin typeface="Cambria Math"/>
                          </a:rPr>
                          <m:t>𝑛</m:t>
                        </m:r>
                      </m:e>
                    </m:acc>
                  </m:oMath>
                </a14:m>
                <a:endParaRPr lang="ro-RO" sz="1600" dirty="0"/>
              </a:p>
              <a:p>
                <a:r>
                  <a:rPr lang="ro-RO" sz="1600" b="1" dirty="0"/>
                  <a:t>Output:</a:t>
                </a:r>
                <a:r>
                  <a:rPr lang="ro-RO" sz="1600" dirty="0"/>
                  <a:t> Se cere partiția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o-RO" sz="1600" dirty="0"/>
                  <a:t> cu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+…+</m:t>
                    </m:r>
                    <m:sSub>
                      <m:sSub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ro-RO" sz="160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ro-RO" sz="1600" b="0" i="0" smtClean="0">
                        <a:latin typeface="Cambria Math"/>
                      </a:rPr>
                      <m:t>n</m:t>
                    </m:r>
                  </m:oMath>
                </a14:m>
                <a:r>
                  <a:rPr lang="ro-RO" sz="1600" dirty="0"/>
                  <a:t> astfel încât suma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ro-RO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ro-RO" sz="1600" b="0" i="1" smtClean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ro-RO" sz="1600" b="0" i="1" smtClean="0">
                            <a:latin typeface="Cambria Math"/>
                          </a:rPr>
                          <m:t>=</m:t>
                        </m:r>
                        <m:r>
                          <a:rPr lang="ro-RO" sz="1600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ro-RO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ro-RO" sz="16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ro-RO" sz="16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+…+</m:t>
                    </m:r>
                    <m:sSub>
                      <m:sSub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ro-RO" sz="1600" b="0" i="1" smtClean="0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ro-RO" sz="1600" dirty="0"/>
                  <a:t> este maximă</a:t>
                </a:r>
              </a:p>
              <a:p>
                <a:r>
                  <a:rPr lang="ro-RO" sz="1600" dirty="0"/>
                  <a:t>Numărul maxim de partiții posibil: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600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ro-RO" sz="1600" b="0" i="1" smtClean="0">
                            <a:latin typeface="Cambria Math"/>
                          </a:rPr>
                          <m:t>𝑛</m:t>
                        </m:r>
                        <m:r>
                          <a:rPr lang="ro-RO" sz="1600" b="0" i="1" smtClean="0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endParaRPr lang="ro-RO" sz="1600" dirty="0"/>
              </a:p>
              <a:p>
                <a:endParaRPr lang="ro-RO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8229600" cy="2362200"/>
              </a:xfrm>
              <a:blipFill rotWithShape="1">
                <a:blip r:embed="rId2"/>
                <a:stretch>
                  <a:fillRect l="-370" t="-773" r="-222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- 23 Noiembrie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3346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CDEC2B2-3504-4ECC-88FF-0C3D7B4B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/>
              <a:t>Taierea</a:t>
            </a:r>
            <a:r>
              <a:rPr lang="en-US" sz="3600" dirty="0"/>
              <a:t> </a:t>
            </a:r>
            <a:r>
              <a:rPr lang="en-US" sz="3600" dirty="0" err="1"/>
              <a:t>unei</a:t>
            </a:r>
            <a:r>
              <a:rPr lang="en-US" sz="3600" dirty="0"/>
              <a:t> bare de </a:t>
            </a:r>
            <a:r>
              <a:rPr lang="en-US" sz="3600" dirty="0" err="1"/>
              <a:t>lungime</a:t>
            </a:r>
            <a:r>
              <a:rPr lang="en-US" sz="3600" dirty="0"/>
              <a:t> 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23D17890-8DF5-4212-91BF-2B8560937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- 23 Noiembrie 2020</a:t>
            </a:r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6823ED4-0BC1-45A6-974F-ABC9BD1B9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76400"/>
            <a:ext cx="7772400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514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EC344F-323C-46B0-B4EA-29A2729DA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/>
              <a:t>Taierea</a:t>
            </a:r>
            <a:r>
              <a:rPr lang="en-US" sz="3600" dirty="0"/>
              <a:t> </a:t>
            </a:r>
            <a:r>
              <a:rPr lang="en-US" sz="3600" dirty="0" err="1"/>
              <a:t>unei</a:t>
            </a:r>
            <a:r>
              <a:rPr lang="en-US" sz="3600" dirty="0"/>
              <a:t> bare de </a:t>
            </a:r>
            <a:r>
              <a:rPr lang="en-US" sz="3600" dirty="0" err="1"/>
              <a:t>lungime</a:t>
            </a:r>
            <a:r>
              <a:rPr lang="en-US" sz="3600" dirty="0"/>
              <a:t> 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="" xmlns:a16="http://schemas.microsoft.com/office/drawing/2014/main" id="{CA53593F-3702-4BA3-82F4-2A489EFA70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05000"/>
                <a:ext cx="7772400" cy="1524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>
                    <a:latin typeface="Cambria Math" panose="02040503050406030204" pitchFamily="18" charset="0"/>
                  </a:rPr>
                  <a:t>Solutia Divide-et-</a:t>
                </a:r>
                <a:r>
                  <a:rPr lang="en-US" sz="2000" dirty="0" err="1">
                    <a:latin typeface="Cambria Math" panose="02040503050406030204" pitchFamily="18" charset="0"/>
                  </a:rPr>
                  <a:t>impera</a:t>
                </a:r>
                <a:r>
                  <a:rPr lang="en-US" sz="2000" dirty="0">
                    <a:latin typeface="Cambria Math" panose="02040503050406030204" pitchFamily="18" charset="0"/>
                  </a:rPr>
                  <a:t>:</a:t>
                </a:r>
                <a:endParaRPr lang="en-US" sz="2000" b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CA53593F-3702-4BA3-82F4-2A489EFA70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05000"/>
                <a:ext cx="7772400" cy="1524000"/>
              </a:xfrm>
              <a:blipFill>
                <a:blip r:embed="rId2"/>
                <a:stretch>
                  <a:fillRect l="-863" t="-2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2856029D-3CFE-43B1-8E27-DC68DF6BA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- 23 Noiembrie 2020</a:t>
            </a:r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="" xmlns:a16="http://schemas.microsoft.com/office/drawing/2014/main" id="{28E6C707-E387-49D3-BBA2-CB2049E7C3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356733"/>
                  </p:ext>
                </p:extLst>
              </p:nvPr>
            </p:nvGraphicFramePr>
            <p:xfrm>
              <a:off x="609600" y="3810000"/>
              <a:ext cx="6096002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54182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="" xmlns:a16="http://schemas.microsoft.com/office/drawing/2014/main" val="20003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="" xmlns:a16="http://schemas.microsoft.com/office/drawing/2014/main" val="20004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="" xmlns:a16="http://schemas.microsoft.com/office/drawing/2014/main" val="20005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="" xmlns:a16="http://schemas.microsoft.com/office/drawing/2014/main" val="20006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="" xmlns:a16="http://schemas.microsoft.com/office/drawing/2014/main" val="20007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="" xmlns:a16="http://schemas.microsoft.com/office/drawing/2014/main" val="20008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="" xmlns:a16="http://schemas.microsoft.com/office/drawing/2014/main" val="20009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="" xmlns:a16="http://schemas.microsoft.com/office/drawing/2014/main" val="2001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o-RO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o-RO" b="0" i="1" smtClean="0">
                                        <a:latin typeface="Cambria Math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ro-RO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o-R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30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28E6C707-E387-49D3-BBA2-CB2049E7C3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356733"/>
                  </p:ext>
                </p:extLst>
              </p:nvPr>
            </p:nvGraphicFramePr>
            <p:xfrm>
              <a:off x="609600" y="3810000"/>
              <a:ext cx="6096002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5418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  <a:gridCol w="554182">
                      <a:extLst>
                        <a:ext uri="{9D8B030D-6E8A-4147-A177-3AD203B41FA5}">
                          <a16:colId xmlns:a16="http://schemas.microsoft.com/office/drawing/2014/main" val="2001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198" t="-108197" r="-1004396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o-RO" dirty="0"/>
                            <a:t>30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Content Placeholder 2">
            <a:extLst>
              <a:ext uri="{FF2B5EF4-FFF2-40B4-BE49-F238E27FC236}">
                <a16:creationId xmlns="" xmlns:a16="http://schemas.microsoft.com/office/drawing/2014/main" id="{7FD482CB-FABE-4C8B-8EFC-96376D94EF07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568036" y="4800600"/>
            <a:ext cx="8229600" cy="1981200"/>
          </a:xfrm>
          <a:prstGeom prst="rect">
            <a:avLst/>
          </a:prstGeom>
          <a:blipFill rotWithShape="1">
            <a:blip r:embed="rId4"/>
            <a:stretch>
              <a:fillRect t="-923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ro-RO" dirty="0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358253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Rezolvare recursivă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7772400" cy="4800600"/>
              </a:xfrm>
            </p:spPr>
            <p:txBody>
              <a:bodyPr/>
              <a:lstStyle/>
              <a:p>
                <a:r>
                  <a:rPr lang="ro-RO" sz="2000" dirty="0"/>
                  <a:t>Problemă cu structură optimă: solutia optimă a problemei incorporează soluții optime ale subproblemelor</a:t>
                </a:r>
              </a:p>
              <a:p>
                <a:endParaRPr lang="ro-RO" sz="2000" dirty="0"/>
              </a:p>
              <a:p>
                <a:r>
                  <a:rPr lang="ro-RO" sz="2000" dirty="0"/>
                  <a:t>Descompunerea recursivă a problemei tăierii barei:</a:t>
                </a:r>
              </a:p>
              <a:p>
                <a:pPr lvl="1"/>
                <a:r>
                  <a:rPr lang="ro-RO" sz="1600" dirty="0"/>
                  <a:t>Se taie o piesă de lungime i</a:t>
                </a:r>
              </a:p>
              <a:p>
                <a:pPr lvl="1"/>
                <a:r>
                  <a:rPr lang="ro-RO" sz="1600" dirty="0"/>
                  <a:t>Bara rămasă de lungime n-i trebuie tăiată în mod recursiv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ro-RO" sz="1600" b="0" i="0" smtClean="0">
                                <a:latin typeface="Cambria Math"/>
                              </a:rPr>
                              <m:t>max</m:t>
                            </m:r>
                          </m:e>
                          <m:lim>
                            <m:r>
                              <a:rPr lang="ro-RO" sz="1600" b="0" i="1" smtClean="0">
                                <a:latin typeface="Cambria Math"/>
                              </a:rPr>
                              <m:t>1</m:t>
                            </m:r>
                            <m:r>
                              <a:rPr lang="ro-RO" sz="1600" b="0" i="1" smtClean="0">
                                <a:latin typeface="Cambria Math"/>
                                <a:ea typeface="Cambria Math"/>
                              </a:rPr>
                              <m:t>≤</m:t>
                            </m:r>
                            <m:r>
                              <a:rPr lang="ro-RO" sz="1600" b="0" i="1" smtClean="0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  <m:r>
                              <a:rPr lang="ro-RO" sz="1600" b="0" i="1" smtClean="0">
                                <a:latin typeface="Cambria Math"/>
                                <a:ea typeface="Cambria Math"/>
                              </a:rPr>
                              <m:t>≤</m:t>
                            </m:r>
                            <m:r>
                              <a:rPr lang="ro-RO" sz="1600" b="0" i="1" smtClean="0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lim>
                        </m:limLow>
                      </m:fName>
                      <m:e>
                        <m:r>
                          <a:rPr lang="ro-RO" sz="1600" b="0" i="1" smtClean="0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ro-RO" sz="16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ro-RO" sz="1600" b="0" i="1" smtClean="0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600" b="0" i="1" smtClean="0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ro-RO" sz="1600" b="0" i="1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ro-RO" sz="1600" b="0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ro-RO" sz="16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ro-RO" sz="1600" b="0" i="1" smtClean="0">
                            <a:latin typeface="Cambria Math"/>
                          </a:rPr>
                          <m:t>)</m:t>
                        </m:r>
                      </m:e>
                    </m:func>
                  </m:oMath>
                </a14:m>
                <a:endParaRPr lang="ro-RO" sz="1600" dirty="0"/>
              </a:p>
              <a:p>
                <a:endParaRPr lang="ro-RO" sz="2000" dirty="0"/>
              </a:p>
              <a:p>
                <a:pPr marL="0" indent="0">
                  <a:buNone/>
                </a:pPr>
                <a:r>
                  <a:rPr lang="ro-RO" sz="1600" dirty="0"/>
                  <a:t>CUT-ROD(p,n)</a:t>
                </a:r>
              </a:p>
              <a:p>
                <a:pPr marL="0" indent="0">
                  <a:buNone/>
                </a:pPr>
                <a:r>
                  <a:rPr lang="ro-RO" sz="1600" dirty="0"/>
                  <a:t>1. if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𝑛</m:t>
                    </m:r>
                    <m:r>
                      <a:rPr lang="ro-RO" sz="1600" b="0" i="1" smtClean="0">
                        <a:latin typeface="Cambria Math"/>
                      </a:rPr>
                      <m:t>==0</m:t>
                    </m:r>
                  </m:oMath>
                </a14:m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2.	Return 0</a:t>
                </a:r>
              </a:p>
              <a:p>
                <a:pPr marL="0" indent="0">
                  <a:buNone/>
                </a:pPr>
                <a:r>
                  <a:rPr lang="ro-RO" sz="1600" dirty="0"/>
                  <a:t>3.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𝑞</m:t>
                    </m:r>
                    <m:r>
                      <a:rPr lang="ro-RO" sz="1600" b="0" i="1" smtClean="0">
                        <a:latin typeface="Cambria Math"/>
                      </a:rPr>
                      <m:t>=−∞</m:t>
                    </m:r>
                  </m:oMath>
                </a14:m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4. for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𝑖</m:t>
                    </m:r>
                    <m:r>
                      <a:rPr lang="ro-RO" sz="1600" b="0" i="1" smtClean="0">
                        <a:latin typeface="Cambria Math"/>
                      </a:rPr>
                      <m:t>=1</m:t>
                    </m:r>
                  </m:oMath>
                </a14:m>
                <a:r>
                  <a:rPr lang="ro-RO" sz="1600" dirty="0"/>
                  <a:t> to n</a:t>
                </a:r>
              </a:p>
              <a:p>
                <a:pPr marL="0" indent="0">
                  <a:buNone/>
                </a:pPr>
                <a:r>
                  <a:rPr lang="ro-RO" sz="1600" dirty="0"/>
                  <a:t>5. 	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𝑞</m:t>
                    </m:r>
                    <m:r>
                      <a:rPr lang="ro-RO" sz="1600" b="0" i="1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ro-RO" sz="1600" b="0" i="0" smtClean="0">
                        <a:latin typeface="Cambria Math"/>
                      </a:rPr>
                      <m:t>max</m:t>
                    </m:r>
                    <m:r>
                      <a:rPr lang="ro-RO" sz="1600" b="0" i="1" smtClean="0">
                        <a:latin typeface="Cambria Math"/>
                      </a:rPr>
                      <m:t>⁡(</m:t>
                    </m:r>
                    <m:r>
                      <a:rPr lang="ro-RO" sz="1600" b="0" i="1" smtClean="0">
                        <a:latin typeface="Cambria Math"/>
                      </a:rPr>
                      <m:t>𝑞</m:t>
                    </m:r>
                    <m:r>
                      <a:rPr lang="ro-RO" sz="1600" b="0" i="1" smtClean="0">
                        <a:latin typeface="Cambria Math"/>
                      </a:rPr>
                      <m:t>,</m:t>
                    </m:r>
                    <m:r>
                      <a:rPr lang="ro-RO" sz="1600" b="0" i="1" smtClean="0">
                        <a:latin typeface="Cambria Math"/>
                      </a:rPr>
                      <m:t>𝑝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/>
                          </a:rPr>
                          <m:t>𝑖</m:t>
                        </m:r>
                      </m:e>
                    </m:d>
                    <m:r>
                      <a:rPr lang="en-US" sz="1600" b="0" i="1" smtClean="0">
                        <a:latin typeface="Cambria Math"/>
                      </a:rPr>
                      <m:t>+</m:t>
                    </m:r>
                    <m:r>
                      <a:rPr lang="en-US" sz="1600" b="0" i="1" smtClean="0">
                        <a:latin typeface="Cambria Math"/>
                      </a:rPr>
                      <m:t>𝐶𝑈𝑇</m:t>
                    </m:r>
                    <m:r>
                      <a:rPr lang="en-US" sz="1600" b="0" i="1" smtClean="0">
                        <a:latin typeface="Cambria Math"/>
                      </a:rPr>
                      <m:t>−</m:t>
                    </m:r>
                    <m:r>
                      <a:rPr lang="en-US" sz="1600" b="0" i="1" smtClean="0">
                        <a:latin typeface="Cambria Math"/>
                      </a:rPr>
                      <m:t>𝑅𝑂𝐷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/>
                          </a:rPr>
                          <m:t>𝑝</m:t>
                        </m:r>
                        <m:r>
                          <a:rPr lang="en-US" sz="1600" b="0" i="1" smtClean="0">
                            <a:latin typeface="Cambria Math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/>
                          </a:rPr>
                          <m:t>𝑛</m:t>
                        </m:r>
                        <m:r>
                          <a:rPr lang="en-US" sz="1600" b="0" i="1" smtClean="0">
                            <a:latin typeface="Cambria Math"/>
                          </a:rPr>
                          <m:t>−</m:t>
                        </m:r>
                        <m:r>
                          <a:rPr lang="en-US" sz="1600" b="0" i="1" smtClean="0">
                            <a:latin typeface="Cambria Math"/>
                          </a:rPr>
                          <m:t>𝑖</m:t>
                        </m:r>
                      </m:e>
                    </m:d>
                    <m:r>
                      <a:rPr lang="en-US" sz="1600" b="0" i="1" smtClean="0">
                        <a:latin typeface="Cambria Math"/>
                      </a:rPr>
                      <m:t>)</m:t>
                    </m:r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6. Return q</a:t>
                </a:r>
                <a:endParaRPr lang="ro-RO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7772400" cy="4800600"/>
              </a:xfrm>
              <a:blipFill rotWithShape="1">
                <a:blip r:embed="rId2"/>
                <a:stretch>
                  <a:fillRect l="-392" t="-63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- 23 Noiembrie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5268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Analiza</a:t>
            </a:r>
            <a:r>
              <a:rPr lang="en-US" sz="3200" dirty="0"/>
              <a:t> CUT-ROD</a:t>
            </a:r>
            <a:endParaRPr lang="ro-RO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</p:spPr>
            <p:txBody>
              <a:bodyPr/>
              <a:lstStyle/>
              <a:p>
                <a:r>
                  <a:rPr lang="en-US" sz="1600" dirty="0"/>
                  <a:t>CUT-ROD(</a:t>
                </a:r>
                <a:r>
                  <a:rPr lang="en-US" sz="1600" dirty="0" err="1"/>
                  <a:t>p,n</a:t>
                </a:r>
                <a:r>
                  <a:rPr lang="en-US" sz="1600" dirty="0"/>
                  <a:t>) </a:t>
                </a:r>
                <a:r>
                  <a:rPr lang="en-US" sz="1600" dirty="0" err="1"/>
                  <a:t>apeleaz</a:t>
                </a:r>
                <a:r>
                  <a:rPr lang="ro-RO" sz="1600" dirty="0"/>
                  <a:t>ă recursiv CUT-ROD(p,n-i)  pentru toti i=1..n</a:t>
                </a:r>
              </a:p>
              <a:p>
                <a:r>
                  <a:rPr lang="ro-RO" sz="1600" dirty="0"/>
                  <a:t>Acelasi apel CUT-ROD(p,j) se face de mai multe ori =</a:t>
                </a:r>
                <a:r>
                  <a:rPr lang="en-US" sz="1600" dirty="0"/>
                  <a:t>&gt; program </a:t>
                </a:r>
                <a:r>
                  <a:rPr lang="en-US" sz="1600" dirty="0" err="1"/>
                  <a:t>ineficient</a:t>
                </a:r>
                <a:endParaRPr lang="en-US" sz="1600" dirty="0"/>
              </a:p>
              <a:p>
                <a:endParaRPr lang="en-US" sz="1600" dirty="0"/>
              </a:p>
              <a:p>
                <a:r>
                  <a:rPr lang="en-US" sz="1600" dirty="0" err="1"/>
                  <a:t>Timpul</a:t>
                </a:r>
                <a:r>
                  <a:rPr lang="en-US" sz="1600" dirty="0"/>
                  <a:t> de </a:t>
                </a:r>
                <a:r>
                  <a:rPr lang="en-US" sz="1600" dirty="0" err="1"/>
                  <a:t>executie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sz="1600" b="0" i="1" smtClean="0">
                        <a:latin typeface="Cambria Math"/>
                      </a:rPr>
                      <m:t>=1+</m:t>
                    </m:r>
                    <m:nary>
                      <m:naryPr>
                        <m:chr m:val="∑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600" b="0" i="1" smtClean="0">
                            <a:latin typeface="Cambria Math"/>
                          </a:rPr>
                          <m:t>𝑗</m:t>
                        </m:r>
                        <m:r>
                          <a:rPr lang="en-US" sz="1600" b="0" i="1" smtClean="0">
                            <a:latin typeface="Cambria Math"/>
                          </a:rPr>
                          <m:t>=0</m:t>
                        </m:r>
                      </m:sub>
                      <m:sup>
                        <m:r>
                          <a:rPr lang="en-US" sz="1600" b="0" i="1" smtClean="0">
                            <a:latin typeface="Cambria Math"/>
                          </a:rPr>
                          <m:t>𝑛</m:t>
                        </m:r>
                        <m:r>
                          <a:rPr lang="en-US" sz="1600" b="0" i="1" smtClean="0">
                            <a:latin typeface="Cambria Math"/>
                          </a:rPr>
                          <m:t>−1</m:t>
                        </m:r>
                      </m:sup>
                      <m:e>
                        <m:r>
                          <a:rPr lang="en-US" sz="1600" b="0" i="1" smtClean="0">
                            <a:latin typeface="Cambria Math"/>
                          </a:rPr>
                          <m:t>𝑇</m:t>
                        </m:r>
                        <m:r>
                          <a:rPr lang="en-US" sz="1600" b="0" i="1" smtClean="0">
                            <a:latin typeface="Cambria Math"/>
                          </a:rPr>
                          <m:t>(</m:t>
                        </m:r>
                        <m:r>
                          <a:rPr lang="en-US" sz="1600" b="0" i="1" smtClean="0">
                            <a:latin typeface="Cambria Math"/>
                          </a:rPr>
                          <m:t>𝑗</m:t>
                        </m:r>
                        <m:r>
                          <a:rPr lang="en-US" sz="1600" b="0" i="1" smtClean="0">
                            <a:latin typeface="Cambria Math"/>
                          </a:rPr>
                          <m:t>)</m:t>
                        </m:r>
                      </m:e>
                    </m:nary>
                    <m:r>
                      <a:rPr lang="en-US" sz="16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1600" b="0" i="1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endParaRPr lang="en-US" sz="1600" dirty="0" err="1"/>
              </a:p>
              <a:p>
                <a:r>
                  <a:rPr lang="en-US" sz="1600" dirty="0" err="1"/>
                  <a:t>Complexitate</a:t>
                </a:r>
                <a:r>
                  <a:rPr lang="en-US" sz="1600" dirty="0"/>
                  <a:t> exponential</a:t>
                </a:r>
                <a:r>
                  <a:rPr lang="ro-RO" sz="1600" dirty="0"/>
                  <a:t>ă în n</a:t>
                </a:r>
              </a:p>
              <a:p>
                <a:endParaRPr lang="ro-RO" sz="1600" dirty="0"/>
              </a:p>
              <a:p>
                <a:endParaRPr lang="ro-RO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  <a:blipFill rotWithShape="1">
                <a:blip r:embed="rId2"/>
                <a:stretch>
                  <a:fillRect t="-44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- 23 Noiembrie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8493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Programare dinamică – solutie eficientă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229600" cy="4953000"/>
          </a:xfrm>
        </p:spPr>
        <p:txBody>
          <a:bodyPr/>
          <a:lstStyle/>
          <a:p>
            <a:r>
              <a:rPr lang="ro-RO" sz="1600" dirty="0"/>
              <a:t>Incercăm să producem un algoritm astfel incat fiecare subproblemă să fie rezolvată o singură dată</a:t>
            </a:r>
          </a:p>
          <a:p>
            <a:r>
              <a:rPr lang="ro-RO" sz="1600" dirty="0"/>
              <a:t>Se utilizează o zonă de memorie suplimentară unde să se salveze rezultatele fiecărei subprobleme</a:t>
            </a:r>
          </a:p>
          <a:p>
            <a:endParaRPr lang="ro-RO" sz="1600" dirty="0"/>
          </a:p>
          <a:p>
            <a:r>
              <a:rPr lang="ro-RO" sz="1600" dirty="0"/>
              <a:t>Timpul de executie exponențial se poate reduce la timp de executie polinomial dacă numărul de subprobleme este polinomial și rezolvarea unei subprobleme este polinomială</a:t>
            </a:r>
          </a:p>
          <a:p>
            <a:endParaRPr lang="ro-RO" sz="1600" dirty="0"/>
          </a:p>
          <a:p>
            <a:pPr marL="0" indent="0">
              <a:buNone/>
            </a:pPr>
            <a:r>
              <a:rPr lang="ro-RO" sz="1600" dirty="0"/>
              <a:t>2 abordări:</a:t>
            </a:r>
          </a:p>
          <a:p>
            <a:r>
              <a:rPr lang="ro-RO" sz="1600" dirty="0"/>
              <a:t>Abordare </a:t>
            </a:r>
            <a:r>
              <a:rPr lang="ro-RO" sz="1600" b="1" dirty="0"/>
              <a:t>top-down cu memo</a:t>
            </a:r>
            <a:r>
              <a:rPr lang="en-US" sz="1600" b="1" dirty="0" err="1"/>
              <a:t>iz</a:t>
            </a:r>
            <a:r>
              <a:rPr lang="ro-RO" sz="1600" b="1" dirty="0"/>
              <a:t>are</a:t>
            </a:r>
            <a:r>
              <a:rPr lang="ro-RO" sz="1600" dirty="0"/>
              <a:t>: se scrie procedura recursivă in mod obisnuit, dar o modificăm astfel incat să salvăm rezultatul fiecărei subprobleme intr-un sir. Inainte să se apeleze recursivitatea, se verifică daca rezultatul dorit este deja salvat in sir</a:t>
            </a:r>
          </a:p>
          <a:p>
            <a:r>
              <a:rPr lang="ro-RO" sz="1600" dirty="0"/>
              <a:t>Abordare </a:t>
            </a:r>
            <a:r>
              <a:rPr lang="ro-RO" sz="1600" b="1" dirty="0"/>
              <a:t>bottom-up</a:t>
            </a:r>
            <a:r>
              <a:rPr lang="ro-RO" sz="1600" dirty="0"/>
              <a:t>: sortăm subproblemele in functie de ordinul lor de mărime și le rezolvăm cele mai mici la inceput</a:t>
            </a:r>
          </a:p>
          <a:p>
            <a:endParaRPr lang="ro-RO" sz="16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- 23 Noiembrie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9411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Abordarea top-down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7772400" cy="4953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o-RO" sz="1600" dirty="0"/>
                  <a:t>MEMOIZED-CUT-ROD</a:t>
                </a:r>
              </a:p>
              <a:p>
                <a:pPr marL="0" indent="0">
                  <a:buNone/>
                </a:pPr>
                <a:r>
                  <a:rPr lang="ro-RO" sz="1600" dirty="0"/>
                  <a:t>1. </a:t>
                </a:r>
                <a:r>
                  <a:rPr lang="en-US" sz="1600" dirty="0"/>
                  <a:t>Fie un sir </a:t>
                </a:r>
                <a:r>
                  <a:rPr lang="en-US" sz="1600" dirty="0" err="1"/>
                  <a:t>auxiliar</a:t>
                </a:r>
                <a:r>
                  <a:rPr lang="ro-RO" sz="1600" dirty="0"/>
                  <a:t> r</a:t>
                </a:r>
                <a:r>
                  <a:rPr lang="en-US" sz="1600" dirty="0"/>
                  <a:t>[0..n]</a:t>
                </a:r>
              </a:p>
              <a:p>
                <a:pPr marL="0" indent="0">
                  <a:buNone/>
                </a:pPr>
                <a:r>
                  <a:rPr lang="en-US" sz="1600" dirty="0"/>
                  <a:t>2. for </a:t>
                </a:r>
                <a:r>
                  <a:rPr lang="en-US" sz="1600" dirty="0" err="1"/>
                  <a:t>i</a:t>
                </a:r>
                <a:r>
                  <a:rPr lang="en-US" sz="1600" dirty="0"/>
                  <a:t>=0 to n</a:t>
                </a:r>
              </a:p>
              <a:p>
                <a:pPr marL="0" indent="0">
                  <a:buNone/>
                </a:pPr>
                <a:r>
                  <a:rPr lang="en-US" sz="1600" dirty="0"/>
                  <a:t>3. 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𝑟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/>
                          </a:rPr>
                          <m:t>𝑖</m:t>
                        </m:r>
                      </m:e>
                    </m:d>
                    <m:r>
                      <a:rPr lang="en-US" sz="1600" b="0" i="1" smtClean="0">
                        <a:latin typeface="Cambria Math"/>
                      </a:rPr>
                      <m:t>=−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∞</m:t>
                    </m:r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4. return  MEMOIZED-CUT-ROD-AUX(</a:t>
                </a:r>
                <a:r>
                  <a:rPr lang="en-US" sz="1600" dirty="0" err="1"/>
                  <a:t>p,n,r</a:t>
                </a:r>
                <a:r>
                  <a:rPr lang="en-US" sz="1600" dirty="0"/>
                  <a:t>)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MEMOIZED-CUT-ROD-AUX(</a:t>
                </a:r>
                <a:r>
                  <a:rPr lang="en-US" sz="1600" dirty="0" err="1"/>
                  <a:t>p,n,r</a:t>
                </a:r>
                <a:r>
                  <a:rPr lang="en-US" sz="1600" dirty="0"/>
                  <a:t>)</a:t>
                </a:r>
              </a:p>
              <a:p>
                <a:pPr marL="0" indent="0">
                  <a:buNone/>
                </a:pPr>
                <a:r>
                  <a:rPr lang="en-US" sz="1600" dirty="0"/>
                  <a:t>1. if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𝑟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sz="1600" b="0" i="1" smtClean="0">
                        <a:latin typeface="Cambria Math"/>
                        <a:ea typeface="Cambria Math"/>
                      </a:rPr>
                      <m:t>≥0</m:t>
                    </m:r>
                  </m:oMath>
                </a14:m>
                <a:endParaRPr lang="en-US" sz="1600" b="0" dirty="0"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US" sz="1600" dirty="0"/>
                  <a:t>2. 	return r[n]</a:t>
                </a:r>
              </a:p>
              <a:p>
                <a:pPr marL="0" indent="0">
                  <a:buNone/>
                </a:pPr>
                <a:r>
                  <a:rPr lang="en-US" sz="1600" dirty="0"/>
                  <a:t>3. if n==0</a:t>
                </a:r>
              </a:p>
              <a:p>
                <a:pPr marL="0" indent="0">
                  <a:buNone/>
                </a:pPr>
                <a:r>
                  <a:rPr lang="en-US" sz="1600" dirty="0"/>
                  <a:t>4. 	q=0</a:t>
                </a:r>
              </a:p>
              <a:p>
                <a:pPr marL="0" indent="0">
                  <a:buNone/>
                </a:pPr>
                <a:r>
                  <a:rPr lang="en-US" sz="1600" dirty="0"/>
                  <a:t>5. else 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𝑞</m:t>
                    </m:r>
                    <m:r>
                      <a:rPr lang="en-US" sz="1600" b="0" i="1" smtClean="0">
                        <a:latin typeface="Cambria Math"/>
                      </a:rPr>
                      <m:t>=−∞</m:t>
                    </m:r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6.     	for </a:t>
                </a:r>
                <a:r>
                  <a:rPr lang="en-US" sz="1600" dirty="0" err="1"/>
                  <a:t>i</a:t>
                </a:r>
                <a:r>
                  <a:rPr lang="en-US" sz="1600" dirty="0"/>
                  <a:t>=1 to n</a:t>
                </a:r>
              </a:p>
              <a:p>
                <a:pPr marL="0" indent="0">
                  <a:buNone/>
                </a:pPr>
                <a:r>
                  <a:rPr lang="en-US" sz="1600" dirty="0"/>
                  <a:t>7. 		q=max(q, p[</a:t>
                </a:r>
                <a:r>
                  <a:rPr lang="en-US" sz="1600" dirty="0" err="1"/>
                  <a:t>i</a:t>
                </a:r>
                <a:r>
                  <a:rPr lang="en-US" sz="1600" dirty="0"/>
                  <a:t>]+MEMOIZED-CUT-ROD-AUX(</a:t>
                </a:r>
                <a:r>
                  <a:rPr lang="en-US" sz="1600" dirty="0" err="1"/>
                  <a:t>p,n-i,r</a:t>
                </a:r>
                <a:r>
                  <a:rPr lang="en-US" sz="1600" dirty="0"/>
                  <a:t>))</a:t>
                </a:r>
              </a:p>
              <a:p>
                <a:pPr marL="0" indent="0">
                  <a:buNone/>
                </a:pPr>
                <a:r>
                  <a:rPr lang="en-US" sz="1600" dirty="0"/>
                  <a:t>8. r[n]=q</a:t>
                </a:r>
              </a:p>
              <a:p>
                <a:pPr marL="0" indent="0">
                  <a:buNone/>
                </a:pPr>
                <a:r>
                  <a:rPr lang="en-US" sz="1600" dirty="0"/>
                  <a:t>9. return q </a:t>
                </a:r>
                <a:endParaRPr lang="ro-RO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7772400" cy="4953000"/>
              </a:xfrm>
              <a:blipFill rotWithShape="0">
                <a:blip r:embed="rId2"/>
                <a:stretch>
                  <a:fillRect l="-392" t="-369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- 23 Noiembrie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356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Abordarea</a:t>
            </a:r>
            <a:r>
              <a:rPr lang="en-US" sz="3200" dirty="0"/>
              <a:t> bottom-up</a:t>
            </a:r>
            <a:endParaRPr lang="ro-RO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600" dirty="0"/>
                  <a:t>BOTTOM-UP-CUT-ROD(</a:t>
                </a:r>
                <a:r>
                  <a:rPr lang="en-US" sz="1600" dirty="0" err="1"/>
                  <a:t>p,n</a:t>
                </a:r>
                <a:r>
                  <a:rPr lang="en-US" sz="1600" dirty="0"/>
                  <a:t>)</a:t>
                </a:r>
              </a:p>
              <a:p>
                <a:pPr marL="0" indent="0">
                  <a:buNone/>
                </a:pPr>
                <a:r>
                  <a:rPr lang="en-US" sz="1600" dirty="0"/>
                  <a:t>1. fie r[0..n] un sir de </a:t>
                </a:r>
                <a:r>
                  <a:rPr lang="en-US" sz="1600" dirty="0" err="1"/>
                  <a:t>numere</a:t>
                </a: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2. r[0]=0</a:t>
                </a:r>
              </a:p>
              <a:p>
                <a:pPr marL="0" indent="0">
                  <a:buNone/>
                </a:pPr>
                <a:r>
                  <a:rPr lang="en-US" sz="1600" dirty="0"/>
                  <a:t>3. For j=1 to n</a:t>
                </a:r>
              </a:p>
              <a:p>
                <a:pPr marL="0" indent="0">
                  <a:buNone/>
                </a:pPr>
                <a:r>
                  <a:rPr lang="en-US" sz="1600" dirty="0"/>
                  <a:t>4.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𝑞</m:t>
                    </m:r>
                    <m:r>
                      <a:rPr lang="en-US" sz="1600" b="0" i="1" smtClean="0">
                        <a:latin typeface="Cambria Math"/>
                      </a:rPr>
                      <m:t>=−∞</m:t>
                    </m:r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5.	For </a:t>
                </a:r>
                <a:r>
                  <a:rPr lang="en-US" sz="1600" dirty="0" err="1"/>
                  <a:t>i</a:t>
                </a:r>
                <a:r>
                  <a:rPr lang="en-US" sz="1600" dirty="0"/>
                  <a:t> = 1 to j</a:t>
                </a:r>
              </a:p>
              <a:p>
                <a:pPr marL="0" indent="0">
                  <a:buNone/>
                </a:pPr>
                <a:r>
                  <a:rPr lang="en-US" sz="1600" dirty="0"/>
                  <a:t>6.		q=max(q, p[</a:t>
                </a:r>
                <a:r>
                  <a:rPr lang="en-US" sz="1600" dirty="0" err="1"/>
                  <a:t>i</a:t>
                </a:r>
                <a:r>
                  <a:rPr lang="en-US" sz="1600" dirty="0"/>
                  <a:t>]+r[j-</a:t>
                </a:r>
                <a:r>
                  <a:rPr lang="en-US" sz="1600" dirty="0" err="1"/>
                  <a:t>i</a:t>
                </a:r>
                <a:r>
                  <a:rPr lang="en-US" sz="1600" dirty="0"/>
                  <a:t>])</a:t>
                </a:r>
              </a:p>
              <a:p>
                <a:pPr marL="0" indent="0">
                  <a:buNone/>
                </a:pPr>
                <a:r>
                  <a:rPr lang="en-US" sz="1600" dirty="0"/>
                  <a:t>7.	r[j] = q</a:t>
                </a:r>
              </a:p>
              <a:p>
                <a:pPr marL="0" indent="0">
                  <a:buNone/>
                </a:pPr>
                <a:r>
                  <a:rPr lang="en-US" sz="1600" dirty="0"/>
                  <a:t>8. Return r[n]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 err="1"/>
                  <a:t>Ambeleabord</a:t>
                </a:r>
                <a:r>
                  <a:rPr lang="ro-RO" sz="1600" dirty="0"/>
                  <a:t>ări au timp de executie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 smtClean="0">
                        <a:latin typeface="Cambria Math"/>
                      </a:rPr>
                      <m:t>Θ</m:t>
                    </m:r>
                    <m:r>
                      <a:rPr lang="ro-RO" sz="1600" b="0" i="1" smtClean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600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ro-RO" sz="16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ro-RO" sz="1600" b="0" i="1" smtClean="0">
                        <a:latin typeface="Cambria Math"/>
                      </a:rPr>
                      <m:t>)</m:t>
                    </m:r>
                  </m:oMath>
                </a14:m>
                <a:endParaRPr lang="ro-RO" sz="1600" dirty="0"/>
              </a:p>
              <a:p>
                <a:pPr marL="0" indent="0">
                  <a:buNone/>
                </a:pPr>
                <a:endParaRPr lang="ro-RO" sz="1600" dirty="0"/>
              </a:p>
              <a:p>
                <a:pPr marL="0" indent="0">
                  <a:buNone/>
                </a:pPr>
                <a:endParaRPr lang="ro-RO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  <a:blipFill rotWithShape="1">
                <a:blip r:embed="rId2"/>
                <a:stretch>
                  <a:fillRect l="-392" t="-44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- 23 Noiembrie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7543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Programarea dinamică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7772400" cy="4114800"/>
          </a:xfrm>
        </p:spPr>
        <p:txBody>
          <a:bodyPr/>
          <a:lstStyle/>
          <a:p>
            <a:r>
              <a:rPr lang="ro-RO" sz="1600" dirty="0"/>
              <a:t>Pentru a intelege programarea dinamică trebuie să intelegem cum subproblemele ajută la rezolvarea problemei mari</a:t>
            </a:r>
          </a:p>
          <a:p>
            <a:r>
              <a:rPr lang="ro-RO" sz="1600" dirty="0"/>
              <a:t>=</a:t>
            </a:r>
            <a:r>
              <a:rPr lang="en-US" sz="1600" dirty="0"/>
              <a:t>&gt; se </a:t>
            </a:r>
            <a:r>
              <a:rPr lang="en-US" sz="1600" dirty="0" err="1"/>
              <a:t>construieste</a:t>
            </a:r>
            <a:r>
              <a:rPr lang="en-US" sz="1600" dirty="0"/>
              <a:t> </a:t>
            </a:r>
            <a:r>
              <a:rPr lang="en-US" sz="1600" dirty="0" err="1"/>
              <a:t>graful</a:t>
            </a:r>
            <a:r>
              <a:rPr lang="en-US" sz="1600" dirty="0"/>
              <a:t> </a:t>
            </a:r>
            <a:r>
              <a:rPr lang="en-US" sz="1600" dirty="0" err="1"/>
              <a:t>subproblemelor</a:t>
            </a:r>
            <a:endParaRPr lang="en-US" sz="1600" dirty="0"/>
          </a:p>
          <a:p>
            <a:r>
              <a:rPr lang="en-US" sz="1600" dirty="0" err="1"/>
              <a:t>Graful</a:t>
            </a:r>
            <a:r>
              <a:rPr lang="en-US" sz="1600" dirty="0"/>
              <a:t> </a:t>
            </a:r>
            <a:r>
              <a:rPr lang="en-US" sz="1600" dirty="0" err="1"/>
              <a:t>subproblemelor</a:t>
            </a:r>
            <a:r>
              <a:rPr lang="en-US" sz="1600" dirty="0"/>
              <a:t> </a:t>
            </a:r>
            <a:r>
              <a:rPr lang="en-US" sz="1600" dirty="0" err="1"/>
              <a:t>poate</a:t>
            </a:r>
            <a:r>
              <a:rPr lang="en-US" sz="1600" dirty="0"/>
              <a:t> fi </a:t>
            </a:r>
            <a:r>
              <a:rPr lang="en-US" sz="1600" dirty="0" err="1"/>
              <a:t>considerat</a:t>
            </a:r>
            <a:r>
              <a:rPr lang="en-US" sz="1600" dirty="0"/>
              <a:t> o </a:t>
            </a:r>
            <a:r>
              <a:rPr lang="en-US" sz="1600" dirty="0" err="1"/>
              <a:t>versiune</a:t>
            </a:r>
            <a:r>
              <a:rPr lang="en-US" sz="1600" dirty="0"/>
              <a:t> </a:t>
            </a:r>
            <a:r>
              <a:rPr lang="en-US" sz="1600" dirty="0" err="1"/>
              <a:t>restrans</a:t>
            </a:r>
            <a:r>
              <a:rPr lang="ro-RO" sz="1600" dirty="0"/>
              <a:t>ă a arborelui de recursivitate</a:t>
            </a:r>
          </a:p>
          <a:p>
            <a:endParaRPr lang="ro-RO" sz="1600" dirty="0"/>
          </a:p>
          <a:p>
            <a:r>
              <a:rPr lang="ro-RO" sz="1600" dirty="0"/>
              <a:t>Mărimea grafului subproblemei ne arată timpul de rulare a algoritmului de programare dinamică </a:t>
            </a:r>
            <a:r>
              <a:rPr lang="en-US" sz="1600" dirty="0"/>
              <a:t>=&gt; </a:t>
            </a:r>
            <a:r>
              <a:rPr lang="en-US" sz="1600" dirty="0" err="1"/>
              <a:t>propor</a:t>
            </a:r>
            <a:r>
              <a:rPr lang="ro-RO" sz="1600" dirty="0"/>
              <a:t>țional cu numărul de arcuri care ies dintr-un nod al acestui graf</a:t>
            </a:r>
          </a:p>
          <a:p>
            <a:endParaRPr lang="ro-RO" sz="1600" dirty="0"/>
          </a:p>
          <a:p>
            <a:endParaRPr lang="ro-RO" sz="1600" dirty="0"/>
          </a:p>
          <a:p>
            <a:endParaRPr lang="ro-RO" sz="16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- 23 Noiembrie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2108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Reconstruirea solutiei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</p:spPr>
            <p:txBody>
              <a:bodyPr/>
              <a:lstStyle/>
              <a:p>
                <a:r>
                  <a:rPr lang="ro-RO" sz="1600" dirty="0"/>
                  <a:t>Extindem abordarea anterioară prin memorarea in fiecare pas nu doar a valorii solutiei optime ci si a alegerii făcute pt a se ajunge la solutia optimă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ro-RO" sz="1600" dirty="0"/>
                  <a:t>EXTENDED-BOTTOM-UP-CUT-ROD(p, n)</a:t>
                </a:r>
              </a:p>
              <a:p>
                <a:pPr marL="0" indent="0">
                  <a:buNone/>
                </a:pPr>
                <a:r>
                  <a:rPr lang="ro-RO" sz="1600" dirty="0"/>
                  <a:t>1. Fie r</a:t>
                </a:r>
                <a:r>
                  <a:rPr lang="en-US" sz="1600" dirty="0"/>
                  <a:t>[0..n] </a:t>
                </a:r>
                <a:r>
                  <a:rPr lang="ro-RO" sz="1600" dirty="0"/>
                  <a:t>și s</a:t>
                </a:r>
                <a:r>
                  <a:rPr lang="en-US" sz="1600" dirty="0"/>
                  <a:t>[0..n] </a:t>
                </a:r>
                <a:r>
                  <a:rPr lang="en-US" sz="1600" dirty="0" err="1"/>
                  <a:t>doua</a:t>
                </a:r>
                <a:r>
                  <a:rPr lang="ro-RO" sz="1600" dirty="0"/>
                  <a:t> </a:t>
                </a:r>
                <a:r>
                  <a:rPr lang="en-US" sz="1600" dirty="0" err="1"/>
                  <a:t>siruri</a:t>
                </a: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2. r[0]=0</a:t>
                </a:r>
              </a:p>
              <a:p>
                <a:pPr marL="0" indent="0">
                  <a:buNone/>
                </a:pPr>
                <a:r>
                  <a:rPr lang="en-US" sz="1600" dirty="0"/>
                  <a:t>3. For j = 1 to n</a:t>
                </a:r>
              </a:p>
              <a:p>
                <a:pPr marL="0" indent="0">
                  <a:buNone/>
                </a:pPr>
                <a:r>
                  <a:rPr lang="en-US" sz="1600" dirty="0"/>
                  <a:t>4. 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𝑞</m:t>
                    </m:r>
                    <m:r>
                      <a:rPr lang="en-US" sz="1600" b="0" i="1" smtClean="0">
                        <a:latin typeface="Cambria Math"/>
                      </a:rPr>
                      <m:t>=−∞</m:t>
                    </m:r>
                  </m:oMath>
                </a14:m>
                <a:endParaRPr lang="en-US" sz="1600" b="0" dirty="0"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US" sz="1600" dirty="0"/>
                  <a:t>5.	For </a:t>
                </a:r>
                <a:r>
                  <a:rPr lang="en-US" sz="1600" dirty="0" err="1"/>
                  <a:t>i</a:t>
                </a:r>
                <a:r>
                  <a:rPr lang="en-US" sz="1600" dirty="0"/>
                  <a:t> = 1 to j</a:t>
                </a:r>
              </a:p>
              <a:p>
                <a:pPr marL="0" indent="0">
                  <a:buNone/>
                </a:pPr>
                <a:r>
                  <a:rPr lang="en-US" sz="1600" dirty="0"/>
                  <a:t>6.		If q &lt; p[</a:t>
                </a:r>
                <a:r>
                  <a:rPr lang="en-US" sz="1600" dirty="0" err="1"/>
                  <a:t>i</a:t>
                </a:r>
                <a:r>
                  <a:rPr lang="en-US" sz="1600" dirty="0"/>
                  <a:t>]+r[j-</a:t>
                </a:r>
                <a:r>
                  <a:rPr lang="en-US" sz="1600" dirty="0" err="1"/>
                  <a:t>i</a:t>
                </a:r>
                <a:r>
                  <a:rPr lang="en-US" sz="1600" dirty="0"/>
                  <a:t>]</a:t>
                </a:r>
              </a:p>
              <a:p>
                <a:pPr marL="0" indent="0">
                  <a:buNone/>
                </a:pPr>
                <a:r>
                  <a:rPr lang="en-US" sz="1600" dirty="0"/>
                  <a:t>7.			q = p[</a:t>
                </a:r>
                <a:r>
                  <a:rPr lang="en-US" sz="1600" dirty="0" err="1"/>
                  <a:t>i</a:t>
                </a:r>
                <a:r>
                  <a:rPr lang="en-US" sz="1600" dirty="0"/>
                  <a:t>]+r[j-</a:t>
                </a:r>
                <a:r>
                  <a:rPr lang="en-US" sz="1600" dirty="0" err="1"/>
                  <a:t>i</a:t>
                </a:r>
                <a:r>
                  <a:rPr lang="en-US" sz="1600" dirty="0"/>
                  <a:t>]</a:t>
                </a:r>
              </a:p>
              <a:p>
                <a:pPr marL="0" indent="0">
                  <a:buNone/>
                </a:pPr>
                <a:r>
                  <a:rPr lang="en-US" sz="1600" dirty="0"/>
                  <a:t>8.			s[j] = </a:t>
                </a:r>
                <a:r>
                  <a:rPr lang="en-US" sz="1600" dirty="0" err="1"/>
                  <a:t>i</a:t>
                </a: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9.	r[j] = q</a:t>
                </a:r>
              </a:p>
              <a:p>
                <a:pPr marL="0" indent="0">
                  <a:buNone/>
                </a:pPr>
                <a:r>
                  <a:rPr lang="en-US" sz="1600" dirty="0"/>
                  <a:t>10. return r </a:t>
                </a:r>
                <a:r>
                  <a:rPr lang="en-US" sz="1600" dirty="0" err="1"/>
                  <a:t>si</a:t>
                </a:r>
                <a:r>
                  <a:rPr lang="en-US" sz="1600" dirty="0"/>
                  <a:t> s</a:t>
                </a:r>
                <a:endParaRPr lang="ro-RO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  <a:blipFill rotWithShape="0">
                <a:blip r:embed="rId2"/>
                <a:stretch>
                  <a:fillRect l="-370" t="-444" b="-1333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- 23 Noiembrie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3412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Multiplicarea</a:t>
            </a:r>
            <a:r>
              <a:rPr lang="en-US" sz="3200" dirty="0"/>
              <a:t> </a:t>
            </a:r>
            <a:r>
              <a:rPr lang="en-US" sz="3200" dirty="0" err="1"/>
              <a:t>unui</a:t>
            </a:r>
            <a:r>
              <a:rPr lang="en-US" sz="3200" dirty="0"/>
              <a:t> sir de </a:t>
            </a:r>
            <a:r>
              <a:rPr lang="en-US" sz="3200" dirty="0" err="1"/>
              <a:t>matrici</a:t>
            </a:r>
            <a:endParaRPr lang="ro-RO" sz="32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INMULTIRE-MATRICE(A,B)</a:t>
            </a:r>
          </a:p>
          <a:p>
            <a:pPr>
              <a:buNone/>
            </a:pPr>
            <a:r>
              <a:rPr lang="en-US" sz="1600" dirty="0"/>
              <a:t>1:	If </a:t>
            </a:r>
            <a:r>
              <a:rPr lang="en-US" sz="1600" dirty="0" err="1"/>
              <a:t>coloane</a:t>
            </a:r>
            <a:r>
              <a:rPr lang="en-US" sz="1600" dirty="0"/>
              <a:t>[A]!=</a:t>
            </a:r>
            <a:r>
              <a:rPr lang="en-US" sz="1600" dirty="0" err="1"/>
              <a:t>linii</a:t>
            </a:r>
            <a:r>
              <a:rPr lang="en-US" sz="1600" dirty="0"/>
              <a:t>[B] </a:t>
            </a:r>
          </a:p>
          <a:p>
            <a:pPr>
              <a:buNone/>
            </a:pPr>
            <a:r>
              <a:rPr lang="en-US" sz="1600" dirty="0"/>
              <a:t>2:		</a:t>
            </a:r>
            <a:r>
              <a:rPr lang="en-US" sz="1600" dirty="0" err="1"/>
              <a:t>scrie</a:t>
            </a:r>
            <a:r>
              <a:rPr lang="en-US" sz="1600" dirty="0"/>
              <a:t> “</a:t>
            </a:r>
            <a:r>
              <a:rPr lang="en-US" sz="1600" dirty="0" err="1"/>
              <a:t>dimensiuni</a:t>
            </a:r>
            <a:r>
              <a:rPr lang="en-US" sz="1600" dirty="0"/>
              <a:t> </a:t>
            </a:r>
            <a:r>
              <a:rPr lang="en-US" sz="1600" dirty="0" err="1"/>
              <a:t>incompatibile</a:t>
            </a:r>
            <a:r>
              <a:rPr lang="en-US" sz="1600" dirty="0"/>
              <a:t>”</a:t>
            </a:r>
          </a:p>
          <a:p>
            <a:pPr>
              <a:buNone/>
            </a:pPr>
            <a:r>
              <a:rPr lang="en-US" sz="1600" dirty="0"/>
              <a:t>3:	else</a:t>
            </a:r>
          </a:p>
          <a:p>
            <a:pPr>
              <a:buNone/>
            </a:pPr>
            <a:r>
              <a:rPr lang="en-US" sz="1600" dirty="0"/>
              <a:t>4:		for </a:t>
            </a:r>
            <a:r>
              <a:rPr lang="en-US" sz="1600" dirty="0" err="1"/>
              <a:t>i</a:t>
            </a:r>
            <a:r>
              <a:rPr lang="en-US" sz="1600" dirty="0"/>
              <a:t>=1 to </a:t>
            </a:r>
            <a:r>
              <a:rPr lang="en-US" sz="1600" dirty="0" err="1"/>
              <a:t>linii</a:t>
            </a:r>
            <a:r>
              <a:rPr lang="en-US" sz="1600" dirty="0"/>
              <a:t>[A]</a:t>
            </a:r>
          </a:p>
          <a:p>
            <a:pPr>
              <a:buNone/>
            </a:pPr>
            <a:r>
              <a:rPr lang="en-US" sz="1600" dirty="0"/>
              <a:t>5:			for j=1 to </a:t>
            </a:r>
            <a:r>
              <a:rPr lang="en-US" sz="1600" dirty="0" err="1"/>
              <a:t>coloane</a:t>
            </a:r>
            <a:r>
              <a:rPr lang="en-US" sz="1600" dirty="0"/>
              <a:t>[B]</a:t>
            </a:r>
          </a:p>
          <a:p>
            <a:pPr>
              <a:buNone/>
            </a:pPr>
            <a:r>
              <a:rPr lang="en-US" sz="1600" dirty="0"/>
              <a:t>6:				C[</a:t>
            </a:r>
            <a:r>
              <a:rPr lang="en-US" sz="1600" dirty="0" err="1"/>
              <a:t>i,j</a:t>
            </a:r>
            <a:r>
              <a:rPr lang="en-US" sz="1600" dirty="0"/>
              <a:t>]=0</a:t>
            </a:r>
          </a:p>
          <a:p>
            <a:pPr>
              <a:buNone/>
            </a:pPr>
            <a:r>
              <a:rPr lang="en-US" sz="1600" dirty="0"/>
              <a:t>7:				for k=1 to </a:t>
            </a:r>
            <a:r>
              <a:rPr lang="en-US" sz="1600" dirty="0" err="1"/>
              <a:t>coloane</a:t>
            </a:r>
            <a:r>
              <a:rPr lang="en-US" sz="1600" dirty="0"/>
              <a:t>[A]</a:t>
            </a:r>
          </a:p>
          <a:p>
            <a:pPr>
              <a:buNone/>
            </a:pPr>
            <a:r>
              <a:rPr lang="en-US" sz="1600" dirty="0"/>
              <a:t>8:					C[</a:t>
            </a:r>
            <a:r>
              <a:rPr lang="en-US" sz="1600" dirty="0" err="1"/>
              <a:t>i,j</a:t>
            </a:r>
            <a:r>
              <a:rPr lang="en-US" sz="1600" dirty="0"/>
              <a:t>]=C[</a:t>
            </a:r>
            <a:r>
              <a:rPr lang="en-US" sz="1600" dirty="0" err="1"/>
              <a:t>i,j</a:t>
            </a:r>
            <a:r>
              <a:rPr lang="en-US" sz="1600" dirty="0"/>
              <a:t>]+A[</a:t>
            </a:r>
            <a:r>
              <a:rPr lang="en-US" sz="1600" dirty="0" err="1"/>
              <a:t>i,k</a:t>
            </a:r>
            <a:r>
              <a:rPr lang="en-US" sz="1600" dirty="0"/>
              <a:t>]*B[</a:t>
            </a:r>
            <a:r>
              <a:rPr lang="en-US" sz="1600" dirty="0" err="1"/>
              <a:t>k,j</a:t>
            </a:r>
            <a:r>
              <a:rPr lang="en-US" sz="1600" dirty="0"/>
              <a:t>]</a:t>
            </a:r>
          </a:p>
          <a:p>
            <a:pPr>
              <a:buNone/>
            </a:pPr>
            <a:r>
              <a:rPr lang="en-US" sz="1600" dirty="0"/>
              <a:t>9:	</a:t>
            </a:r>
            <a:r>
              <a:rPr lang="en-US" sz="1600" dirty="0" err="1"/>
              <a:t>returneaza</a:t>
            </a:r>
            <a:r>
              <a:rPr lang="en-US" sz="1600" dirty="0"/>
              <a:t> C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- 23 Noiembrie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0092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Multiplicarea</a:t>
            </a:r>
            <a:r>
              <a:rPr lang="en-US" sz="3200" dirty="0"/>
              <a:t> </a:t>
            </a:r>
            <a:r>
              <a:rPr lang="en-US" sz="3200" dirty="0" err="1"/>
              <a:t>unui</a:t>
            </a:r>
            <a:r>
              <a:rPr lang="en-US" sz="3200" dirty="0"/>
              <a:t> sir de </a:t>
            </a:r>
            <a:r>
              <a:rPr lang="en-US" sz="3200" dirty="0" err="1"/>
              <a:t>matrici</a:t>
            </a:r>
            <a:endParaRPr lang="ro-RO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</p:spPr>
            <p:txBody>
              <a:bodyPr/>
              <a:lstStyle/>
              <a:p>
                <a:r>
                  <a:rPr lang="en-US" sz="1600" dirty="0"/>
                  <a:t>p x q  </a:t>
                </a:r>
                <a:r>
                  <a:rPr lang="en-US" sz="1600" dirty="0" err="1"/>
                  <a:t>inmultit</a:t>
                </a:r>
                <a:r>
                  <a:rPr lang="en-US" sz="1600" dirty="0"/>
                  <a:t> cu q x r  =&gt;  p x r,  se </a:t>
                </a:r>
                <a:r>
                  <a:rPr lang="en-US" sz="1600" dirty="0" err="1"/>
                  <a:t>executa</a:t>
                </a:r>
                <a:r>
                  <a:rPr lang="en-US" sz="1600" dirty="0"/>
                  <a:t> cu </a:t>
                </a:r>
                <a:r>
                  <a:rPr lang="en-US" sz="1600" dirty="0" err="1"/>
                  <a:t>pqrinmultiriscalare</a:t>
                </a:r>
                <a:endParaRPr lang="en-US" sz="16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 de </a:t>
                </a:r>
                <a:r>
                  <a:rPr lang="en-US" sz="1600" dirty="0" err="1"/>
                  <a:t>dimensiune</a:t>
                </a:r>
                <a:r>
                  <a:rPr lang="en-US" sz="1600" dirty="0"/>
                  <a:t> 10 x 100,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/>
                  <a:t> de </a:t>
                </a:r>
                <a:r>
                  <a:rPr lang="en-US" sz="1600" dirty="0" err="1"/>
                  <a:t>dimensiune</a:t>
                </a:r>
                <a:r>
                  <a:rPr lang="en-US" sz="1600" dirty="0"/>
                  <a:t> 100 x 5,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600" dirty="0"/>
                  <a:t> de </a:t>
                </a:r>
                <a:r>
                  <a:rPr lang="en-US" sz="1600" dirty="0" err="1"/>
                  <a:t>dimensiune</a:t>
                </a:r>
                <a:r>
                  <a:rPr lang="en-US" sz="1600" dirty="0"/>
                  <a:t> 5 x 50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(</m:t>
                        </m:r>
                        <m:r>
                          <a:rPr lang="en-US" sz="1600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1600" b="0" i="1" smtClean="0">
                        <a:latin typeface="Cambria Math"/>
                      </a:rPr>
                      <m:t>)</m:t>
                    </m:r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600" dirty="0"/>
                  <a:t>  se </a:t>
                </a:r>
                <a:r>
                  <a:rPr lang="en-US" sz="1600" dirty="0" err="1"/>
                  <a:t>execut</a:t>
                </a:r>
                <a:r>
                  <a:rPr lang="ro-RO" sz="1600" dirty="0"/>
                  <a:t>ă prin 5000 + 2500 inmultiri = 7500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ro-RO" sz="1600" dirty="0"/>
                  <a:t> se execută prin 50000 + 25000 inmulțiri = 75000 </a:t>
                </a:r>
              </a:p>
              <a:p>
                <a:r>
                  <a:rPr lang="ro-RO" sz="1600" dirty="0"/>
                  <a:t>=</a:t>
                </a:r>
                <a:r>
                  <a:rPr lang="en-US" sz="1600" dirty="0"/>
                  <a:t>&gt;</a:t>
                </a:r>
                <a:r>
                  <a:rPr lang="en-US" sz="1600" dirty="0" err="1"/>
                  <a:t>conteaz</a:t>
                </a:r>
                <a:r>
                  <a:rPr lang="ro-RO" sz="1600" dirty="0"/>
                  <a:t>ă ordinea in care se consideră parantezele</a:t>
                </a:r>
              </a:p>
              <a:p>
                <a:endParaRPr lang="ro-RO" sz="1600" dirty="0"/>
              </a:p>
              <a:p>
                <a:pPr marL="0" indent="0">
                  <a:buNone/>
                </a:pPr>
                <a:r>
                  <a:rPr lang="ro-RO" sz="1600" b="1" dirty="0"/>
                  <a:t>Problemă:</a:t>
                </a:r>
              </a:p>
              <a:p>
                <a:r>
                  <a:rPr lang="ro-RO" sz="1600" dirty="0"/>
                  <a:t>Se dă un sir de matrici care trebuie înmultite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ro-RO" sz="1600" dirty="0"/>
                  <a:t>, matricea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1600" dirty="0"/>
                  <a:t> de dimensiune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𝑖</m:t>
                        </m:r>
                        <m:r>
                          <a:rPr lang="ro-RO" sz="1600" b="0" i="1" smtClean="0">
                            <a:latin typeface="Cambria Math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o-RO" sz="1600" dirty="0"/>
                  <a:t> 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ro-RO" sz="1600" dirty="0"/>
              </a:p>
              <a:p>
                <a:r>
                  <a:rPr lang="ro-RO" sz="1600" dirty="0"/>
                  <a:t>Sa se pună parantezele in mod corect, astfel încât numărul de inmulțiri scalare să fie minim</a:t>
                </a:r>
              </a:p>
              <a:p>
                <a:endParaRPr lang="ro-RO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  <a:blipFill rotWithShape="1">
                <a:blip r:embed="rId2"/>
                <a:stretch>
                  <a:fillRect l="-370" t="-44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- 23 Noiembrie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0092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Numărul de solutii posibile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8229600" cy="5029200"/>
              </a:xfrm>
            </p:spPr>
            <p:txBody>
              <a:bodyPr/>
              <a:lstStyle/>
              <a:p>
                <a:r>
                  <a:rPr lang="ro-RO" sz="1800" dirty="0"/>
                  <a:t>P(n) numărul de posibile soluții pentru un sir de n matrici</a:t>
                </a:r>
              </a:p>
              <a:p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ro-RO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ro-RO" sz="1800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ro-RO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ro-RO" sz="1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ro-RO" sz="1800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ro-RO" sz="1800" b="0" i="1" smtClean="0">
                                  <a:latin typeface="Cambria Math"/>
                                </a:rPr>
                                <m:t>𝑑𝑎𝑐</m:t>
                              </m:r>
                              <m:r>
                                <a:rPr lang="ro-RO" sz="1800" b="0" i="1" smtClean="0">
                                  <a:latin typeface="Cambria Math"/>
                                </a:rPr>
                                <m:t>ă </m:t>
                              </m:r>
                              <m:r>
                                <a:rPr lang="ro-RO" sz="1800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ro-RO" sz="1800" b="0" i="1" smtClean="0">
                                  <a:latin typeface="Cambria Math"/>
                                </a:rPr>
                                <m:t>=1</m:t>
                              </m:r>
                            </m:e>
                          </m:mr>
                          <m:mr>
                            <m:e>
                              <m:nary>
                                <m:naryPr>
                                  <m:chr m:val="∑"/>
                                  <m:ctrlPr>
                                    <a:rPr lang="ro-RO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ro-RO" sz="1800" b="0" i="1" smtClean="0">
                                      <a:latin typeface="Cambria Math"/>
                                    </a:rPr>
                                    <m:t>𝑘</m:t>
                                  </m:r>
                                  <m:r>
                                    <a:rPr lang="ro-RO" sz="1800" b="0" i="1" smtClean="0">
                                      <a:latin typeface="Cambria Math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ro-RO" sz="1800" b="0" i="1" smtClean="0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ro-RO" sz="1800" b="0" i="1" smtClean="0">
                                      <a:latin typeface="Cambria Math"/>
                                    </a:rPr>
                                    <m:t>−1</m:t>
                                  </m:r>
                                </m:sup>
                                <m:e>
                                  <m:r>
                                    <a:rPr lang="ro-RO" sz="1800" b="0" i="1" smtClean="0">
                                      <a:latin typeface="Cambria Math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ro-RO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o-RO" sz="1800" b="0" i="1" smtClean="0">
                                          <a:latin typeface="Cambria Math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lang="ro-RO" sz="1800" b="0" i="1" smtClean="0">
                                      <a:latin typeface="Cambria Math"/>
                                    </a:rPr>
                                    <m:t>𝑃</m:t>
                                  </m:r>
                                  <m:r>
                                    <a:rPr lang="ro-RO" sz="1800" b="0" i="1" smtClean="0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ro-RO" sz="1800" b="0" i="1" smtClean="0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ro-RO" sz="1800" b="0" i="1" smtClean="0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ro-RO" sz="1800" b="0" i="1" smtClean="0">
                                      <a:latin typeface="Cambria Math"/>
                                    </a:rPr>
                                    <m:t>𝑘</m:t>
                                  </m:r>
                                  <m:r>
                                    <a:rPr lang="ro-RO" sz="1800" b="0" i="1" smtClean="0">
                                      <a:latin typeface="Cambria Math"/>
                                    </a:rPr>
                                    <m:t>)</m:t>
                                  </m:r>
                                </m:e>
                              </m:nary>
                            </m:e>
                            <m:e>
                              <m:r>
                                <a:rPr lang="ro-RO" sz="1800" b="0" i="1" smtClean="0">
                                  <a:latin typeface="Cambria Math"/>
                                </a:rPr>
                                <m:t>𝑑𝑎𝑐</m:t>
                              </m:r>
                              <m:r>
                                <a:rPr lang="ro-RO" sz="1800" b="0" i="1" smtClean="0">
                                  <a:latin typeface="Cambria Math"/>
                                </a:rPr>
                                <m:t>ă </m:t>
                              </m:r>
                              <m:r>
                                <a:rPr lang="ro-RO" sz="1800" b="0" i="1" smtClean="0">
                                  <a:latin typeface="Cambria Math"/>
                                </a:rPr>
                                <m:t>𝑛</m:t>
                              </m:r>
                              <m:r>
                                <a:rPr lang="ro-RO" sz="1800" b="0" i="1" smtClean="0">
                                  <a:latin typeface="Cambria Math"/>
                                  <a:ea typeface="Cambria Math"/>
                                </a:rPr>
                                <m:t>≥2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o-RO" sz="1800" b="0" dirty="0"/>
              </a:p>
              <a:p>
                <a:r>
                  <a:rPr lang="ro-RO" sz="1800" dirty="0"/>
                  <a:t>Pentru P(n) avem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i="1" smtClean="0">
                        <a:latin typeface="Cambria Math"/>
                      </a:rPr>
                      <m:t>Ω</m:t>
                    </m:r>
                    <m:r>
                      <a:rPr lang="ro-RO" sz="1800" b="0" i="1" smtClean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ro-RO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800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ro-RO" sz="1800" b="0" i="1" smtClean="0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ro-RO" sz="1800" b="0" i="1" smtClean="0">
                        <a:latin typeface="Cambria Math"/>
                      </a:rPr>
                      <m:t>)</m:t>
                    </m:r>
                  </m:oMath>
                </a14:m>
                <a:endParaRPr lang="ro-RO" sz="1800" dirty="0"/>
              </a:p>
              <a:p>
                <a:endParaRPr lang="ro-RO" sz="1800" dirty="0"/>
              </a:p>
              <a:p>
                <a:r>
                  <a:rPr lang="ro-RO" sz="1800" dirty="0"/>
                  <a:t>Pentru a calcula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o-RO" sz="18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o-RO" sz="1800" b="0" i="1" smtClean="0">
                            <a:latin typeface="Cambria Math"/>
                          </a:rPr>
                          <m:t>𝑖</m:t>
                        </m:r>
                        <m:r>
                          <a:rPr lang="ro-RO" sz="1800" b="0" i="1" smtClean="0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ro-RO" sz="1800" b="0" i="1" smtClean="0">
                        <a:latin typeface="Cambria Math"/>
                      </a:rPr>
                      <m:t>…</m:t>
                    </m:r>
                    <m:sSub>
                      <m:sSubPr>
                        <m:ctrlPr>
                          <a:rPr lang="ro-RO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o-RO" sz="1800" b="0" i="1" smtClean="0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ro-RO" sz="18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o-RO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o-RO" sz="1800" b="0" i="1" smtClean="0">
                            <a:latin typeface="Cambria Math"/>
                          </a:rPr>
                          <m:t>𝑖</m:t>
                        </m:r>
                        <m:r>
                          <a:rPr lang="ro-RO" sz="1800" b="0" i="1" smtClean="0">
                            <a:latin typeface="Cambria Math"/>
                          </a:rPr>
                          <m:t>..</m:t>
                        </m:r>
                        <m:r>
                          <a:rPr lang="ro-RO" sz="1800" b="0" i="1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o-RO" sz="1800" dirty="0"/>
                  <a:t> trebuie să gasim k optim astfel încat să punem o paranteză intre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o-RO" sz="18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o-RO" sz="1800" dirty="0"/>
                  <a:t> și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𝑘</m:t>
                        </m:r>
                        <m:r>
                          <a:rPr lang="ro-RO" sz="1800" b="0" i="1" smtClean="0"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r>
                  <a:rPr lang="ro-RO" sz="1800" dirty="0"/>
                  <a:t> deci  </a:t>
                </a:r>
              </a:p>
              <a:p>
                <a:pPr lvl="1"/>
                <a:r>
                  <a:rPr lang="ro-RO" sz="1600" dirty="0"/>
                  <a:t>Costul lui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𝑖</m:t>
                        </m:r>
                        <m:r>
                          <a:rPr lang="ro-RO" sz="1600" b="0" i="1" smtClean="0">
                            <a:latin typeface="Cambria Math"/>
                          </a:rPr>
                          <m:t>..</m:t>
                        </m:r>
                        <m:r>
                          <a:rPr lang="ro-RO" sz="1600" b="0" i="1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o-RO" sz="1600" dirty="0"/>
                  <a:t> este egal cu costul lui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𝑖</m:t>
                        </m:r>
                        <m:r>
                          <a:rPr lang="ro-RO" sz="1600" b="0" i="1" smtClean="0">
                            <a:latin typeface="Cambria Math"/>
                          </a:rPr>
                          <m:t>..</m:t>
                        </m:r>
                        <m:r>
                          <a:rPr lang="ro-RO" sz="16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o-RO" sz="1600" dirty="0"/>
                  <a:t> plus costul lui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𝑘</m:t>
                        </m:r>
                        <m:r>
                          <a:rPr lang="ro-RO" sz="1600" b="0" i="1" smtClean="0">
                            <a:latin typeface="Cambria Math"/>
                          </a:rPr>
                          <m:t>+1..</m:t>
                        </m:r>
                        <m:r>
                          <a:rPr lang="ro-RO" sz="1600" b="0" i="1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endParaRPr lang="ro-RO" sz="1600" dirty="0"/>
              </a:p>
              <a:p>
                <a:pPr lvl="1"/>
                <a:r>
                  <a:rPr lang="ro-RO" sz="1600" dirty="0"/>
                  <a:t>Dacă costurile lui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o-RO" sz="1600" i="1">
                            <a:latin typeface="Cambria Math"/>
                          </a:rPr>
                          <m:t>𝑖</m:t>
                        </m:r>
                        <m:r>
                          <a:rPr lang="ro-RO" sz="1600" i="1">
                            <a:latin typeface="Cambria Math"/>
                          </a:rPr>
                          <m:t>..</m:t>
                        </m:r>
                        <m:r>
                          <a:rPr lang="ro-RO" sz="1600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o-RO" sz="1600" dirty="0"/>
                  <a:t> și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o-RO" sz="1600" i="1">
                            <a:latin typeface="Cambria Math"/>
                          </a:rPr>
                          <m:t>𝑘</m:t>
                        </m:r>
                        <m:r>
                          <a:rPr lang="ro-RO" sz="1600" i="1">
                            <a:latin typeface="Cambria Math"/>
                          </a:rPr>
                          <m:t>+1..</m:t>
                        </m:r>
                        <m:r>
                          <a:rPr lang="ro-RO" sz="1600" i="1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o-RO" sz="1600" dirty="0"/>
                  <a:t> sunt optime, atunci și costul lui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o-RO" sz="1600" i="1">
                            <a:latin typeface="Cambria Math"/>
                          </a:rPr>
                          <m:t>𝑖</m:t>
                        </m:r>
                        <m:r>
                          <a:rPr lang="ro-RO" sz="1600" i="1">
                            <a:latin typeface="Cambria Math"/>
                          </a:rPr>
                          <m:t>..</m:t>
                        </m:r>
                        <m:r>
                          <a:rPr lang="ro-RO" sz="1600" i="1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o-RO" sz="1600" dirty="0"/>
                  <a:t> este optim</a:t>
                </a:r>
              </a:p>
              <a:p>
                <a:r>
                  <a:rPr lang="ro-RO" sz="1800" dirty="0"/>
                  <a:t>Notăm cu m</a:t>
                </a:r>
                <a:r>
                  <a:rPr lang="en-US" sz="1800" dirty="0"/>
                  <a:t>[</a:t>
                </a:r>
                <a:r>
                  <a:rPr lang="en-US" sz="1800" dirty="0" err="1"/>
                  <a:t>i,j</a:t>
                </a:r>
                <a:r>
                  <a:rPr lang="en-US" sz="1800" dirty="0"/>
                  <a:t>] </a:t>
                </a:r>
                <a:r>
                  <a:rPr lang="en-US" sz="1800" dirty="0" err="1"/>
                  <a:t>num</a:t>
                </a:r>
                <a:r>
                  <a:rPr lang="ro-RO" sz="1800" dirty="0"/>
                  <a:t>ărul optim de inmulțiri pentru a calcula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  <m:r>
                          <a:rPr lang="ro-RO" sz="1800" i="1">
                            <a:latin typeface="Cambria Math"/>
                          </a:rPr>
                          <m:t>..</m:t>
                        </m:r>
                        <m:r>
                          <a:rPr lang="ro-RO" sz="1800" i="1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o-RO" sz="1800" dirty="0"/>
                  <a:t>, atunci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b="0" i="1" smtClean="0">
                          <a:latin typeface="Cambria Math"/>
                        </a:rPr>
                        <m:t>𝑚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sz="1800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1800" b="0" i="1" smtClean="0">
                              <a:latin typeface="Cambria Math"/>
                            </a:rPr>
                            <m:t>𝑗</m:t>
                          </m:r>
                        </m:e>
                      </m:d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8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800" b="0" i="1" smtClean="0">
                                    <a:latin typeface="Cambria Math"/>
                                  </a:rPr>
                                  <m:t>𝑑𝑎𝑐</m:t>
                                </m:r>
                                <m:r>
                                  <a:rPr lang="ro-RO" sz="1800" b="0" i="1" smtClean="0">
                                    <a:latin typeface="Cambria Math"/>
                                  </a:rPr>
                                  <m:t>ă </m:t>
                                </m:r>
                                <m:r>
                                  <a:rPr lang="ro-RO" sz="1800" b="0" i="1" smtClean="0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ro-RO" sz="1800" b="0" i="1" smtClean="0"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ro-RO" sz="1800" b="0" i="1" smtClean="0">
                                    <a:latin typeface="Cambria Math"/>
                                  </a:rPr>
                                  <m:t>𝑗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sz="1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 i="0" smtClean="0">
                                            <a:latin typeface="Cambria Math"/>
                                          </a:rPr>
                                          <m:t>min</m:t>
                                        </m:r>
                                      </m:e>
                                      <m:lim>
                                        <m:r>
                                          <a:rPr lang="ro-RO" sz="1800" b="0" i="1" smtClean="0">
                                            <a:latin typeface="Cambria Math"/>
                                          </a:rPr>
                                          <m:t>𝑖</m:t>
                                        </m:r>
                                        <m:r>
                                          <a:rPr lang="ro-RO" sz="1800" b="0" i="1" smtClean="0">
                                            <a:latin typeface="Cambria Math"/>
                                            <a:ea typeface="Cambria Math"/>
                                          </a:rPr>
                                          <m:t>≤</m:t>
                                        </m:r>
                                        <m:r>
                                          <a:rPr lang="ro-RO" sz="1800" b="0" i="1" smtClean="0">
                                            <a:latin typeface="Cambria Math"/>
                                            <a:ea typeface="Cambria Math"/>
                                          </a:rPr>
                                          <m:t>𝑘</m:t>
                                        </m:r>
                                        <m:r>
                                          <a:rPr lang="ro-RO" sz="1800" b="0" i="1" smtClean="0">
                                            <a:latin typeface="Cambria Math"/>
                                            <a:ea typeface="Cambria Math"/>
                                          </a:rPr>
                                          <m:t>≤</m:t>
                                        </m:r>
                                        <m:r>
                                          <a:rPr lang="ro-RO" sz="1800" b="0" i="1" smtClean="0">
                                            <a:latin typeface="Cambria Math"/>
                                            <a:ea typeface="Cambria Math"/>
                                          </a:rPr>
                                          <m:t>𝑗</m:t>
                                        </m:r>
                                      </m:lim>
                                    </m:limLow>
                                  </m:fName>
                                  <m:e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{</m:t>
                                    </m:r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𝑚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/>
                                          </a:rPr>
                                          <m:t>𝑖</m:t>
                                        </m:r>
                                        <m:r>
                                          <a:rPr lang="en-US" sz="1800" b="0" i="1" smtClean="0">
                                            <a:latin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en-US" sz="1800" b="0" i="1" smtClean="0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+</m:t>
                                    </m:r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𝑚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/>
                                          </a:rPr>
                                          <m:t>𝑘</m:t>
                                        </m:r>
                                        <m:r>
                                          <a:rPr lang="en-US" sz="1800" b="0" i="1" smtClean="0">
                                            <a:latin typeface="Cambria Math"/>
                                          </a:rPr>
                                          <m:t>+1,</m:t>
                                        </m:r>
                                        <m:r>
                                          <a:rPr lang="en-US" sz="1800" b="0" i="1" smtClean="0">
                                            <a:latin typeface="Cambria Math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latin typeface="Cambria Math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/>
                                          </a:rPr>
                                          <m:t>𝑖</m:t>
                                        </m:r>
                                        <m:r>
                                          <a:rPr lang="en-US" sz="1800" b="0" i="1" smtClean="0">
                                            <a:latin typeface="Cambria Math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latin typeface="Cambria Math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latin typeface="Cambria Math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sz="1800" b="0" i="1" smtClean="0">
                                        <a:latin typeface="Cambria Math"/>
                                      </a:rPr>
                                      <m:t>}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sz="1800" b="0" i="1" smtClean="0">
                                    <a:latin typeface="Cambria Math"/>
                                  </a:rPr>
                                  <m:t>𝑑𝑎𝑐</m:t>
                                </m:r>
                                <m:r>
                                  <a:rPr lang="ro-RO" sz="1800" b="0" i="1" smtClean="0">
                                    <a:latin typeface="Cambria Math"/>
                                  </a:rPr>
                                  <m:t>ă </m:t>
                                </m:r>
                                <m:r>
                                  <a:rPr lang="ro-RO" sz="1800" b="0" i="1" smtClean="0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ro-RO" sz="1800" b="0" i="1" smtClean="0">
                                    <a:latin typeface="Cambria Math"/>
                                    <a:ea typeface="Cambria Math"/>
                                  </a:rPr>
                                  <m:t>≤</m:t>
                                </m:r>
                                <m:r>
                                  <a:rPr lang="ro-RO" sz="1800" b="0" i="1" smtClean="0">
                                    <a:latin typeface="Cambria Math"/>
                                    <a:ea typeface="Cambria Math"/>
                                  </a:rPr>
                                  <m:t>𝑗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o-RO" sz="1800" dirty="0"/>
              </a:p>
              <a:p>
                <a:r>
                  <a:rPr lang="ro-RO" sz="1800" i="1" dirty="0"/>
                  <a:t>Exercitiu</a:t>
                </a:r>
                <a:r>
                  <a:rPr lang="ro-RO" sz="1800" dirty="0"/>
                  <a:t>: scrieti algoritmul recursiv care rezolvă problema dată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8229600" cy="5029200"/>
              </a:xfrm>
              <a:blipFill rotWithShape="1">
                <a:blip r:embed="rId2"/>
                <a:stretch>
                  <a:fillRect t="-606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- 23 Noiembrie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443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Determinarea subproblemelor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7772400" cy="4876800"/>
              </a:xfrm>
            </p:spPr>
            <p:txBody>
              <a:bodyPr/>
              <a:lstStyle/>
              <a:p>
                <a:r>
                  <a:rPr lang="ro-RO" sz="1800" dirty="0"/>
                  <a:t>Avem câte o subproblemă pentru orice i și j astfel încât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1</m:t>
                    </m:r>
                    <m:r>
                      <a:rPr lang="ro-RO" sz="1800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ro-RO" sz="1800" b="0" i="1" smtClean="0">
                        <a:latin typeface="Cambria Math"/>
                        <a:ea typeface="Cambria Math"/>
                      </a:rPr>
                      <m:t>𝑖</m:t>
                    </m:r>
                    <m:r>
                      <a:rPr lang="ro-RO" sz="1800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ro-RO" sz="1800" b="0" i="1" smtClean="0">
                        <a:latin typeface="Cambria Math"/>
                        <a:ea typeface="Cambria Math"/>
                      </a:rPr>
                      <m:t>𝑗</m:t>
                    </m:r>
                    <m:r>
                      <a:rPr lang="ro-RO" sz="1800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ro-RO" sz="1800" b="0" i="1" smtClean="0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endParaRPr lang="ro-RO" sz="1800" dirty="0"/>
              </a:p>
              <a:p>
                <a:r>
                  <a:rPr lang="ro-RO" sz="1800" dirty="0"/>
                  <a:t>In total avem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ro-RO" sz="18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o-RO" sz="1800" i="1" smtClean="0">
                                <a:latin typeface="Cambria Math"/>
                              </a:rPr>
                              <m:t>𝑛</m:t>
                            </m:r>
                          </m:num>
                          <m:den>
                            <m:r>
                              <a:rPr lang="ro-RO" sz="1800" b="0" i="1" smtClean="0"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ro-RO" sz="1800" b="0" i="1" smtClean="0">
                        <a:latin typeface="Cambria Math"/>
                      </a:rPr>
                      <m:t>+</m:t>
                    </m:r>
                    <m:r>
                      <a:rPr lang="ro-RO" sz="1800" b="0" i="1" smtClean="0">
                        <a:latin typeface="Cambria Math"/>
                      </a:rPr>
                      <m:t>𝑛</m:t>
                    </m:r>
                    <m:r>
                      <a:rPr lang="ro-RO" sz="1800" b="0" i="1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l-GR" sz="1800" b="0" i="1" smtClean="0">
                        <a:latin typeface="Cambria Math"/>
                      </a:rPr>
                      <m:t>Θ</m:t>
                    </m:r>
                    <m:d>
                      <m:dPr>
                        <m:ctrlPr>
                          <a:rPr lang="ro-RO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o-RO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1800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ro-RO" sz="18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ro-RO" sz="1800" dirty="0"/>
                  <a:t> subprobleme</a:t>
                </a:r>
              </a:p>
              <a:p>
                <a:r>
                  <a:rPr lang="ro-RO" sz="1800" dirty="0"/>
                  <a:t>Abordare bottom-up. Rezolvarea fiecărei subprobleme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o-RO" sz="1800" b="0" i="1" smtClean="0">
                            <a:latin typeface="Cambria Math"/>
                          </a:rPr>
                          <m:t>𝑖</m:t>
                        </m:r>
                        <m:r>
                          <a:rPr lang="ro-RO" sz="1800" b="0" i="1" smtClean="0">
                            <a:latin typeface="Cambria Math"/>
                          </a:rPr>
                          <m:t>..</m:t>
                        </m:r>
                        <m:r>
                          <a:rPr lang="ro-RO" sz="1800" b="0" i="1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o-RO" sz="1800" dirty="0"/>
                  <a:t> o păstrăm intr-un tabel de dimensiuni n x n cu liniile i și coloanele j</a:t>
                </a:r>
                <a:endParaRPr lang="en-US" sz="1800" dirty="0"/>
              </a:p>
              <a:p>
                <a:pPr marL="0" indent="0">
                  <a:buNone/>
                </a:pPr>
                <a:endParaRPr lang="ro-RO" sz="105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7772400" cy="4876800"/>
              </a:xfrm>
              <a:blipFill rotWithShape="1">
                <a:blip r:embed="rId2"/>
                <a:stretch>
                  <a:fillRect t="-62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- 23 Noiembrie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2270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Algoritmul</a:t>
            </a:r>
            <a:r>
              <a:rPr lang="en-US" sz="3200" dirty="0"/>
              <a:t> bottom-up</a:t>
            </a:r>
            <a:endParaRPr lang="ro-RO" sz="32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M"/>
          <p:cNvPicPr>
            <a:picLocks noChangeAspect="1" noChangeArrowheads="1"/>
          </p:cNvPicPr>
          <p:nvPr/>
        </p:nvPicPr>
        <p:blipFill>
          <a:blip r:embed="rId2"/>
          <a:srcRect r="34558" b="27655"/>
          <a:stretch>
            <a:fillRect/>
          </a:stretch>
        </p:blipFill>
        <p:spPr bwMode="auto">
          <a:xfrm>
            <a:off x="533400" y="1524000"/>
            <a:ext cx="6781800" cy="4685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- 23 Noiembrie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03137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Algoritmul</a:t>
            </a:r>
            <a:r>
              <a:rPr lang="en-US" sz="3200" dirty="0"/>
              <a:t> bottom-up</a:t>
            </a:r>
            <a:endParaRPr lang="ro-RO" sz="3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t="1444" b="51986"/>
          <a:stretch>
            <a:fillRect/>
          </a:stretch>
        </p:blipFill>
        <p:spPr bwMode="auto">
          <a:xfrm>
            <a:off x="990600" y="1371600"/>
            <a:ext cx="6724650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 t="59929" b="32979"/>
          <a:stretch>
            <a:fillRect/>
          </a:stretch>
        </p:blipFill>
        <p:spPr bwMode="auto">
          <a:xfrm>
            <a:off x="1209675" y="3962400"/>
            <a:ext cx="67246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 t="81206"/>
          <a:stretch>
            <a:fillRect/>
          </a:stretch>
        </p:blipFill>
        <p:spPr bwMode="auto">
          <a:xfrm>
            <a:off x="990600" y="4495800"/>
            <a:ext cx="6724650" cy="100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- 23 Noiembrie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0313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Construirea</a:t>
            </a:r>
            <a:r>
              <a:rPr lang="en-US" sz="3200" dirty="0"/>
              <a:t> </a:t>
            </a:r>
            <a:r>
              <a:rPr lang="en-US" sz="3200" dirty="0" err="1"/>
              <a:t>solutiei</a:t>
            </a:r>
            <a:r>
              <a:rPr lang="en-US" sz="3200" dirty="0"/>
              <a:t> </a:t>
            </a:r>
            <a:r>
              <a:rPr lang="en-US" sz="3200" dirty="0" err="1"/>
              <a:t>optime</a:t>
            </a:r>
            <a:endParaRPr lang="ro-RO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600" dirty="0"/>
                  <a:t>PRINT-OPTIMAL-PARENS(s, </a:t>
                </a:r>
                <a:r>
                  <a:rPr lang="en-US" sz="1600" dirty="0" err="1"/>
                  <a:t>i</a:t>
                </a:r>
                <a:r>
                  <a:rPr lang="en-US" sz="1600" dirty="0"/>
                  <a:t>, j)</a:t>
                </a:r>
              </a:p>
              <a:p>
                <a:pPr marL="0" indent="0">
                  <a:buNone/>
                </a:pPr>
                <a:r>
                  <a:rPr lang="en-US" sz="1600" dirty="0"/>
                  <a:t>1. If </a:t>
                </a:r>
                <a:r>
                  <a:rPr lang="en-US" sz="1600" dirty="0" err="1"/>
                  <a:t>i</a:t>
                </a:r>
                <a:r>
                  <a:rPr lang="en-US" sz="1600" dirty="0"/>
                  <a:t> == j</a:t>
                </a:r>
              </a:p>
              <a:p>
                <a:pPr marL="0" indent="0">
                  <a:buNone/>
                </a:pPr>
                <a:r>
                  <a:rPr lang="en-US" sz="1600" dirty="0"/>
                  <a:t>2. 	Print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"</m:t>
                        </m:r>
                        <m:r>
                          <a:rPr lang="en-US" sz="1600" b="0" i="1" smtClean="0">
                            <a:latin typeface="Cambria Math"/>
                          </a:rPr>
                          <m:t>𝐴</m:t>
                        </m:r>
                        <m:r>
                          <a:rPr lang="en-US" sz="1600" b="0" i="1" smtClean="0">
                            <a:latin typeface="Cambria Math"/>
                          </a:rPr>
                          <m:t>"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3. Else	print “(”</a:t>
                </a:r>
              </a:p>
              <a:p>
                <a:pPr marL="0" indent="0">
                  <a:buNone/>
                </a:pPr>
                <a:r>
                  <a:rPr lang="en-US" sz="1600" dirty="0"/>
                  <a:t>4.	PRINT-OPTIMAL-PARENS(s, </a:t>
                </a:r>
                <a:r>
                  <a:rPr lang="en-US" sz="1600" dirty="0" err="1"/>
                  <a:t>i</a:t>
                </a:r>
                <a:r>
                  <a:rPr lang="en-US" sz="1600" dirty="0"/>
                  <a:t>, s[</a:t>
                </a:r>
                <a:r>
                  <a:rPr lang="en-US" sz="1600" dirty="0" err="1"/>
                  <a:t>i</a:t>
                </a:r>
                <a:r>
                  <a:rPr lang="en-US" sz="1600" dirty="0"/>
                  <a:t>, j]) </a:t>
                </a:r>
              </a:p>
              <a:p>
                <a:pPr marL="0" indent="0">
                  <a:buNone/>
                </a:pPr>
                <a:r>
                  <a:rPr lang="en-US" sz="1600" dirty="0"/>
                  <a:t>5.	PRINT-OPTIMAL-PARENS(s, s[</a:t>
                </a:r>
                <a:r>
                  <a:rPr lang="en-US" sz="1600" dirty="0" err="1"/>
                  <a:t>i</a:t>
                </a:r>
                <a:r>
                  <a:rPr lang="en-US" sz="1600" dirty="0"/>
                  <a:t>, j] + 1, j)</a:t>
                </a:r>
              </a:p>
              <a:p>
                <a:pPr marL="0" indent="0">
                  <a:buNone/>
                </a:pPr>
                <a:r>
                  <a:rPr lang="en-US" sz="1600" dirty="0"/>
                  <a:t>6.	Print “)”</a:t>
                </a:r>
              </a:p>
              <a:p>
                <a:pPr marL="0" indent="0">
                  <a:buNone/>
                </a:pPr>
                <a:endParaRPr lang="ro-RO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  <a:blipFill rotWithShape="1">
                <a:blip r:embed="rId2"/>
                <a:stretch>
                  <a:fillRect l="-392" t="-44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- 23 Noiembrie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1637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Cand</a:t>
            </a:r>
            <a:r>
              <a:rPr lang="en-US" sz="3200" dirty="0"/>
              <a:t> </a:t>
            </a:r>
            <a:r>
              <a:rPr lang="en-US" sz="3200" dirty="0" err="1"/>
              <a:t>aplic</a:t>
            </a:r>
            <a:r>
              <a:rPr lang="ro-RO" sz="3200" dirty="0"/>
              <a:t>ăm programarea dinamică?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229600" cy="5181600"/>
          </a:xfrm>
        </p:spPr>
        <p:txBody>
          <a:bodyPr/>
          <a:lstStyle/>
          <a:p>
            <a:r>
              <a:rPr lang="ro-RO" sz="1600" dirty="0"/>
              <a:t>Cand o problemă prezintă o sub-structură  optimală, este un candidat pentru programarea dinamică</a:t>
            </a:r>
          </a:p>
          <a:p>
            <a:r>
              <a:rPr lang="ro-RO" sz="1600" dirty="0"/>
              <a:t>Se construieste solutia optimă a problemei prin combinarea unor solutii optimale la subprobleme</a:t>
            </a:r>
          </a:p>
          <a:p>
            <a:endParaRPr lang="ro-RO" sz="1600" dirty="0"/>
          </a:p>
          <a:p>
            <a:pPr marL="0" indent="0">
              <a:buNone/>
            </a:pPr>
            <a:r>
              <a:rPr lang="ro-RO" sz="1600" b="1" dirty="0"/>
              <a:t>Descoperirea sub-structurii optimale:</a:t>
            </a:r>
          </a:p>
          <a:p>
            <a:pPr>
              <a:buAutoNum type="arabicPeriod"/>
            </a:pPr>
            <a:r>
              <a:rPr lang="ro-RO" sz="1600" dirty="0"/>
              <a:t>Arătăm că solutia problemei se o</a:t>
            </a:r>
            <a:r>
              <a:rPr lang="en-US" sz="1600"/>
              <a:t>b</a:t>
            </a:r>
            <a:r>
              <a:rPr lang="ro-RO" sz="1600"/>
              <a:t>tine </a:t>
            </a:r>
            <a:r>
              <a:rPr lang="ro-RO" sz="1600" dirty="0"/>
              <a:t>printr-o alegere, care implică rezolvarea a unei sau mai multe subprobleme</a:t>
            </a:r>
          </a:p>
          <a:p>
            <a:pPr>
              <a:buAutoNum type="arabicPeriod"/>
            </a:pPr>
            <a:r>
              <a:rPr lang="ro-RO" sz="1600" dirty="0"/>
              <a:t>La o problemă, presupunem că ni se furnizează alegerea care să conducă la solutia optimală</a:t>
            </a:r>
          </a:p>
          <a:p>
            <a:pPr>
              <a:buAutoNum type="arabicPeriod"/>
            </a:pPr>
            <a:r>
              <a:rPr lang="ro-RO" sz="1600" dirty="0"/>
              <a:t>Avand această alegere, determinăm care sunt subproblemele, si cum caracterizam cel mai bine spatiul rezultat al subproblemelor</a:t>
            </a:r>
          </a:p>
          <a:p>
            <a:pPr>
              <a:buAutoNum type="arabicPeriod"/>
            </a:pPr>
            <a:r>
              <a:rPr lang="ro-RO" sz="1600" dirty="0"/>
              <a:t>Arătăm că solutiile la subproblemele utilizate in cadrul solutiei optimale sunt ele la randul lor optimale, prin repetarea rationamentului de mai sus</a:t>
            </a:r>
          </a:p>
          <a:p>
            <a:pPr marL="0" indent="0">
              <a:buNone/>
            </a:pPr>
            <a:endParaRPr lang="ro-RO" sz="1600" dirty="0"/>
          </a:p>
          <a:p>
            <a:pPr marL="0" indent="0">
              <a:buNone/>
            </a:pPr>
            <a:r>
              <a:rPr lang="ro-RO" sz="1600" dirty="0"/>
              <a:t>Identificăm următoarele</a:t>
            </a:r>
          </a:p>
          <a:p>
            <a:pPr>
              <a:buAutoNum type="arabicPeriod"/>
            </a:pPr>
            <a:r>
              <a:rPr lang="ro-RO" sz="1600" dirty="0"/>
              <a:t>Cate subprobleme utilizează solutia optimală a problemei</a:t>
            </a:r>
          </a:p>
          <a:p>
            <a:pPr>
              <a:buAutoNum type="arabicPeriod"/>
            </a:pPr>
            <a:r>
              <a:rPr lang="ro-RO" sz="1600" dirty="0"/>
              <a:t>Cate posibilități de alegere avem pentru a determina subproblemele utilizate de solutia optimală</a:t>
            </a:r>
          </a:p>
          <a:p>
            <a:endParaRPr lang="ro-RO" sz="1600" dirty="0"/>
          </a:p>
        </p:txBody>
      </p:sp>
    </p:spTree>
    <p:extLst>
      <p:ext uri="{BB962C8B-B14F-4D97-AF65-F5344CB8AC3E}">
        <p14:creationId xmlns:p14="http://schemas.microsoft.com/office/powerpoint/2010/main" val="723137035"/>
      </p:ext>
    </p:extLst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9586</TotalTime>
  <Words>928</Words>
  <Application>Microsoft Office PowerPoint</Application>
  <PresentationFormat>On-screen Show (4:3)</PresentationFormat>
  <Paragraphs>209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Cambria Math</vt:lpstr>
      <vt:lpstr>Tahoma</vt:lpstr>
      <vt:lpstr>Times New Roman</vt:lpstr>
      <vt:lpstr>Wingdings</vt:lpstr>
      <vt:lpstr>Blueprint</vt:lpstr>
      <vt:lpstr>Algoritmi și structuri de date – curs 7   - Informatică Economică, an II –</vt:lpstr>
      <vt:lpstr>Programarea dinamică</vt:lpstr>
      <vt:lpstr>Programare dinamică – pași</vt:lpstr>
      <vt:lpstr>Problemă tăierii unei bare de oțel (rod cutting)</vt:lpstr>
      <vt:lpstr>Taierea unei bare de lungime 4</vt:lpstr>
      <vt:lpstr>Taierea unei bare de lungime n</vt:lpstr>
      <vt:lpstr>Rezolvare recursivă</vt:lpstr>
      <vt:lpstr>Analiza CUT-ROD</vt:lpstr>
      <vt:lpstr>Programare dinamică – solutie eficientă</vt:lpstr>
      <vt:lpstr>Abordarea top-down</vt:lpstr>
      <vt:lpstr>Abordarea bottom-up</vt:lpstr>
      <vt:lpstr>Programarea dinamică</vt:lpstr>
      <vt:lpstr>Reconstruirea solutiei</vt:lpstr>
      <vt:lpstr>Multiplicarea unui sir de matrici</vt:lpstr>
      <vt:lpstr>Multiplicarea unui sir de matrici</vt:lpstr>
      <vt:lpstr>Numărul de solutii posibile</vt:lpstr>
      <vt:lpstr>Determinarea subproblemelor</vt:lpstr>
      <vt:lpstr>Algoritmul bottom-up</vt:lpstr>
      <vt:lpstr>Algoritmul bottom-up</vt:lpstr>
      <vt:lpstr>Construirea solutiei optime</vt:lpstr>
      <vt:lpstr>Cand aplicăm programarea dinamică?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Moni</dc:creator>
  <cp:lastModifiedBy>Gheorghe Cosmin Silaghi</cp:lastModifiedBy>
  <cp:revision>222</cp:revision>
  <dcterms:created xsi:type="dcterms:W3CDTF">2004-11-24T18:35:22Z</dcterms:created>
  <dcterms:modified xsi:type="dcterms:W3CDTF">2020-11-23T05:29:20Z</dcterms:modified>
</cp:coreProperties>
</file>