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7"/>
  </p:notesMasterIdLst>
  <p:sldIdLst>
    <p:sldId id="256" r:id="rId2"/>
    <p:sldId id="281" r:id="rId3"/>
    <p:sldId id="265" r:id="rId4"/>
    <p:sldId id="266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</p:sldIdLst>
  <p:sldSz cx="9144000" cy="6858000" type="screen4x3"/>
  <p:notesSz cx="7099300" cy="10234613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49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1FF025B8-CDF1-47E0-A314-DC575500982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0111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F025B8-CDF1-47E0-A314-DC5755009828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6411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F025B8-CDF1-47E0-A314-DC5755009828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1988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</p:grpSp>
      <p:sp>
        <p:nvSpPr>
          <p:cNvPr id="4163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164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GB"/>
              <a:t>Cluj-Napoca  - 9 Ianuarie 2023</a:t>
            </a:r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4CED30-8BB3-4254-8858-39CEA52735C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7581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- 9 Ianuarie 2023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A9DBAD-A52A-4DC7-80FE-981ECB1F2F1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809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- 9 Ianuarie 2023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D88759-1A87-43FC-9D81-BC4D400D2A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1480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- 9 Ianuarie 2023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7477D-BB97-457C-89BA-5713B0B0B4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6496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- 9 Ianuarie 2023</a:t>
            </a:r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E8387D-1133-468E-AE72-C925541E4D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68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- 9 Ianuarie 2023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F3CC5C-E80A-488B-AD6C-31809144429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9536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- 9 Ianuarie 2023</a:t>
            </a:r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0A99A8-BCD7-4B7E-8522-3CE9331863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855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- 9 Ianuarie 2023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D067C4-FE98-4433-8D52-56E1BA8177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2724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o-RO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- 9 Ianuarie 2023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AD716F-35CF-4603-9782-F2FDC8C4CD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9616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- 9 Ianuarie 2023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DA8865-FCD6-43CD-88ED-AF2AD3463E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6662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- 9 Ianuarie 2023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DBABAE-6959-4344-8AD1-D6370A2C50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928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9050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00600" y="19050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838200" y="40386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600" y="40386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- 9 Ianuarie 2023</a:t>
            </a:r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B209-2CBE-428E-A057-AD0A68D539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1637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- 9 Ianuarie 2023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59D4E0-6A23-45C4-A877-717DF862B3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709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endParaRPr lang="ro-RO" noProof="0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- 9 Ianuarie 2023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2A3B64-3C04-4941-BAB2-F7767CF73D4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4358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4104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4111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3077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78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79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0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1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2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7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2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7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  <p:grpSp>
            <p:nvGrpSpPr>
              <p:cNvPr id="4112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310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</p:grpSp>
        <p:sp>
          <p:nvSpPr>
            <p:cNvPr id="3129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o-RO"/>
            </a:p>
          </p:txBody>
        </p:sp>
        <p:sp>
          <p:nvSpPr>
            <p:cNvPr id="3130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o-RO"/>
            </a:p>
          </p:txBody>
        </p:sp>
        <p:grpSp>
          <p:nvGrpSpPr>
            <p:cNvPr id="4107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3132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3133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3134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</p:grpSp>
      <p:sp>
        <p:nvSpPr>
          <p:cNvPr id="4099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4100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137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138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GB"/>
              <a:t>Cluj-Napoca  - 9 Ianuarie 2023</a:t>
            </a:r>
          </a:p>
        </p:txBody>
      </p:sp>
      <p:sp>
        <p:nvSpPr>
          <p:cNvPr id="3139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084E7CB-EF2E-4647-B803-81CC09BA31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6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gif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0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3048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/>
              <a:t>Cluj-Napoca  - 9 Ianuarie 2023</a:t>
            </a: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990600"/>
          </a:xfrm>
        </p:spPr>
        <p:txBody>
          <a:bodyPr/>
          <a:lstStyle/>
          <a:p>
            <a:pPr eaLnBrk="1" hangingPunct="1"/>
            <a:r>
              <a:rPr lang="en-US" sz="3200" dirty="0" err="1"/>
              <a:t>Algoritmi</a:t>
            </a:r>
            <a:r>
              <a:rPr lang="en-US" sz="3200" dirty="0"/>
              <a:t> </a:t>
            </a:r>
            <a:r>
              <a:rPr lang="ro-RO" sz="3200" dirty="0"/>
              <a:t>și structuri de date</a:t>
            </a:r>
            <a:r>
              <a:rPr lang="en-US" sz="3200" dirty="0"/>
              <a:t> – curs 11 </a:t>
            </a:r>
            <a:r>
              <a:rPr lang="en-US" sz="3600" dirty="0"/>
              <a:t>   </a:t>
            </a:r>
            <a:br>
              <a:rPr lang="en-US" sz="3600" dirty="0"/>
            </a:br>
            <a:r>
              <a:rPr lang="ro-RO" sz="2000" dirty="0"/>
              <a:t>- Informatică Economică, an II –</a:t>
            </a:r>
          </a:p>
        </p:txBody>
      </p:sp>
      <p:sp>
        <p:nvSpPr>
          <p:cNvPr id="614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3276600" y="4833938"/>
            <a:ext cx="4953000" cy="804862"/>
          </a:xfrm>
        </p:spPr>
        <p:txBody>
          <a:bodyPr/>
          <a:lstStyle/>
          <a:p>
            <a:pPr eaLnBrk="1" hangingPunct="1"/>
            <a:r>
              <a:rPr lang="ro-RO"/>
              <a:t>Gheorghe Cosmin Silaghi</a:t>
            </a:r>
          </a:p>
        </p:txBody>
      </p:sp>
      <p:sp>
        <p:nvSpPr>
          <p:cNvPr id="6149" name="Rectangle 4"/>
          <p:cNvSpPr>
            <a:spLocks noChangeArrowheads="1"/>
          </p:cNvSpPr>
          <p:nvPr/>
        </p:nvSpPr>
        <p:spPr bwMode="auto">
          <a:xfrm>
            <a:off x="838200" y="3048000"/>
            <a:ext cx="487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en-US" sz="2000" dirty="0" err="1">
                <a:solidFill>
                  <a:schemeClr val="tx2"/>
                </a:solidFill>
              </a:rPr>
              <a:t>Prelucrari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pe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grafuri</a:t>
            </a:r>
            <a:r>
              <a:rPr lang="en-US" sz="2000" dirty="0">
                <a:solidFill>
                  <a:schemeClr val="tx2"/>
                </a:solidFill>
              </a:rPr>
              <a:t> III</a:t>
            </a:r>
            <a:endParaRPr lang="ro-RO" sz="2000" dirty="0">
              <a:solidFill>
                <a:schemeClr val="tx2"/>
              </a:solidFill>
            </a:endParaRPr>
          </a:p>
        </p:txBody>
      </p:sp>
      <p:pic>
        <p:nvPicPr>
          <p:cNvPr id="4" name="Picture 5" descr="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752599" cy="987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1" name="Picture 7" descr="http://bis.econ.ubbcluj.ro/website/templates/bistemplate/images/sigla_fsega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2570" y="0"/>
            <a:ext cx="977030" cy="977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3" name="Picture 9" descr="http://bis.econ.ubbcluj.ro/website/templates/bistemplate/images/sigla_ubb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1" y="0"/>
            <a:ext cx="914399" cy="914400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600" dirty="0"/>
              <a:t>Cuprins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err="1"/>
              <a:t>Algoritmi</a:t>
            </a:r>
            <a:r>
              <a:rPr lang="en-US" sz="2000" dirty="0"/>
              <a:t> de </a:t>
            </a:r>
            <a:r>
              <a:rPr lang="en-US" sz="2000" dirty="0" err="1"/>
              <a:t>cale</a:t>
            </a:r>
            <a:r>
              <a:rPr lang="en-US" sz="2000" dirty="0"/>
              <a:t> minim</a:t>
            </a:r>
            <a:r>
              <a:rPr lang="ro-RO" sz="2000" dirty="0"/>
              <a:t>ă</a:t>
            </a:r>
            <a:endParaRPr lang="en-US" sz="2000" dirty="0"/>
          </a:p>
          <a:p>
            <a:endParaRPr lang="ro-RO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- 9 Ianuarie 2023</a:t>
            </a:r>
          </a:p>
        </p:txBody>
      </p:sp>
    </p:spTree>
    <p:extLst>
      <p:ext uri="{BB962C8B-B14F-4D97-AF65-F5344CB8AC3E}">
        <p14:creationId xmlns:p14="http://schemas.microsoft.com/office/powerpoint/2010/main" val="3800378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8" name="Text Box 2"/>
          <p:cNvSpPr txBox="1">
            <a:spLocks noChangeArrowheads="1"/>
          </p:cNvSpPr>
          <p:nvPr/>
        </p:nvSpPr>
        <p:spPr bwMode="auto">
          <a:xfrm>
            <a:off x="4068763" y="98425"/>
            <a:ext cx="9144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ro-RO"/>
          </a:p>
        </p:txBody>
      </p:sp>
      <p:sp>
        <p:nvSpPr>
          <p:cNvPr id="18459" name="Text Box 1"/>
          <p:cNvSpPr txBox="1">
            <a:spLocks noChangeArrowheads="1"/>
          </p:cNvSpPr>
          <p:nvPr/>
        </p:nvSpPr>
        <p:spPr bwMode="auto">
          <a:xfrm>
            <a:off x="3978275" y="187325"/>
            <a:ext cx="9144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ro-RO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Algoritmi</a:t>
            </a:r>
            <a:r>
              <a:rPr lang="en-US" sz="3200" dirty="0"/>
              <a:t> de </a:t>
            </a:r>
            <a:r>
              <a:rPr lang="en-US" sz="3200" dirty="0" err="1"/>
              <a:t>cale</a:t>
            </a:r>
            <a:r>
              <a:rPr lang="en-US" sz="3200" dirty="0"/>
              <a:t> minima</a:t>
            </a:r>
            <a:endParaRPr lang="ro-RO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639762" y="1600200"/>
                <a:ext cx="8199437" cy="4114800"/>
              </a:xfrm>
            </p:spPr>
            <p:txBody>
              <a:bodyPr/>
              <a:lstStyle/>
              <a:p>
                <a:r>
                  <a:rPr lang="en-US" sz="1600" dirty="0"/>
                  <a:t>Dac</a:t>
                </a:r>
                <a:r>
                  <a:rPr lang="ro-RO" sz="1600" dirty="0"/>
                  <a:t>ă se dă harta unei tări, să se găsească drumul cel mai scurt intre 2 orase</a:t>
                </a:r>
              </a:p>
              <a:p>
                <a:endParaRPr lang="ro-RO" sz="1600" dirty="0"/>
              </a:p>
              <a:p>
                <a:pPr marL="0" indent="0">
                  <a:buNone/>
                </a:pPr>
                <a:r>
                  <a:rPr lang="ro-RO" sz="1600" b="1" dirty="0"/>
                  <a:t>Definirea problemei</a:t>
                </a:r>
              </a:p>
              <a:p>
                <a:r>
                  <a:rPr lang="ro-RO" sz="1600" dirty="0"/>
                  <a:t>Se dă un graf G=(V,E) si o functie de cost w. costul w(p) a unei căi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𝑝</m:t>
                    </m:r>
                    <m:r>
                      <a:rPr lang="ro-RO" sz="1600" b="0" i="1" smtClean="0">
                        <a:latin typeface="Cambria Math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600" b="0" i="1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ro-RO" sz="1600" b="0" i="1" smtClean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ro-RO" sz="16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ro-RO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600" b="0" i="1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ro-RO" sz="16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ro-RO" sz="1600" b="0" i="1" smtClean="0"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ro-RO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600" b="0" i="1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ro-RO" sz="1600" b="0" i="1" smtClean="0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ro-RO" sz="1600" dirty="0"/>
                  <a:t> este suma tuturor costurilor de pe calea p: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𝑤</m:t>
                    </m:r>
                    <m:d>
                      <m:d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600" b="0" i="1" smtClean="0">
                            <a:latin typeface="Cambria Math"/>
                          </a:rPr>
                          <m:t>𝑝</m:t>
                        </m:r>
                      </m:e>
                    </m:d>
                    <m:r>
                      <a:rPr lang="ro-RO" sz="1600" b="0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ro-RO" sz="1600" b="0" i="1" smtClean="0">
                            <a:latin typeface="Cambria Math"/>
                          </a:rPr>
                          <m:t>𝑖</m:t>
                        </m:r>
                        <m:r>
                          <a:rPr lang="ro-RO" sz="1600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ro-RO" sz="1600" b="0" i="1" smtClean="0">
                            <a:latin typeface="Cambria Math"/>
                          </a:rPr>
                          <m:t>𝑘</m:t>
                        </m:r>
                      </m:sup>
                      <m:e>
                        <m:r>
                          <a:rPr lang="ro-RO" sz="1600" b="0" i="1" smtClean="0">
                            <a:latin typeface="Cambria Math"/>
                          </a:rPr>
                          <m:t>𝑤</m:t>
                        </m:r>
                        <m:r>
                          <a:rPr lang="ro-RO" sz="1600" b="0" i="1" smtClean="0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ro-RO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600" b="0" i="1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ro-RO" sz="1600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ro-RO" sz="1600" b="0" i="1" smtClean="0">
                                <a:latin typeface="Cambria Math"/>
                              </a:rPr>
                              <m:t>−1</m:t>
                            </m:r>
                          </m:sub>
                        </m:sSub>
                        <m:r>
                          <a:rPr lang="ro-RO" sz="16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ro-RO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600" b="0" i="1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ro-RO" sz="16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ro-RO" sz="1600" b="0" i="1" smtClean="0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r>
                  <a:rPr lang="ro-RO" sz="1600" dirty="0"/>
                  <a:t>. </a:t>
                </a:r>
              </a:p>
              <a:p>
                <a:r>
                  <a:rPr lang="ro-RO" sz="1600" dirty="0"/>
                  <a:t>Calea cu costul minim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 smtClean="0">
                        <a:latin typeface="Cambria Math"/>
                      </a:rPr>
                      <m:t>δ</m:t>
                    </m:r>
                    <m:r>
                      <a:rPr lang="ro-RO" sz="1600" b="0" i="1" smtClean="0">
                        <a:latin typeface="Cambria Math"/>
                      </a:rPr>
                      <m:t>(</m:t>
                    </m:r>
                    <m:r>
                      <a:rPr lang="ro-RO" sz="1600" b="0" i="1" smtClean="0">
                        <a:latin typeface="Cambria Math"/>
                      </a:rPr>
                      <m:t>𝑢</m:t>
                    </m:r>
                    <m:r>
                      <a:rPr lang="ro-RO" sz="1600" b="0" i="1" smtClean="0">
                        <a:latin typeface="Cambria Math"/>
                      </a:rPr>
                      <m:t>,</m:t>
                    </m:r>
                    <m:r>
                      <a:rPr lang="ro-RO" sz="1600" b="0" i="1" smtClean="0">
                        <a:latin typeface="Cambria Math"/>
                      </a:rPr>
                      <m:t>𝑣</m:t>
                    </m:r>
                    <m:r>
                      <a:rPr lang="ro-RO" sz="16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ro-RO" sz="1600" dirty="0"/>
                  <a:t> de la u la v este: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 smtClean="0">
                        <a:latin typeface="Cambria Math"/>
                      </a:rPr>
                      <m:t>δ</m:t>
                    </m:r>
                    <m:d>
                      <m:d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600" b="0" i="1" smtClean="0">
                            <a:latin typeface="Cambria Math"/>
                          </a:rPr>
                          <m:t>𝑢</m:t>
                        </m:r>
                        <m:r>
                          <a:rPr lang="ro-RO" sz="1600" b="0" i="1" smtClean="0">
                            <a:latin typeface="Cambria Math"/>
                          </a:rPr>
                          <m:t>,</m:t>
                        </m:r>
                        <m:r>
                          <a:rPr lang="ro-RO" sz="1600" b="0" i="1" smtClean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ro-RO" sz="1600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ro-RO" sz="16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ro-RO" sz="1600" b="0" i="0" smtClean="0">
                                  <a:latin typeface="Cambria Math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ro-RO" sz="1600" b="0" i="0" smtClean="0">
                                  <a:latin typeface="Cambria Math"/>
                                </a:rPr>
                                <m:t>in</m:t>
                              </m:r>
                              <m:r>
                                <m:rPr>
                                  <m:brk m:alnAt="7"/>
                                </m:rPr>
                                <a:rPr lang="en-US" sz="1600" b="0" i="1" smtClean="0">
                                  <a:latin typeface="Cambria Math"/>
                                </a:rPr>
                                <m:t>⁡</m:t>
                              </m:r>
                              <m:r>
                                <a:rPr lang="en-US" sz="1600" b="0" i="1" smtClean="0">
                                  <a:latin typeface="Cambria Math"/>
                                </a:rPr>
                                <m:t>{</m:t>
                              </m:r>
                              <m:r>
                                <a:rPr lang="en-US" sz="1600" b="0" i="1" smtClean="0">
                                  <a:latin typeface="Cambria Math"/>
                                </a:rPr>
                                <m:t>𝑤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600" b="0" i="1" smtClean="0">
                                      <a:latin typeface="Cambria Math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m:rPr>
                                  <m:brk m:alnAt="7"/>
                                </m:rPr>
                                <a:rPr lang="en-US" sz="1600" b="0" i="1" smtClean="0">
                                  <a:latin typeface="Cambria Math"/>
                                </a:rPr>
                                <m:t>:</m:t>
                              </m:r>
                              <m:r>
                                <a:rPr lang="en-US" sz="1600" b="0" i="1" smtClean="0">
                                  <a:latin typeface="Cambria Math"/>
                                </a:rPr>
                                <m:t>𝑢</m:t>
                              </m:r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sz="1600" b="0" i="1" smtClean="0">
                                      <a:latin typeface="Cambria Math"/>
                                    </a:rPr>
                                    <m:t>𝑝</m:t>
                                  </m:r>
                                </m:e>
                              </m:groupChr>
                              <m:r>
                                <m:rPr>
                                  <m:brk m:alnAt="7"/>
                                </m:rPr>
                                <a:rPr lang="en-US" sz="1600" b="0" i="1" smtClean="0">
                                  <a:latin typeface="Cambria Math"/>
                                </a:rPr>
                                <m:t>𝑣</m:t>
                              </m:r>
                              <m:r>
                                <a:rPr lang="en-US" sz="1600" b="0" i="1" smtClean="0">
                                  <a:latin typeface="Cambria Math"/>
                                </a:rPr>
                                <m:t>}</m:t>
                              </m:r>
                            </m:e>
                            <m:e>
                              <m:r>
                                <a:rPr lang="en-US" sz="1600" b="0" i="1" smtClean="0">
                                  <a:latin typeface="Cambria Math"/>
                                </a:rPr>
                                <m:t>𝑑𝑎𝑐</m:t>
                              </m:r>
                              <m:r>
                                <a:rPr lang="ro-RO" sz="1600" b="0" i="1" smtClean="0">
                                  <a:latin typeface="Cambria Math"/>
                                </a:rPr>
                                <m:t>ă </m:t>
                              </m:r>
                              <m:r>
                                <a:rPr lang="ro-RO" sz="1600" b="0" i="1" smtClean="0">
                                  <a:latin typeface="Cambria Math"/>
                                </a:rPr>
                                <m:t>𝑒𝑥𝑖𝑠𝑡</m:t>
                              </m:r>
                              <m:r>
                                <a:rPr lang="ro-RO" sz="1600" b="0" i="1" smtClean="0">
                                  <a:latin typeface="Cambria Math"/>
                                </a:rPr>
                                <m:t>ă </m:t>
                              </m:r>
                              <m:r>
                                <a:rPr lang="ro-RO" sz="1600" b="0" i="1" smtClean="0">
                                  <a:latin typeface="Cambria Math"/>
                                </a:rPr>
                                <m:t>𝑜</m:t>
                              </m:r>
                              <m:r>
                                <a:rPr lang="ro-RO" sz="16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ro-RO" sz="1600" b="0" i="1" smtClean="0">
                                  <a:latin typeface="Cambria Math"/>
                                </a:rPr>
                                <m:t>𝑐𝑎𝑙𝑒</m:t>
                              </m:r>
                              <m:r>
                                <a:rPr lang="ro-RO" sz="16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ro-RO" sz="1600" b="0" i="1" smtClean="0">
                                  <a:latin typeface="Cambria Math"/>
                                </a:rPr>
                                <m:t>𝑑𝑒</m:t>
                              </m:r>
                              <m:r>
                                <a:rPr lang="ro-RO" sz="16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ro-RO" sz="1600" b="0" i="1" smtClean="0">
                                  <a:latin typeface="Cambria Math"/>
                                </a:rPr>
                                <m:t>𝑙𝑎</m:t>
                              </m:r>
                              <m:r>
                                <a:rPr lang="ro-RO" sz="16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ro-RO" sz="1600" b="0" i="1" smtClean="0">
                                  <a:latin typeface="Cambria Math"/>
                                </a:rPr>
                                <m:t>𝑢</m:t>
                              </m:r>
                              <m:r>
                                <a:rPr lang="ro-RO" sz="16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ro-RO" sz="1600" b="0" i="1" smtClean="0">
                                  <a:latin typeface="Cambria Math"/>
                                </a:rPr>
                                <m:t>𝑙𝑎</m:t>
                              </m:r>
                              <m:r>
                                <a:rPr lang="ro-RO" sz="16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ro-RO" sz="1600" b="0" i="1" smtClean="0">
                                  <a:latin typeface="Cambria Math"/>
                                </a:rPr>
                                <m:t>𝑣</m:t>
                              </m:r>
                            </m:e>
                          </m:mr>
                          <m:mr>
                            <m:e>
                              <m:r>
                                <a:rPr lang="ro-RO" sz="1600" b="0" i="1" smtClean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e>
                            <m:e>
                              <m:r>
                                <a:rPr lang="ro-RO" sz="1600" b="0" i="1" smtClean="0">
                                  <a:latin typeface="Cambria Math"/>
                                </a:rPr>
                                <m:t>𝑖𝑛</m:t>
                              </m:r>
                              <m:r>
                                <a:rPr lang="ro-RO" sz="16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ro-RO" sz="1600" b="0" i="1" smtClean="0">
                                  <a:latin typeface="Cambria Math"/>
                                </a:rPr>
                                <m:t>𝑐𝑎𝑧</m:t>
                              </m:r>
                              <m:r>
                                <a:rPr lang="ro-RO" sz="16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ro-RO" sz="1600" b="0" i="1" smtClean="0">
                                  <a:latin typeface="Cambria Math"/>
                                </a:rPr>
                                <m:t>𝑐𝑜𝑛𝑡𝑟𝑎𝑟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o-RO" sz="1600" dirty="0"/>
              </a:p>
              <a:p>
                <a:pPr marL="0" indent="0">
                  <a:buNone/>
                </a:pPr>
                <a:endParaRPr lang="en-US" sz="1600" b="1" dirty="0"/>
              </a:p>
              <a:p>
                <a:pPr marL="0" indent="0">
                  <a:buNone/>
                </a:pPr>
                <a:r>
                  <a:rPr lang="ro-RO" sz="1600" b="1" dirty="0"/>
                  <a:t>Variante ale problemei</a:t>
                </a:r>
              </a:p>
              <a:p>
                <a:r>
                  <a:rPr lang="ro-RO" sz="1600" dirty="0"/>
                  <a:t>Să se găsească calea cea mai scurtă către o anume destinatie t de la fiecare nod v din graf. Problema poate fi pusă si invers: calea cea mai scurtă de la o sursa s la fiecare nod v din graf</a:t>
                </a:r>
              </a:p>
              <a:p>
                <a:r>
                  <a:rPr lang="ro-RO" sz="1600" dirty="0"/>
                  <a:t>Să se găsească calea cea mai scurtă dintre 2 noduri u si v</a:t>
                </a:r>
              </a:p>
              <a:p>
                <a:r>
                  <a:rPr lang="ro-RO" sz="1600" dirty="0"/>
                  <a:t>Să se gasească calea cea mai scurtă dintre toate perechile de noduri (u,v)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9762" y="1600200"/>
                <a:ext cx="8199437" cy="4114800"/>
              </a:xfrm>
              <a:blipFill rotWithShape="0">
                <a:blip r:embed="rId2"/>
                <a:stretch>
                  <a:fillRect l="-446" t="-444" b="-7556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- 9 Ianuarie 2023</a:t>
            </a:r>
          </a:p>
        </p:txBody>
      </p:sp>
    </p:spTree>
    <p:extLst>
      <p:ext uri="{BB962C8B-B14F-4D97-AF65-F5344CB8AC3E}">
        <p14:creationId xmlns:p14="http://schemas.microsoft.com/office/powerpoint/2010/main" val="1902693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Structura optimă a unei cai minime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39762" y="1524000"/>
                <a:ext cx="8199437" cy="4114800"/>
              </a:xfrm>
            </p:spPr>
            <p:txBody>
              <a:bodyPr/>
              <a:lstStyle/>
              <a:p>
                <a:r>
                  <a:rPr lang="ro-RO" sz="1600" dirty="0"/>
                  <a:t>Calea de cost minim conține in interiorul său alte căi de cost minim</a:t>
                </a:r>
              </a:p>
              <a:p>
                <a:endParaRPr lang="ro-RO" sz="1600" dirty="0"/>
              </a:p>
              <a:p>
                <a:r>
                  <a:rPr lang="ro-RO" sz="1600" dirty="0"/>
                  <a:t>Dacă se dă un graf orientat G=(V,E) si o functie de cost w pe graful G, dacă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𝑝</m:t>
                    </m:r>
                    <m:r>
                      <a:rPr lang="ro-RO" sz="1600" b="0" i="1" smtClean="0">
                        <a:latin typeface="Cambria Math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600" b="0" i="1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ro-RO" sz="1600" b="0" i="1" smtClean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ro-RO" sz="16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ro-RO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600" b="0" i="1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ro-RO" sz="16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ro-RO" sz="1600" b="0" i="1" smtClean="0"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ro-RO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600" b="0" i="1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ro-RO" sz="1600" b="0" i="1" smtClean="0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ro-RO" sz="1600" dirty="0"/>
                  <a:t> este calea de cost minim intre 2 noduri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ro-RO" sz="1600" dirty="0"/>
                  <a:t> și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o-RO" sz="1600" dirty="0"/>
                  <a:t> atunci pentru orice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0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𝑖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𝑗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𝑘</m:t>
                    </m:r>
                  </m:oMath>
                </a14:m>
                <a:r>
                  <a:rPr lang="ro-RO" sz="1600" dirty="0"/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ro-RO" sz="1600" b="0" i="1" smtClean="0">
                        <a:latin typeface="Cambria Math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600" b="0" i="1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ro-RO" sz="16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ro-RO" sz="16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ro-RO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600" b="0" i="1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ro-RO" sz="1600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ro-RO" sz="1600" b="0" i="1" smtClean="0">
                                <a:latin typeface="Cambria Math"/>
                              </a:rPr>
                              <m:t>+1</m:t>
                            </m:r>
                          </m:sub>
                        </m:sSub>
                        <m:r>
                          <a:rPr lang="ro-RO" sz="1600" b="0" i="1" smtClean="0"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ro-RO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600" b="0" i="1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ro-RO" sz="1600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ro-RO" sz="1600" dirty="0"/>
                  <a:t> este calea de cost minim intre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sz="1600" dirty="0"/>
                  <a:t> și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endParaRPr lang="en-US" sz="1600" dirty="0"/>
              </a:p>
              <a:p>
                <a:endParaRPr lang="en-US" sz="1600" dirty="0"/>
              </a:p>
              <a:p>
                <a:r>
                  <a:rPr lang="ro-RO" sz="1600" dirty="0"/>
                  <a:t>! </a:t>
                </a:r>
                <a:r>
                  <a:rPr lang="en-US" sz="1600" dirty="0"/>
                  <a:t>O </a:t>
                </a:r>
                <a:r>
                  <a:rPr lang="en-US" sz="1600" dirty="0" err="1"/>
                  <a:t>cale</a:t>
                </a:r>
                <a:r>
                  <a:rPr lang="en-US" sz="1600" dirty="0"/>
                  <a:t> minim</a:t>
                </a:r>
                <a:r>
                  <a:rPr lang="ro-RO" sz="1600" dirty="0"/>
                  <a:t>ă nu contine cicluri !</a:t>
                </a:r>
              </a:p>
              <a:p>
                <a:endParaRPr lang="ro-RO" sz="1600" dirty="0"/>
              </a:p>
              <a:p>
                <a:endParaRPr lang="ro-RO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9762" y="1524000"/>
                <a:ext cx="8199437" cy="4114800"/>
              </a:xfrm>
              <a:blipFill rotWithShape="1">
                <a:blip r:embed="rId2"/>
                <a:stretch>
                  <a:fillRect t="-444" r="-223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/>
              <a:t>Cluj-Napoca  - 9 Ianuarie 2023</a:t>
            </a:r>
          </a:p>
        </p:txBody>
      </p:sp>
      <p:sp>
        <p:nvSpPr>
          <p:cNvPr id="1031" name="Text Box 2"/>
          <p:cNvSpPr txBox="1">
            <a:spLocks noChangeArrowheads="1"/>
          </p:cNvSpPr>
          <p:nvPr/>
        </p:nvSpPr>
        <p:spPr bwMode="auto">
          <a:xfrm>
            <a:off x="4068763" y="98425"/>
            <a:ext cx="9144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ro-RO"/>
          </a:p>
        </p:txBody>
      </p:sp>
      <p:sp>
        <p:nvSpPr>
          <p:cNvPr id="1032" name="Text Box 1"/>
          <p:cNvSpPr txBox="1">
            <a:spLocks noChangeArrowheads="1"/>
          </p:cNvSpPr>
          <p:nvPr/>
        </p:nvSpPr>
        <p:spPr bwMode="auto">
          <a:xfrm>
            <a:off x="3978275" y="187325"/>
            <a:ext cx="9144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ro-RO"/>
          </a:p>
        </p:txBody>
      </p:sp>
      <p:sp>
        <p:nvSpPr>
          <p:cNvPr id="1072" name="Text Box 16"/>
          <p:cNvSpPr txBox="1">
            <a:spLocks noChangeArrowheads="1"/>
          </p:cNvSpPr>
          <p:nvPr/>
        </p:nvSpPr>
        <p:spPr bwMode="auto">
          <a:xfrm>
            <a:off x="46038" y="206375"/>
            <a:ext cx="63976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40937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Reprezentarea căii minime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</p:spPr>
            <p:txBody>
              <a:bodyPr/>
              <a:lstStyle/>
              <a:p>
                <a:r>
                  <a:rPr lang="ro-RO" sz="1600" dirty="0"/>
                  <a:t>Fie un graf G=(V,E). Pentru fiecare nod v vom memora predecesorul 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𝑣</m:t>
                    </m:r>
                    <m:r>
                      <a:rPr lang="ro-RO" sz="1600" b="0" i="1" smtClean="0">
                        <a:latin typeface="Cambria Math"/>
                      </a:rPr>
                      <m:t>.</m:t>
                    </m:r>
                    <m:r>
                      <m:rPr>
                        <m:sty m:val="p"/>
                      </m:rPr>
                      <a:rPr lang="el-GR" sz="1600" b="0" i="1" smtClean="0">
                        <a:latin typeface="Cambria Math"/>
                      </a:rPr>
                      <m:t>π</m:t>
                    </m:r>
                  </m:oMath>
                </a14:m>
                <a:r>
                  <a:rPr lang="ro-RO" sz="1600" dirty="0"/>
                  <a:t> acestuia, care poate fi un alt nod sau Nil</a:t>
                </a:r>
              </a:p>
              <a:p>
                <a:endParaRPr lang="ro-RO" sz="1600" dirty="0"/>
              </a:p>
              <a:p>
                <a:r>
                  <a:rPr lang="ro-RO" sz="1600" dirty="0"/>
                  <a:t>Algoritmii de determinare a căii minime seteaza predecesorii astfel încât dacă se merge de la un nod v inapoi, se găseste calea minimă de la sursa s la v</a:t>
                </a:r>
              </a:p>
              <a:p>
                <a:endParaRPr lang="ro-RO" sz="1600" dirty="0"/>
              </a:p>
              <a:p>
                <a:r>
                  <a:rPr lang="ro-RO" sz="1600" b="1" dirty="0"/>
                  <a:t>Temă:</a:t>
                </a:r>
                <a:r>
                  <a:rPr lang="ro-RO" sz="1600" dirty="0"/>
                  <a:t> să se scrie o procedura PRINT-PATH(G, s, v) care tipărește calea minimă de la s la v</a:t>
                </a:r>
              </a:p>
              <a:p>
                <a:endParaRPr lang="ro-RO" sz="1600" dirty="0"/>
              </a:p>
              <a:p>
                <a:endParaRPr lang="ro-RO" sz="1600" dirty="0"/>
              </a:p>
              <a:p>
                <a:endParaRPr lang="ro-RO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  <a:blipFill rotWithShape="1">
                <a:blip r:embed="rId2"/>
                <a:stretch>
                  <a:fillRect t="-44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- 9 Ianuarie 2023</a:t>
            </a:r>
          </a:p>
        </p:txBody>
      </p:sp>
    </p:spTree>
    <p:extLst>
      <p:ext uri="{BB962C8B-B14F-4D97-AF65-F5344CB8AC3E}">
        <p14:creationId xmlns:p14="http://schemas.microsoft.com/office/powerpoint/2010/main" val="3569760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Arborele cu cai minime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7772400" cy="4114800"/>
              </a:xfrm>
            </p:spPr>
            <p:txBody>
              <a:bodyPr/>
              <a:lstStyle/>
              <a:p>
                <a:r>
                  <a:rPr lang="ro-RO" sz="1600" dirty="0"/>
                  <a:t>Notăm cu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l-GR" sz="1600" i="1">
                            <a:latin typeface="Cambria Math"/>
                          </a:rPr>
                          <m:t>π</m:t>
                        </m:r>
                      </m:sub>
                    </m:sSub>
                  </m:oMath>
                </a14:m>
                <a:r>
                  <a:rPr lang="ro-RO" sz="1600" dirty="0"/>
                  <a:t> toate nodurile din V care au predecesor diferit de Nil – includem sursa 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l-GR" sz="1600" i="1">
                            <a:latin typeface="Cambria Math"/>
                          </a:rPr>
                          <m:t>π</m:t>
                        </m:r>
                      </m:sub>
                    </m:sSub>
                  </m:oMath>
                </a14:m>
                <a:endParaRPr lang="ro-RO" sz="1600" dirty="0"/>
              </a:p>
              <a:p>
                <a:r>
                  <a:rPr lang="ro-RO" sz="1600" dirty="0"/>
                  <a:t>Notăm cu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l-GR" sz="1600" i="1">
                            <a:latin typeface="Cambria Math"/>
                          </a:rPr>
                          <m:t>π</m:t>
                        </m:r>
                      </m:sub>
                    </m:sSub>
                  </m:oMath>
                </a14:m>
                <a:r>
                  <a:rPr lang="ro-RO" sz="1600" dirty="0"/>
                  <a:t> arcele induse de relatia predecesor pe nodurile din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l-GR" sz="1600" i="1">
                            <a:latin typeface="Cambria Math"/>
                          </a:rPr>
                          <m:t>π</m:t>
                        </m:r>
                      </m:sub>
                    </m:sSub>
                  </m:oMath>
                </a14:m>
                <a:endParaRPr lang="ro-RO" sz="1600" dirty="0"/>
              </a:p>
              <a:p>
                <a:endParaRPr lang="ro-RO" sz="1600" dirty="0"/>
              </a:p>
              <a:p>
                <a:r>
                  <a:rPr lang="ro-RO" sz="1600" dirty="0"/>
                  <a:t>Atunci graful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l-GR" sz="1600" i="1">
                            <a:latin typeface="Cambria Math"/>
                          </a:rPr>
                          <m:t>π</m:t>
                        </m:r>
                      </m:sub>
                    </m:sSub>
                    <m:r>
                      <a:rPr lang="ro-RO" sz="1600" i="1">
                        <a:latin typeface="Cambria Math"/>
                      </a:rPr>
                      <m:t>=(</m:t>
                    </m:r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l-GR" sz="1600" i="1">
                            <a:latin typeface="Cambria Math"/>
                          </a:rPr>
                          <m:t>π</m:t>
                        </m:r>
                      </m:sub>
                    </m:sSub>
                    <m:r>
                      <a:rPr lang="ro-RO" sz="160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l-GR" sz="1600" i="1">
                            <a:latin typeface="Cambria Math"/>
                          </a:rPr>
                          <m:t>π</m:t>
                        </m:r>
                      </m:sub>
                    </m:sSub>
                  </m:oMath>
                </a14:m>
                <a:r>
                  <a:rPr lang="ro-RO" sz="1600" dirty="0"/>
                  <a:t>) este </a:t>
                </a:r>
                <a:r>
                  <a:rPr lang="ro-RO" sz="1600" i="1" dirty="0"/>
                  <a:t>arborele cu cai minime</a:t>
                </a:r>
                <a:r>
                  <a:rPr lang="ro-RO" sz="1600" dirty="0"/>
                  <a:t>: arborele cu rădăcina in sursa s care contine căile minime de la s la toate nodurile din graful G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7772400" cy="4114800"/>
              </a:xfrm>
              <a:blipFill rotWithShape="1">
                <a:blip r:embed="rId2"/>
                <a:stretch>
                  <a:fillRect t="-44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- 9 Ianuarie 2023</a:t>
            </a:r>
          </a:p>
        </p:txBody>
      </p:sp>
    </p:spTree>
    <p:extLst>
      <p:ext uri="{BB962C8B-B14F-4D97-AF65-F5344CB8AC3E}">
        <p14:creationId xmlns:p14="http://schemas.microsoft.com/office/powerpoint/2010/main" val="108250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Relaxarea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</p:spPr>
            <p:txBody>
              <a:bodyPr/>
              <a:lstStyle/>
              <a:p>
                <a:r>
                  <a:rPr lang="ro-RO" sz="1600" dirty="0"/>
                  <a:t>Pentru fiecare nod v păstrăm atributul v.d care reprezintă o margine superioară a costului căii minime de la s la v</a:t>
                </a:r>
              </a:p>
              <a:p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INITIALIZE-SINGLE-SOURCE(G, s)</a:t>
                </a:r>
              </a:p>
              <a:p>
                <a:pPr marL="0" indent="0">
                  <a:buNone/>
                </a:pPr>
                <a:r>
                  <a:rPr lang="ro-RO" sz="1600" dirty="0"/>
                  <a:t>1. For fiecare nod v din graful G</a:t>
                </a:r>
              </a:p>
              <a:p>
                <a:pPr marL="0" indent="0">
                  <a:buNone/>
                </a:pPr>
                <a:r>
                  <a:rPr lang="ro-RO" sz="1600" dirty="0"/>
                  <a:t>2. 	v.d = </a:t>
                </a:r>
                <a14:m>
                  <m:oMath xmlns:m="http://schemas.openxmlformats.org/officeDocument/2006/math">
                    <m:r>
                      <a:rPr lang="ro-RO" sz="1600" i="1" smtClean="0">
                        <a:latin typeface="Cambria Math"/>
                        <a:ea typeface="Cambria Math"/>
                      </a:rPr>
                      <m:t>∞</m:t>
                    </m:r>
                  </m:oMath>
                </a14:m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3.	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𝑣</m:t>
                    </m:r>
                    <m:r>
                      <a:rPr lang="ro-RO" sz="1600" b="0" i="1" smtClean="0">
                        <a:latin typeface="Cambria Math"/>
                      </a:rPr>
                      <m:t>.</m:t>
                    </m:r>
                    <m:r>
                      <m:rPr>
                        <m:sty m:val="p"/>
                      </m:rPr>
                      <a:rPr lang="el-GR" sz="1600" b="0" i="1" smtClean="0">
                        <a:latin typeface="Cambria Math"/>
                      </a:rPr>
                      <m:t>π</m:t>
                    </m:r>
                  </m:oMath>
                </a14:m>
                <a:r>
                  <a:rPr lang="ro-RO" sz="1600" dirty="0"/>
                  <a:t> = Nil</a:t>
                </a:r>
              </a:p>
              <a:p>
                <a:pPr marL="0" indent="0">
                  <a:buNone/>
                </a:pPr>
                <a:r>
                  <a:rPr lang="ro-RO" sz="1600" dirty="0"/>
                  <a:t>4. s.d = 0</a:t>
                </a:r>
              </a:p>
              <a:p>
                <a:pPr marL="0" indent="0">
                  <a:buNone/>
                </a:pPr>
                <a:endParaRPr lang="ro-RO" sz="1600" dirty="0"/>
              </a:p>
              <a:p>
                <a:pPr marL="0" indent="0">
                  <a:buNone/>
                </a:pPr>
                <a:r>
                  <a:rPr lang="ro-RO" sz="1600" b="1" dirty="0"/>
                  <a:t>Tehnica relaxării</a:t>
                </a:r>
                <a:r>
                  <a:rPr lang="ro-RO" sz="1600" dirty="0"/>
                  <a:t>: pentru un arc (u,v) inseamă a testa dacă se poate imbunătăți calea cea mai scurtă către v trecând prin nodul u</a:t>
                </a:r>
              </a:p>
              <a:p>
                <a:pPr marL="0" indent="0">
                  <a:buNone/>
                </a:pPr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RELAX(u, v, w)</a:t>
                </a:r>
              </a:p>
              <a:p>
                <a:pPr marL="0" indent="0">
                  <a:buNone/>
                </a:pPr>
                <a:r>
                  <a:rPr lang="ro-RO" sz="1600" dirty="0"/>
                  <a:t>1. If v.d </a:t>
                </a:r>
                <a:r>
                  <a:rPr lang="en-US" sz="1600" dirty="0"/>
                  <a:t>&gt; </a:t>
                </a:r>
                <a:r>
                  <a:rPr lang="en-US" sz="1600" dirty="0" err="1"/>
                  <a:t>u.d</a:t>
                </a:r>
                <a:r>
                  <a:rPr lang="en-US" sz="1600" dirty="0"/>
                  <a:t> + w(</a:t>
                </a:r>
                <a:r>
                  <a:rPr lang="en-US" sz="1600" dirty="0" err="1"/>
                  <a:t>u,v</a:t>
                </a:r>
                <a:r>
                  <a:rPr lang="en-US" sz="1600" dirty="0"/>
                  <a:t>)</a:t>
                </a:r>
              </a:p>
              <a:p>
                <a:pPr marL="0" indent="0">
                  <a:buNone/>
                </a:pPr>
                <a:r>
                  <a:rPr lang="en-US" sz="1600" dirty="0"/>
                  <a:t>2.	</a:t>
                </a:r>
                <a:r>
                  <a:rPr lang="en-US" sz="1600" dirty="0" err="1"/>
                  <a:t>v.d</a:t>
                </a:r>
                <a:r>
                  <a:rPr lang="en-US" sz="1600" dirty="0"/>
                  <a:t> = </a:t>
                </a:r>
                <a:r>
                  <a:rPr lang="en-US" sz="1600" dirty="0" err="1"/>
                  <a:t>u.d</a:t>
                </a:r>
                <a:r>
                  <a:rPr lang="en-US" sz="1600" dirty="0"/>
                  <a:t> + w(</a:t>
                </a:r>
                <a:r>
                  <a:rPr lang="en-US" sz="1600" dirty="0" err="1"/>
                  <a:t>u,v</a:t>
                </a:r>
                <a:r>
                  <a:rPr lang="en-US" sz="1600" dirty="0"/>
                  <a:t>)</a:t>
                </a:r>
              </a:p>
              <a:p>
                <a:pPr marL="0" indent="0">
                  <a:buNone/>
                </a:pPr>
                <a:r>
                  <a:rPr lang="en-US" sz="1600" dirty="0"/>
                  <a:t>3.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𝑣</m:t>
                    </m:r>
                    <m:r>
                      <a:rPr lang="en-US" sz="1600" b="0" i="1" smtClean="0">
                        <a:latin typeface="Cambria Math"/>
                      </a:rPr>
                      <m:t>.</m:t>
                    </m:r>
                    <m:r>
                      <m:rPr>
                        <m:sty m:val="p"/>
                      </m:rPr>
                      <a:rPr lang="el-GR" sz="1600" b="0" i="1" smtClean="0">
                        <a:latin typeface="Cambria Math"/>
                      </a:rPr>
                      <m:t>π</m:t>
                    </m:r>
                  </m:oMath>
                </a14:m>
                <a:r>
                  <a:rPr lang="en-US" sz="1600" dirty="0"/>
                  <a:t> = u</a:t>
                </a:r>
                <a:endParaRPr lang="ro-RO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  <a:blipFill rotWithShape="1">
                <a:blip r:embed="rId2"/>
                <a:stretch>
                  <a:fillRect l="-370" t="-444" b="-14370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- 9 Ianuarie 2023</a:t>
            </a:r>
          </a:p>
        </p:txBody>
      </p:sp>
    </p:spTree>
    <p:extLst>
      <p:ext uri="{BB962C8B-B14F-4D97-AF65-F5344CB8AC3E}">
        <p14:creationId xmlns:p14="http://schemas.microsoft.com/office/powerpoint/2010/main" val="695297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7772400" cy="4114800"/>
          </a:xfrm>
        </p:spPr>
        <p:txBody>
          <a:bodyPr/>
          <a:lstStyle/>
          <a:p>
            <a:r>
              <a:rPr lang="en-US" sz="1600" dirty="0" err="1"/>
              <a:t>Ideea</a:t>
            </a:r>
            <a:r>
              <a:rPr lang="en-US" sz="1600" dirty="0"/>
              <a:t> </a:t>
            </a:r>
            <a:r>
              <a:rPr lang="en-US" sz="1600" dirty="0" err="1"/>
              <a:t>algoritmilor</a:t>
            </a:r>
            <a:r>
              <a:rPr lang="en-US" sz="1600" dirty="0"/>
              <a:t> de </a:t>
            </a:r>
            <a:r>
              <a:rPr lang="en-US" sz="1600" dirty="0" err="1"/>
              <a:t>cale</a:t>
            </a:r>
            <a:r>
              <a:rPr lang="en-US" sz="1600" dirty="0"/>
              <a:t> minim</a:t>
            </a:r>
            <a:r>
              <a:rPr lang="ro-RO" sz="1600" dirty="0"/>
              <a:t>ă: </a:t>
            </a:r>
          </a:p>
          <a:p>
            <a:endParaRPr lang="ro-RO" sz="1600" dirty="0"/>
          </a:p>
          <a:p>
            <a:r>
              <a:rPr lang="ro-RO" sz="1600" dirty="0"/>
              <a:t>Se apelează la inceput INITIALIZE-SINGLE-SOURCE</a:t>
            </a:r>
          </a:p>
          <a:p>
            <a:r>
              <a:rPr lang="ro-RO" sz="1600" dirty="0"/>
              <a:t>Apoi se apelează relaxări ale arcelor</a:t>
            </a:r>
          </a:p>
          <a:p>
            <a:endParaRPr lang="ro-RO" sz="1600" dirty="0"/>
          </a:p>
          <a:p>
            <a:r>
              <a:rPr lang="ro-RO" sz="1600" dirty="0"/>
              <a:t>Algoritmii diferă prin numărul de relaxări aplicate pentru fiecare arc din graf</a:t>
            </a:r>
          </a:p>
          <a:p>
            <a:endParaRPr lang="ro-RO" sz="1600" dirty="0"/>
          </a:p>
          <a:p>
            <a:endParaRPr lang="ro-RO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- 9 Ianuarie 2023</a:t>
            </a:r>
          </a:p>
        </p:txBody>
      </p:sp>
    </p:spTree>
    <p:extLst>
      <p:ext uri="{BB962C8B-B14F-4D97-AF65-F5344CB8AC3E}">
        <p14:creationId xmlns:p14="http://schemas.microsoft.com/office/powerpoint/2010/main" val="1222787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Proprietăți ale căilor minimale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</p:spPr>
            <p:txBody>
              <a:bodyPr/>
              <a:lstStyle/>
              <a:p>
                <a:r>
                  <a:rPr lang="ro-RO" sz="1600" b="1" dirty="0"/>
                  <a:t>Inegalitatea triunghiulară: </a:t>
                </a:r>
                <a:r>
                  <a:rPr lang="ro-RO" sz="1600" dirty="0"/>
                  <a:t>pentru orice arc (u,v) avem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 smtClean="0">
                        <a:latin typeface="Cambria Math"/>
                      </a:rPr>
                      <m:t>δ</m:t>
                    </m:r>
                    <m:d>
                      <m:d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600" b="0" i="1" smtClean="0">
                            <a:latin typeface="Cambria Math"/>
                          </a:rPr>
                          <m:t>𝑠</m:t>
                        </m:r>
                        <m:r>
                          <a:rPr lang="ro-RO" sz="1600" b="0" i="1" smtClean="0">
                            <a:latin typeface="Cambria Math"/>
                          </a:rPr>
                          <m:t>,</m:t>
                        </m:r>
                        <m:r>
                          <a:rPr lang="ro-RO" sz="1600" b="0" i="1" smtClean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ro-RO" sz="1600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m:rPr>
                        <m:sty m:val="p"/>
                      </m:rPr>
                      <a:rPr lang="el-GR" sz="1600" b="0" i="1" smtClean="0">
                        <a:latin typeface="Cambria Math"/>
                        <a:ea typeface="Cambria Math"/>
                      </a:rPr>
                      <m:t>δ</m:t>
                    </m:r>
                    <m:d>
                      <m:dPr>
                        <m:ctrlPr>
                          <a:rPr lang="ro-RO" sz="16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ro-RO" sz="1600" b="0" i="1" smtClean="0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ro-RO" sz="1600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ro-RO" sz="1600" b="0" i="1" smtClean="0">
                            <a:latin typeface="Cambria Math"/>
                            <a:ea typeface="Cambria Math"/>
                          </a:rPr>
                          <m:t>𝑢</m:t>
                        </m:r>
                      </m:e>
                    </m:d>
                    <m:r>
                      <a:rPr lang="ro-RO" sz="1600" b="0" i="1" smtClean="0">
                        <a:latin typeface="Cambria Math"/>
                        <a:ea typeface="Cambria Math"/>
                      </a:rPr>
                      <m:t>+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𝑤</m:t>
                    </m:r>
                    <m:d>
                      <m:dPr>
                        <m:ctrlPr>
                          <a:rPr lang="ro-RO" sz="16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ro-RO" sz="1600" b="0" i="1" smtClean="0">
                            <a:latin typeface="Cambria Math"/>
                            <a:ea typeface="Cambria Math"/>
                          </a:rPr>
                          <m:t>𝑢</m:t>
                        </m:r>
                        <m:r>
                          <a:rPr lang="ro-RO" sz="1600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ro-RO" sz="1600" b="0" i="1" smtClean="0">
                            <a:latin typeface="Cambria Math"/>
                            <a:ea typeface="Cambria Math"/>
                          </a:rPr>
                          <m:t>𝑣</m:t>
                        </m:r>
                      </m:e>
                    </m:d>
                  </m:oMath>
                </a14:m>
                <a:endParaRPr lang="ro-RO" sz="1600" b="0" dirty="0">
                  <a:ea typeface="Cambria Math"/>
                </a:endParaRPr>
              </a:p>
              <a:p>
                <a:endParaRPr lang="ro-RO" sz="1600" dirty="0"/>
              </a:p>
              <a:p>
                <a:r>
                  <a:rPr lang="ro-RO" sz="1600" b="1" dirty="0"/>
                  <a:t>Proprietatea de margine superioară:</a:t>
                </a:r>
                <a:r>
                  <a:rPr lang="ro-RO" sz="1600" dirty="0"/>
                  <a:t> intotdeauna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𝑣</m:t>
                    </m:r>
                    <m:r>
                      <a:rPr lang="ro-RO" sz="1600" b="0" i="1" smtClean="0">
                        <a:latin typeface="Cambria Math"/>
                      </a:rPr>
                      <m:t>.</m:t>
                    </m:r>
                    <m:r>
                      <a:rPr lang="ro-RO" sz="1600" b="0" i="1" smtClean="0">
                        <a:latin typeface="Cambria Math"/>
                      </a:rPr>
                      <m:t>𝑑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≥</m:t>
                    </m:r>
                    <m:r>
                      <m:rPr>
                        <m:sty m:val="p"/>
                      </m:rPr>
                      <a:rPr lang="el-GR" sz="1600" b="0" i="1" smtClean="0">
                        <a:latin typeface="Cambria Math"/>
                        <a:ea typeface="Cambria Math"/>
                      </a:rPr>
                      <m:t>δ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𝑠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𝑣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ro-RO" sz="1600" dirty="0"/>
                  <a:t>. Dacă v.d atinge valoarea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>
                        <a:latin typeface="Cambria Math"/>
                        <a:ea typeface="Cambria Math"/>
                      </a:rPr>
                      <m:t>δ</m:t>
                    </m:r>
                    <m:r>
                      <a:rPr lang="ro-RO" sz="1600" i="1">
                        <a:latin typeface="Cambria Math"/>
                        <a:ea typeface="Cambria Math"/>
                      </a:rPr>
                      <m:t>(</m:t>
                    </m:r>
                    <m:r>
                      <a:rPr lang="ro-RO" sz="1600" i="1">
                        <a:latin typeface="Cambria Math"/>
                        <a:ea typeface="Cambria Math"/>
                      </a:rPr>
                      <m:t>𝑠</m:t>
                    </m:r>
                    <m:r>
                      <a:rPr lang="ro-RO" sz="1600" i="1">
                        <a:latin typeface="Cambria Math"/>
                        <a:ea typeface="Cambria Math"/>
                      </a:rPr>
                      <m:t>,</m:t>
                    </m:r>
                    <m:r>
                      <a:rPr lang="ro-RO" sz="1600" i="1">
                        <a:latin typeface="Cambria Math"/>
                        <a:ea typeface="Cambria Math"/>
                      </a:rPr>
                      <m:t>𝑣</m:t>
                    </m:r>
                    <m:r>
                      <a:rPr lang="ro-RO" sz="16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ro-RO" sz="1600" dirty="0"/>
                  <a:t> atunci v.d va rămâne neschimbată pentru tot restul algoritmului</a:t>
                </a:r>
              </a:p>
              <a:p>
                <a:endParaRPr lang="ro-RO" sz="1600" dirty="0"/>
              </a:p>
              <a:p>
                <a:r>
                  <a:rPr lang="ro-RO" sz="1600" b="1" dirty="0"/>
                  <a:t>Proprietate lipsei căii</a:t>
                </a:r>
                <a:r>
                  <a:rPr lang="ro-RO" sz="1600" dirty="0"/>
                  <a:t>: dacă nu există cale de la s la v atunci </a:t>
                </a:r>
                <a14:m>
                  <m:oMath xmlns:m="http://schemas.openxmlformats.org/officeDocument/2006/math">
                    <m:r>
                      <a:rPr lang="ro-RO" sz="1600" i="1">
                        <a:latin typeface="Cambria Math"/>
                      </a:rPr>
                      <m:t>𝑣</m:t>
                    </m:r>
                    <m:r>
                      <a:rPr lang="ro-RO" sz="1600" i="1">
                        <a:latin typeface="Cambria Math"/>
                      </a:rPr>
                      <m:t>.</m:t>
                    </m:r>
                    <m:r>
                      <a:rPr lang="ro-RO" sz="1600" i="1">
                        <a:latin typeface="Cambria Math"/>
                      </a:rPr>
                      <m:t>𝑑</m:t>
                    </m:r>
                    <m:r>
                      <a:rPr lang="ro-RO" sz="1600" b="0" i="1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l-GR" sz="1600" i="1">
                        <a:latin typeface="Cambria Math"/>
                        <a:ea typeface="Cambria Math"/>
                      </a:rPr>
                      <m:t>δ</m:t>
                    </m:r>
                    <m:d>
                      <m:dPr>
                        <m:ctrlPr>
                          <a:rPr lang="ro-RO" sz="16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ro-RO" sz="1600" i="1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ro-RO" sz="1600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ro-RO" sz="1600" i="1">
                            <a:latin typeface="Cambria Math"/>
                            <a:ea typeface="Cambria Math"/>
                          </a:rPr>
                          <m:t>𝑣</m:t>
                        </m:r>
                      </m:e>
                    </m:d>
                    <m:r>
                      <a:rPr lang="ro-RO" sz="1600" b="0" i="1" smtClean="0">
                        <a:latin typeface="Cambria Math"/>
                        <a:ea typeface="Cambria Math"/>
                      </a:rPr>
                      <m:t>=∞</m:t>
                    </m:r>
                  </m:oMath>
                </a14:m>
                <a:endParaRPr lang="ro-RO" sz="1600" dirty="0"/>
              </a:p>
              <a:p>
                <a:endParaRPr lang="ro-RO" sz="1600" dirty="0"/>
              </a:p>
              <a:p>
                <a:r>
                  <a:rPr lang="ro-RO" sz="1600" b="1" dirty="0"/>
                  <a:t>Proprietatea de convergență</a:t>
                </a:r>
                <a:r>
                  <a:rPr lang="ro-RO" sz="1600" dirty="0"/>
                  <a:t>: dacă calea cea mai scurtă de la s la v trece prin u si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𝑢</m:t>
                    </m:r>
                    <m:r>
                      <a:rPr lang="ro-RO" sz="1600" b="0" i="1" smtClean="0">
                        <a:latin typeface="Cambria Math"/>
                      </a:rPr>
                      <m:t>.</m:t>
                    </m:r>
                    <m:r>
                      <a:rPr lang="ro-RO" sz="1600" b="0" i="1" smtClean="0">
                        <a:latin typeface="Cambria Math"/>
                      </a:rPr>
                      <m:t>𝑑</m:t>
                    </m:r>
                    <m:r>
                      <a:rPr lang="ro-RO" sz="1600" b="0" i="1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l-GR" sz="1600" b="0" i="1" smtClean="0">
                        <a:latin typeface="Cambria Math"/>
                      </a:rPr>
                      <m:t>δ</m:t>
                    </m:r>
                    <m:d>
                      <m:d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600" b="0" i="1" smtClean="0">
                            <a:latin typeface="Cambria Math"/>
                          </a:rPr>
                          <m:t>𝑠</m:t>
                        </m:r>
                        <m:r>
                          <a:rPr lang="ro-RO" sz="1600" b="0" i="1" smtClean="0">
                            <a:latin typeface="Cambria Math"/>
                          </a:rPr>
                          <m:t>,</m:t>
                        </m:r>
                        <m:r>
                          <a:rPr lang="ro-RO" sz="1600" b="0" i="1" smtClean="0">
                            <a:latin typeface="Cambria Math"/>
                          </a:rPr>
                          <m:t>𝑢</m:t>
                        </m:r>
                      </m:e>
                    </m:d>
                  </m:oMath>
                </a14:m>
                <a:r>
                  <a:rPr lang="ro-RO" sz="1600" dirty="0"/>
                  <a:t> la orice moment inaintea relaxării pe arcul (u,v), atunci </a:t>
                </a:r>
                <a14:m>
                  <m:oMath xmlns:m="http://schemas.openxmlformats.org/officeDocument/2006/math">
                    <m:r>
                      <a:rPr lang="ro-RO" sz="1600" i="1">
                        <a:latin typeface="Cambria Math"/>
                      </a:rPr>
                      <m:t>𝑣</m:t>
                    </m:r>
                    <m:r>
                      <a:rPr lang="ro-RO" sz="1600" i="1">
                        <a:latin typeface="Cambria Math"/>
                      </a:rPr>
                      <m:t>.</m:t>
                    </m:r>
                    <m:r>
                      <a:rPr lang="ro-RO" sz="1600" i="1">
                        <a:latin typeface="Cambria Math"/>
                      </a:rPr>
                      <m:t>𝑑</m:t>
                    </m:r>
                    <m:r>
                      <a:rPr lang="ro-RO" sz="1600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l-GR" sz="1600" i="1">
                        <a:latin typeface="Cambria Math"/>
                        <a:ea typeface="Cambria Math"/>
                      </a:rPr>
                      <m:t>δ</m:t>
                    </m:r>
                    <m:d>
                      <m:dPr>
                        <m:ctrlPr>
                          <a:rPr lang="ro-RO" sz="16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ro-RO" sz="1600" i="1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ro-RO" sz="1600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ro-RO" sz="1600" i="1">
                            <a:latin typeface="Cambria Math"/>
                            <a:ea typeface="Cambria Math"/>
                          </a:rPr>
                          <m:t>𝑣</m:t>
                        </m:r>
                      </m:e>
                    </m:d>
                  </m:oMath>
                </a14:m>
                <a:r>
                  <a:rPr lang="ro-RO" sz="1600" dirty="0"/>
                  <a:t> după relaxare</a:t>
                </a:r>
              </a:p>
              <a:p>
                <a:endParaRPr lang="ro-RO" sz="1600" dirty="0"/>
              </a:p>
              <a:p>
                <a:r>
                  <a:rPr lang="ro-RO" sz="1600" b="1" dirty="0"/>
                  <a:t>Proprietatea de relaxare a căii</a:t>
                </a:r>
                <a:r>
                  <a:rPr lang="ro-RO" sz="1600" dirty="0"/>
                  <a:t>: dacă calea minimă de la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𝑠</m:t>
                    </m:r>
                    <m:r>
                      <a:rPr lang="ro-RO" sz="16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ro-RO" sz="1600" dirty="0"/>
                  <a:t> 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o-RO" sz="1600" dirty="0"/>
                  <a:t> este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𝑝</m:t>
                    </m:r>
                    <m:r>
                      <a:rPr lang="ro-RO" sz="1600" b="0" i="1" smtClean="0">
                        <a:latin typeface="Cambria Math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600" b="0" i="1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ro-RO" sz="1600" b="0" i="1" smtClean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ro-RO" sz="16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ro-RO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600" b="0" i="1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ro-RO" sz="16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ro-RO" sz="1600" b="0" i="1" smtClean="0"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ro-RO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600" b="0" i="1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ro-RO" sz="1600" b="0" i="1" smtClean="0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ro-RO" sz="1600" dirty="0"/>
                  <a:t> si relaxăm arcele din p in ordinea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ro-RO" sz="16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o-RO" sz="16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ro-RO" sz="1600" dirty="0"/>
                  <a:t>, </a:t>
                </a:r>
                <a14:m>
                  <m:oMath xmlns:m="http://schemas.openxmlformats.org/officeDocument/2006/math">
                    <m:r>
                      <a:rPr lang="ro-RO" sz="1600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o-RO" sz="16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ro-RO" sz="1600" i="1">
                        <a:latin typeface="Cambria Math"/>
                      </a:rPr>
                      <m:t>)</m:t>
                    </m:r>
                  </m:oMath>
                </a14:m>
                <a:r>
                  <a:rPr lang="ro-RO" sz="1600" dirty="0"/>
                  <a:t>, ...., </a:t>
                </a:r>
                <a14:m>
                  <m:oMath xmlns:m="http://schemas.openxmlformats.org/officeDocument/2006/math">
                    <m:r>
                      <a:rPr lang="ro-RO" sz="1600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𝑘</m:t>
                        </m:r>
                        <m:r>
                          <a:rPr lang="ro-RO" sz="1600" b="0" i="1" smtClean="0"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ro-RO" sz="16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ro-RO" sz="1600" i="1">
                        <a:latin typeface="Cambria Math"/>
                      </a:rPr>
                      <m:t>)</m:t>
                    </m:r>
                  </m:oMath>
                </a14:m>
                <a:r>
                  <a:rPr lang="ro-RO" sz="1600" dirty="0"/>
                  <a:t> atunci</a:t>
                </a:r>
                <a14:m>
                  <m:oMath xmlns:m="http://schemas.openxmlformats.org/officeDocument/2006/math">
                    <m:r>
                      <a:rPr lang="ro-RO" sz="1600" b="0" i="0" smtClean="0">
                        <a:latin typeface="Cambria Math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  <a:ea typeface="Cambria Math"/>
                          </a:rPr>
                          <m:t>𝑣</m:t>
                        </m:r>
                      </m:e>
                      <m:sub>
                        <m:r>
                          <a:rPr lang="ro-RO" sz="1600" i="1">
                            <a:latin typeface="Cambria Math"/>
                            <a:ea typeface="Cambria Math"/>
                          </a:rPr>
                          <m:t>𝑘</m:t>
                        </m:r>
                      </m:sub>
                    </m:sSub>
                    <m:r>
                      <a:rPr lang="ro-RO" sz="1600" i="1">
                        <a:latin typeface="Cambria Math"/>
                      </a:rPr>
                      <m:t>.</m:t>
                    </m:r>
                    <m:r>
                      <a:rPr lang="ro-RO" sz="1600" i="1">
                        <a:latin typeface="Cambria Math"/>
                      </a:rPr>
                      <m:t>𝑑</m:t>
                    </m:r>
                    <m:r>
                      <a:rPr lang="ro-RO" sz="1600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l-GR" sz="1600" i="1">
                        <a:latin typeface="Cambria Math"/>
                        <a:ea typeface="Cambria Math"/>
                      </a:rPr>
                      <m:t>δ</m:t>
                    </m:r>
                    <m:d>
                      <m:dPr>
                        <m:ctrlPr>
                          <a:rPr lang="ro-RO" sz="16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ro-RO" sz="1600" i="1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ro-RO" sz="1600" i="1">
                            <a:latin typeface="Cambria Math"/>
                            <a:ea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ro-RO" sz="160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ro-RO" sz="1600" b="0" i="1" smtClean="0">
                                <a:latin typeface="Cambria Math"/>
                                <a:ea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ro-RO" sz="1600" b="0" i="1" smtClean="0">
                                <a:latin typeface="Cambria Math"/>
                                <a:ea typeface="Cambria Math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ro-RO" sz="1600" dirty="0"/>
                  <a:t>. Proprietatea are loc indiferent ce alte relaxări mai sunt realizate de algoritm, si indiferent cum aceste relaxări sunt mixate cu cele din calea p</a:t>
                </a:r>
              </a:p>
              <a:p>
                <a:endParaRPr lang="ro-RO" sz="1600" dirty="0"/>
              </a:p>
              <a:p>
                <a:r>
                  <a:rPr lang="ro-RO" sz="1600" b="1" dirty="0"/>
                  <a:t>Proprietatea subgrafului predecesorilor</a:t>
                </a:r>
                <a:r>
                  <a:rPr lang="ro-RO" sz="1600" dirty="0"/>
                  <a:t>: daca </a:t>
                </a:r>
                <a14:m>
                  <m:oMath xmlns:m="http://schemas.openxmlformats.org/officeDocument/2006/math">
                    <m:r>
                      <a:rPr lang="ro-RO" sz="1600" i="1">
                        <a:latin typeface="Cambria Math"/>
                      </a:rPr>
                      <m:t>𝑣</m:t>
                    </m:r>
                    <m:r>
                      <a:rPr lang="ro-RO" sz="1600" i="1">
                        <a:latin typeface="Cambria Math"/>
                      </a:rPr>
                      <m:t>.</m:t>
                    </m:r>
                    <m:r>
                      <a:rPr lang="ro-RO" sz="1600" i="1">
                        <a:latin typeface="Cambria Math"/>
                      </a:rPr>
                      <m:t>𝑑</m:t>
                    </m:r>
                    <m:r>
                      <a:rPr lang="ro-RO" sz="1600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l-GR" sz="1600" i="1">
                        <a:latin typeface="Cambria Math"/>
                        <a:ea typeface="Cambria Math"/>
                      </a:rPr>
                      <m:t>δ</m:t>
                    </m:r>
                    <m:d>
                      <m:dPr>
                        <m:ctrlPr>
                          <a:rPr lang="ro-RO" sz="16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ro-RO" sz="1600" i="1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ro-RO" sz="1600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ro-RO" sz="1600" i="1">
                            <a:latin typeface="Cambria Math"/>
                            <a:ea typeface="Cambria Math"/>
                          </a:rPr>
                          <m:t>𝑣</m:t>
                        </m:r>
                      </m:e>
                    </m:d>
                  </m:oMath>
                </a14:m>
                <a:r>
                  <a:rPr lang="ro-RO" sz="1600" dirty="0"/>
                  <a:t> pentru toate nodurile v, atunci subgraful predecesorilor este arborele cu caile minime cu varful in s </a:t>
                </a:r>
              </a:p>
              <a:p>
                <a:endParaRPr lang="ro-RO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  <a:blipFill rotWithShape="1">
                <a:blip r:embed="rId2"/>
                <a:stretch>
                  <a:fillRect t="-444" r="-1037" b="-22667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- 9 Ianuarie 2023</a:t>
            </a:r>
          </a:p>
        </p:txBody>
      </p:sp>
    </p:spTree>
    <p:extLst>
      <p:ext uri="{BB962C8B-B14F-4D97-AF65-F5344CB8AC3E}">
        <p14:creationId xmlns:p14="http://schemas.microsoft.com/office/powerpoint/2010/main" val="2041543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Algoritmul Bellman-Ford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lang="ro-RO" sz="1600" dirty="0"/>
              <a:t>BELLMAN-FORD(G, w, s)</a:t>
            </a:r>
          </a:p>
          <a:p>
            <a:pPr marL="0" indent="0">
              <a:buNone/>
            </a:pPr>
            <a:r>
              <a:rPr lang="ro-RO" sz="1600" dirty="0"/>
              <a:t>1. INITIALIZE-SINGLE-SOURCE(G, s)</a:t>
            </a:r>
          </a:p>
          <a:p>
            <a:pPr marL="0" indent="0">
              <a:buNone/>
            </a:pPr>
            <a:r>
              <a:rPr lang="ro-RO" sz="1600" dirty="0"/>
              <a:t>2. For i = 1 to |G.V| - 1</a:t>
            </a:r>
          </a:p>
          <a:p>
            <a:pPr marL="0" indent="0">
              <a:buNone/>
            </a:pPr>
            <a:r>
              <a:rPr lang="ro-RO" sz="1600" dirty="0"/>
              <a:t>3.	For fiecare arc (u,v) </a:t>
            </a:r>
          </a:p>
          <a:p>
            <a:pPr marL="0" indent="0">
              <a:buNone/>
            </a:pPr>
            <a:r>
              <a:rPr lang="ro-RO" sz="1600" dirty="0"/>
              <a:t>4.		RELAX(u, v, w)</a:t>
            </a:r>
          </a:p>
          <a:p>
            <a:pPr marL="0" indent="0">
              <a:buNone/>
            </a:pPr>
            <a:r>
              <a:rPr lang="ro-RO" sz="1600" dirty="0"/>
              <a:t>5. For fiecare arc (u,v) </a:t>
            </a:r>
          </a:p>
          <a:p>
            <a:pPr marL="0" indent="0">
              <a:buNone/>
            </a:pPr>
            <a:r>
              <a:rPr lang="ro-RO" sz="1600" dirty="0"/>
              <a:t>6.	If v.d </a:t>
            </a:r>
            <a:r>
              <a:rPr lang="en-US" sz="1600" dirty="0"/>
              <a:t>&gt; </a:t>
            </a:r>
            <a:r>
              <a:rPr lang="en-US" sz="1600" dirty="0" err="1"/>
              <a:t>u.d</a:t>
            </a:r>
            <a:r>
              <a:rPr lang="en-US" sz="1600" dirty="0"/>
              <a:t> + w(</a:t>
            </a:r>
            <a:r>
              <a:rPr lang="en-US" sz="1600" dirty="0" err="1"/>
              <a:t>u,v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r>
              <a:rPr lang="en-US" sz="1600" dirty="0"/>
              <a:t>7.		Return FALSE</a:t>
            </a:r>
          </a:p>
          <a:p>
            <a:pPr marL="0" indent="0">
              <a:buNone/>
            </a:pPr>
            <a:r>
              <a:rPr lang="en-US" sz="1600" dirty="0"/>
              <a:t>8. Return TRUE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Algoritmul</a:t>
            </a:r>
            <a:r>
              <a:rPr lang="en-US" sz="1600" dirty="0"/>
              <a:t> </a:t>
            </a:r>
            <a:r>
              <a:rPr lang="en-US" sz="1600" dirty="0" err="1"/>
              <a:t>indica</a:t>
            </a:r>
            <a:r>
              <a:rPr lang="en-US" sz="1600" dirty="0"/>
              <a:t> FALSE in </a:t>
            </a:r>
            <a:r>
              <a:rPr lang="en-US" sz="1600" dirty="0" err="1"/>
              <a:t>cazul</a:t>
            </a:r>
            <a:r>
              <a:rPr lang="en-US" sz="1600" dirty="0"/>
              <a:t> in care </a:t>
            </a:r>
            <a:r>
              <a:rPr lang="en-US" sz="1600" dirty="0" err="1"/>
              <a:t>gaseste</a:t>
            </a:r>
            <a:r>
              <a:rPr lang="en-US" sz="1600" dirty="0"/>
              <a:t> un </a:t>
            </a:r>
            <a:r>
              <a:rPr lang="en-US" sz="1600" dirty="0" err="1"/>
              <a:t>ciclu</a:t>
            </a:r>
            <a:r>
              <a:rPr lang="en-US" sz="1600" dirty="0"/>
              <a:t> cu cost </a:t>
            </a:r>
            <a:r>
              <a:rPr lang="en-US" sz="1600" dirty="0" err="1"/>
              <a:t>negativ</a:t>
            </a:r>
            <a:r>
              <a:rPr lang="en-US" sz="1600" dirty="0"/>
              <a:t> </a:t>
            </a:r>
          </a:p>
          <a:p>
            <a:pPr marL="0" indent="0">
              <a:buNone/>
            </a:pPr>
            <a:r>
              <a:rPr lang="en-US" sz="1600" dirty="0" err="1"/>
              <a:t>Timp</a:t>
            </a:r>
            <a:r>
              <a:rPr lang="en-US" sz="1600" dirty="0"/>
              <a:t> de </a:t>
            </a:r>
            <a:r>
              <a:rPr lang="en-US" sz="1600" dirty="0" err="1"/>
              <a:t>executie</a:t>
            </a:r>
            <a:r>
              <a:rPr lang="en-US" sz="1600" dirty="0"/>
              <a:t>: O(VE)</a:t>
            </a:r>
            <a:endParaRPr lang="ro-RO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- 9 Ianuarie 2023</a:t>
            </a:r>
          </a:p>
        </p:txBody>
      </p:sp>
    </p:spTree>
    <p:extLst>
      <p:ext uri="{BB962C8B-B14F-4D97-AF65-F5344CB8AC3E}">
        <p14:creationId xmlns:p14="http://schemas.microsoft.com/office/powerpoint/2010/main" val="472323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- 9 Ianuarie 2023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01625"/>
            <a:ext cx="8891083" cy="4803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33400" y="5181600"/>
            <a:ext cx="65261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Ordinea</a:t>
            </a:r>
            <a:r>
              <a:rPr lang="en-US" sz="2000" dirty="0"/>
              <a:t> de </a:t>
            </a:r>
            <a:r>
              <a:rPr lang="en-US" sz="2000" dirty="0" err="1"/>
              <a:t>parcurgere</a:t>
            </a:r>
            <a:r>
              <a:rPr lang="en-US" sz="2000" dirty="0"/>
              <a:t> a </a:t>
            </a:r>
            <a:r>
              <a:rPr lang="en-US" sz="2000" dirty="0" err="1"/>
              <a:t>arcelor</a:t>
            </a:r>
            <a:r>
              <a:rPr lang="en-US" sz="2000" dirty="0"/>
              <a:t>: (</a:t>
            </a:r>
            <a:r>
              <a:rPr lang="en-US" sz="2000" dirty="0" err="1"/>
              <a:t>t,x</a:t>
            </a:r>
            <a:r>
              <a:rPr lang="en-US" sz="2000" dirty="0"/>
              <a:t>), (</a:t>
            </a:r>
            <a:r>
              <a:rPr lang="en-US" sz="2000" dirty="0" err="1"/>
              <a:t>t,y</a:t>
            </a:r>
            <a:r>
              <a:rPr lang="en-US" sz="2000" dirty="0"/>
              <a:t>), (</a:t>
            </a:r>
            <a:r>
              <a:rPr lang="en-US" sz="2000" dirty="0" err="1"/>
              <a:t>t,z</a:t>
            </a:r>
            <a:r>
              <a:rPr lang="en-US" sz="2000" dirty="0"/>
              <a:t>), (</a:t>
            </a:r>
            <a:r>
              <a:rPr lang="en-US" sz="2000" dirty="0" err="1"/>
              <a:t>x,t</a:t>
            </a:r>
            <a:r>
              <a:rPr lang="en-US" sz="2000" dirty="0"/>
              <a:t>), </a:t>
            </a:r>
          </a:p>
          <a:p>
            <a:r>
              <a:rPr lang="en-US" sz="2000" dirty="0"/>
              <a:t>(y, x), (</a:t>
            </a:r>
            <a:r>
              <a:rPr lang="en-US" sz="2000" dirty="0" err="1"/>
              <a:t>y,z</a:t>
            </a:r>
            <a:r>
              <a:rPr lang="en-US" sz="2000" dirty="0"/>
              <a:t>), (</a:t>
            </a:r>
            <a:r>
              <a:rPr lang="en-US" sz="2000" dirty="0" err="1"/>
              <a:t>z,x</a:t>
            </a:r>
            <a:r>
              <a:rPr lang="en-US" sz="2000" dirty="0"/>
              <a:t>), (</a:t>
            </a:r>
            <a:r>
              <a:rPr lang="en-US" sz="2000" dirty="0" err="1"/>
              <a:t>z,s</a:t>
            </a:r>
            <a:r>
              <a:rPr lang="en-US" sz="2000" dirty="0"/>
              <a:t>), (</a:t>
            </a:r>
            <a:r>
              <a:rPr lang="en-US" sz="2000" dirty="0" err="1"/>
              <a:t>s,t</a:t>
            </a:r>
            <a:r>
              <a:rPr lang="en-US" sz="2000" dirty="0"/>
              <a:t>), (</a:t>
            </a:r>
            <a:r>
              <a:rPr lang="en-US" sz="2000" dirty="0" err="1"/>
              <a:t>s,y</a:t>
            </a:r>
            <a:r>
              <a:rPr lang="en-US" sz="2000" dirty="0"/>
              <a:t>)</a:t>
            </a:r>
            <a:endParaRPr lang="ro-RO" sz="2000" dirty="0"/>
          </a:p>
        </p:txBody>
      </p:sp>
    </p:spTree>
    <p:extLst>
      <p:ext uri="{BB962C8B-B14F-4D97-AF65-F5344CB8AC3E}">
        <p14:creationId xmlns:p14="http://schemas.microsoft.com/office/powerpoint/2010/main" val="2036572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Cai</a:t>
            </a:r>
            <a:r>
              <a:rPr lang="en-US" sz="3200" dirty="0"/>
              <a:t> </a:t>
            </a:r>
            <a:r>
              <a:rPr lang="en-US" sz="3200" dirty="0" err="1"/>
              <a:t>minime</a:t>
            </a:r>
            <a:r>
              <a:rPr lang="en-US" sz="3200" dirty="0"/>
              <a:t> in </a:t>
            </a:r>
            <a:r>
              <a:rPr lang="en-US" sz="3200" dirty="0" err="1"/>
              <a:t>grafuri</a:t>
            </a:r>
            <a:r>
              <a:rPr lang="en-US" sz="3200" dirty="0"/>
              <a:t> </a:t>
            </a:r>
            <a:r>
              <a:rPr lang="en-US" sz="3200" dirty="0" err="1"/>
              <a:t>aciclice</a:t>
            </a:r>
            <a:r>
              <a:rPr lang="en-US" sz="3200" dirty="0"/>
              <a:t> (DAG)</a:t>
            </a:r>
            <a:endParaRPr lang="ro-RO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7772400" cy="4114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600" dirty="0"/>
                  <a:t>DAG-SHORTEST-PATH(G, w, s)</a:t>
                </a:r>
              </a:p>
              <a:p>
                <a:pPr marL="0" indent="0">
                  <a:buNone/>
                </a:pPr>
                <a:r>
                  <a:rPr lang="en-US" sz="1600" dirty="0"/>
                  <a:t>1. Se </a:t>
                </a:r>
                <a:r>
                  <a:rPr lang="en-US" sz="1600" dirty="0" err="1"/>
                  <a:t>sorteaza</a:t>
                </a:r>
                <a:r>
                  <a:rPr lang="en-US" sz="1600" dirty="0"/>
                  <a:t> topologic </a:t>
                </a:r>
                <a:r>
                  <a:rPr lang="en-US" sz="1600" dirty="0" err="1"/>
                  <a:t>nodurile</a:t>
                </a:r>
                <a:r>
                  <a:rPr lang="en-US" sz="1600" dirty="0"/>
                  <a:t> din G</a:t>
                </a:r>
              </a:p>
              <a:p>
                <a:pPr marL="0" indent="0">
                  <a:buNone/>
                </a:pPr>
                <a:r>
                  <a:rPr lang="en-US" sz="1600" dirty="0"/>
                  <a:t>2. INITIALIZE-SINGLE-SOURCE(G, s)</a:t>
                </a:r>
              </a:p>
              <a:p>
                <a:pPr marL="0" indent="0">
                  <a:buNone/>
                </a:pPr>
                <a:r>
                  <a:rPr lang="en-US" sz="1600" dirty="0"/>
                  <a:t>3. For </a:t>
                </a:r>
                <a:r>
                  <a:rPr lang="en-US" sz="1600" dirty="0" err="1"/>
                  <a:t>fiecare</a:t>
                </a:r>
                <a:r>
                  <a:rPr lang="en-US" sz="1600" dirty="0"/>
                  <a:t> nod u, </a:t>
                </a:r>
                <a:r>
                  <a:rPr lang="en-US" sz="1600" dirty="0" err="1"/>
                  <a:t>considerat</a:t>
                </a:r>
                <a:r>
                  <a:rPr lang="en-US" sz="1600" dirty="0"/>
                  <a:t> in </a:t>
                </a:r>
                <a:r>
                  <a:rPr lang="en-US" sz="1600" dirty="0" err="1"/>
                  <a:t>ordinea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topologica</a:t>
                </a: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4.	For </a:t>
                </a:r>
                <a:r>
                  <a:rPr lang="en-US" sz="1600" dirty="0" err="1"/>
                  <a:t>fiecare</a:t>
                </a:r>
                <a:r>
                  <a:rPr lang="en-US" sz="1600" dirty="0"/>
                  <a:t> nod v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/>
                        <a:ea typeface="Cambria Math"/>
                      </a:rPr>
                      <m:t>∈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G.Adj</a:t>
                </a:r>
                <a:r>
                  <a:rPr lang="en-US" sz="1600" dirty="0"/>
                  <a:t>[u]</a:t>
                </a:r>
              </a:p>
              <a:p>
                <a:pPr marL="0" indent="0">
                  <a:buNone/>
                </a:pPr>
                <a:r>
                  <a:rPr lang="en-US" sz="1600" dirty="0"/>
                  <a:t>5.		RELAX(u, v, w)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 err="1"/>
                  <a:t>Timpul</a:t>
                </a:r>
                <a:r>
                  <a:rPr lang="en-US" sz="1600" dirty="0"/>
                  <a:t> total de </a:t>
                </a:r>
                <a:r>
                  <a:rPr lang="en-US" sz="1600" dirty="0" err="1"/>
                  <a:t>executie</a:t>
                </a:r>
                <a:r>
                  <a:rPr lang="en-US" sz="16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 smtClean="0">
                        <a:latin typeface="Cambria Math"/>
                      </a:rPr>
                      <m:t>Θ</m:t>
                    </m:r>
                    <m:r>
                      <a:rPr lang="en-US" sz="1600" b="0" i="1" smtClean="0">
                        <a:latin typeface="Cambria Math"/>
                      </a:rPr>
                      <m:t>(</m:t>
                    </m:r>
                    <m:r>
                      <a:rPr lang="en-US" sz="1600" b="0" i="1" smtClean="0">
                        <a:latin typeface="Cambria Math"/>
                      </a:rPr>
                      <m:t>𝑉</m:t>
                    </m:r>
                    <m:r>
                      <a:rPr lang="en-US" sz="1600" b="0" i="1" smtClean="0">
                        <a:latin typeface="Cambria Math"/>
                      </a:rPr>
                      <m:t>+</m:t>
                    </m:r>
                    <m:r>
                      <a:rPr lang="en-US" sz="1600" b="0" i="1" smtClean="0">
                        <a:latin typeface="Cambria Math"/>
                      </a:rPr>
                      <m:t>𝐸</m:t>
                    </m:r>
                    <m:r>
                      <a:rPr lang="en-US" sz="1600" b="0" i="1" smtClean="0">
                        <a:latin typeface="Cambria Math"/>
                      </a:rPr>
                      <m:t>)</m:t>
                    </m:r>
                  </m:oMath>
                </a14:m>
                <a:endParaRPr lang="ro-RO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7772400" cy="4114800"/>
              </a:xfrm>
              <a:blipFill rotWithShape="0">
                <a:blip r:embed="rId2"/>
                <a:stretch>
                  <a:fillRect l="-392" t="-44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- 9 Ianuarie 2023</a:t>
            </a:r>
          </a:p>
        </p:txBody>
      </p:sp>
    </p:spTree>
    <p:extLst>
      <p:ext uri="{BB962C8B-B14F-4D97-AF65-F5344CB8AC3E}">
        <p14:creationId xmlns:p14="http://schemas.microsoft.com/office/powerpoint/2010/main" val="3456915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- 9 Ianuarie 2023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8305800" cy="6100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52459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Algoritmul</a:t>
            </a:r>
            <a:r>
              <a:rPr lang="en-US" sz="3200" dirty="0"/>
              <a:t> </a:t>
            </a:r>
            <a:r>
              <a:rPr lang="en-US" sz="3200" dirty="0" err="1"/>
              <a:t>lui</a:t>
            </a:r>
            <a:r>
              <a:rPr lang="en-US" sz="3200" dirty="0"/>
              <a:t> </a:t>
            </a:r>
            <a:r>
              <a:rPr lang="en-US" sz="3200" dirty="0" err="1"/>
              <a:t>Dijkstra</a:t>
            </a:r>
            <a:endParaRPr lang="ro-RO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7772400" cy="4114800"/>
              </a:xfrm>
            </p:spPr>
            <p:txBody>
              <a:bodyPr/>
              <a:lstStyle/>
              <a:p>
                <a:r>
                  <a:rPr lang="en-US" sz="1600" dirty="0"/>
                  <a:t>Rezolv</a:t>
                </a:r>
                <a:r>
                  <a:rPr lang="ro-RO" sz="1600" dirty="0"/>
                  <a:t>ă problema căii minime dacă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𝑤</m:t>
                    </m:r>
                    <m:r>
                      <a:rPr lang="ro-RO" sz="1600" b="0" i="1" smtClean="0">
                        <a:latin typeface="Cambria Math"/>
                      </a:rPr>
                      <m:t>(</m:t>
                    </m:r>
                    <m:r>
                      <a:rPr lang="ro-RO" sz="1600" b="0" i="1" smtClean="0">
                        <a:latin typeface="Cambria Math"/>
                      </a:rPr>
                      <m:t>𝑢</m:t>
                    </m:r>
                    <m:r>
                      <a:rPr lang="ro-RO" sz="1600" b="0" i="1" smtClean="0">
                        <a:latin typeface="Cambria Math"/>
                      </a:rPr>
                      <m:t>,</m:t>
                    </m:r>
                    <m:r>
                      <a:rPr lang="ro-RO" sz="1600" b="0" i="1" smtClean="0">
                        <a:latin typeface="Cambria Math"/>
                      </a:rPr>
                      <m:t>𝑣</m:t>
                    </m:r>
                    <m:r>
                      <a:rPr lang="ro-RO" sz="1600" b="0" i="1" smtClean="0">
                        <a:latin typeface="Cambria Math"/>
                      </a:rPr>
                      <m:t>)≥0</m:t>
                    </m:r>
                  </m:oMath>
                </a14:m>
                <a:endParaRPr lang="ro-RO" sz="1600" dirty="0"/>
              </a:p>
              <a:p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DIJKSTRA(G, w, s)</a:t>
                </a:r>
              </a:p>
              <a:p>
                <a:pPr marL="0" indent="0">
                  <a:buNone/>
                </a:pPr>
                <a:r>
                  <a:rPr lang="ro-RO" sz="1600" dirty="0"/>
                  <a:t>1. INITIALIZE-SINGLE-SOURCE(G, s)</a:t>
                </a:r>
              </a:p>
              <a:p>
                <a:pPr marL="0" indent="0">
                  <a:buNone/>
                </a:pPr>
                <a:r>
                  <a:rPr lang="ro-RO" sz="1600" dirty="0"/>
                  <a:t>2.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𝑆</m:t>
                    </m:r>
                    <m:r>
                      <a:rPr lang="ro-RO" sz="1600" b="0" i="1" smtClean="0">
                        <a:latin typeface="Cambria Math"/>
                      </a:rPr>
                      <m:t>=∅</m:t>
                    </m:r>
                  </m:oMath>
                </a14:m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3. Q = G.V // coadă min-priority</a:t>
                </a:r>
              </a:p>
              <a:p>
                <a:pPr marL="0" indent="0">
                  <a:buNone/>
                </a:pPr>
                <a:r>
                  <a:rPr lang="ro-RO" sz="1600" dirty="0"/>
                  <a:t>4. While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1600" b="0" i="0" smtClean="0">
                        <a:latin typeface="Cambria Math"/>
                      </a:rPr>
                      <m:t>Q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!</m:t>
                    </m:r>
                    <m:r>
                      <a:rPr lang="ro-RO" sz="1600" i="1">
                        <a:latin typeface="Cambria Math"/>
                      </a:rPr>
                      <m:t>=∅</m:t>
                    </m:r>
                  </m:oMath>
                </a14:m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5.	u = EXTRACT-MIN(Q)</a:t>
                </a:r>
              </a:p>
              <a:p>
                <a:pPr marL="0" indent="0">
                  <a:buNone/>
                </a:pPr>
                <a:r>
                  <a:rPr lang="ro-RO" sz="1600" dirty="0"/>
                  <a:t>6.	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𝑆</m:t>
                    </m:r>
                    <m:r>
                      <a:rPr lang="ro-RO" sz="1600" b="0" i="1" smtClean="0">
                        <a:latin typeface="Cambria Math"/>
                      </a:rPr>
                      <m:t>=</m:t>
                    </m:r>
                    <m:r>
                      <a:rPr lang="ro-RO" sz="1600" b="0" i="1" smtClean="0">
                        <a:latin typeface="Cambria Math"/>
                      </a:rPr>
                      <m:t>𝑆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𝑢</m:t>
                        </m:r>
                      </m:e>
                    </m:d>
                  </m:oMath>
                </a14:m>
                <a:endParaRPr lang="en-US" sz="1600" b="0" dirty="0">
                  <a:ea typeface="Cambria Math"/>
                </a:endParaRPr>
              </a:p>
              <a:p>
                <a:pPr marL="0" indent="0">
                  <a:buNone/>
                </a:pPr>
                <a:r>
                  <a:rPr lang="en-US" sz="1600" dirty="0"/>
                  <a:t>7.	For </a:t>
                </a:r>
                <a:r>
                  <a:rPr lang="en-US" sz="1600" dirty="0" err="1"/>
                  <a:t>fiecare</a:t>
                </a:r>
                <a:r>
                  <a:rPr lang="en-US" sz="1600" dirty="0"/>
                  <a:t> nod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𝑣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𝐺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.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𝐴𝑑𝑗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𝑢</m:t>
                        </m:r>
                      </m:e>
                    </m:d>
                  </m:oMath>
                </a14:m>
                <a:endParaRPr lang="en-US" sz="1600" b="0" dirty="0">
                  <a:ea typeface="Cambria Math"/>
                </a:endParaRPr>
              </a:p>
              <a:p>
                <a:pPr marL="0" indent="0">
                  <a:buNone/>
                </a:pPr>
                <a:r>
                  <a:rPr lang="en-US" sz="1600" dirty="0"/>
                  <a:t>8.		RELAX(u, v, w)</a:t>
                </a:r>
                <a:r>
                  <a:rPr lang="ro-RO" sz="1600" dirty="0"/>
                  <a:t> </a:t>
                </a:r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Invariant: la </a:t>
                </a:r>
                <a:r>
                  <a:rPr lang="en-US" sz="1600" dirty="0" err="1"/>
                  <a:t>startul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fiec</a:t>
                </a:r>
                <a:r>
                  <a:rPr lang="ro-RO" sz="1600" dirty="0"/>
                  <a:t>ărei iteratii while, are loc </a:t>
                </a:r>
                <a14:m>
                  <m:oMath xmlns:m="http://schemas.openxmlformats.org/officeDocument/2006/math">
                    <m:r>
                      <a:rPr lang="ro-RO" sz="1600" i="1">
                        <a:latin typeface="Cambria Math"/>
                      </a:rPr>
                      <m:t>𝑣</m:t>
                    </m:r>
                    <m:r>
                      <a:rPr lang="ro-RO" sz="1600" i="1">
                        <a:latin typeface="Cambria Math"/>
                      </a:rPr>
                      <m:t>.</m:t>
                    </m:r>
                    <m:r>
                      <a:rPr lang="ro-RO" sz="1600" i="1">
                        <a:latin typeface="Cambria Math"/>
                      </a:rPr>
                      <m:t>𝑑</m:t>
                    </m:r>
                    <m:r>
                      <a:rPr lang="ro-RO" sz="1600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l-GR" sz="1600" i="1">
                        <a:latin typeface="Cambria Math"/>
                        <a:ea typeface="Cambria Math"/>
                      </a:rPr>
                      <m:t>δ</m:t>
                    </m:r>
                    <m:d>
                      <m:dPr>
                        <m:ctrlPr>
                          <a:rPr lang="ro-RO" sz="16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ro-RO" sz="1600" i="1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ro-RO" sz="1600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ro-RO" sz="1600" i="1">
                            <a:latin typeface="Cambria Math"/>
                            <a:ea typeface="Cambria Math"/>
                          </a:rPr>
                          <m:t>𝑣</m:t>
                        </m:r>
                      </m:e>
                    </m:d>
                  </m:oMath>
                </a14:m>
                <a:r>
                  <a:rPr lang="ro-RO" sz="1600" dirty="0"/>
                  <a:t> pentru fiecare v din S</a:t>
                </a:r>
              </a:p>
              <a:p>
                <a:pPr marL="0" indent="0">
                  <a:buNone/>
                </a:pPr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Timp de executie: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𝑂</m:t>
                    </m:r>
                    <m:r>
                      <a:rPr lang="ro-RO" sz="1600" b="0" i="1" smtClean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600" b="0" i="1" smtClean="0">
                            <a:latin typeface="Cambria Math"/>
                          </a:rPr>
                          <m:t>𝑉</m:t>
                        </m:r>
                      </m:e>
                      <m:sup>
                        <m:r>
                          <a:rPr lang="ro-RO" sz="1600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ro-RO" sz="16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ro-RO" sz="1600" dirty="0"/>
                  <a:t> dacă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𝐸</m:t>
                    </m:r>
                    <m:r>
                      <a:rPr lang="ro-RO" sz="1600" b="0" i="1" smtClean="0">
                        <a:latin typeface="Cambria Math"/>
                      </a:rPr>
                      <m:t>=</m:t>
                    </m:r>
                    <m:r>
                      <a:rPr lang="ro-RO" sz="1600" b="0" i="1" smtClean="0">
                        <a:latin typeface="Cambria Math"/>
                      </a:rPr>
                      <m:t>𝑜</m:t>
                    </m:r>
                    <m:r>
                      <a:rPr lang="ro-RO" sz="1600" b="0" i="1" smtClean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600" b="0" i="1" smtClean="0">
                            <a:latin typeface="Cambria Math"/>
                          </a:rPr>
                          <m:t>𝑉</m:t>
                        </m:r>
                      </m:e>
                      <m:sup>
                        <m:r>
                          <a:rPr lang="ro-RO" sz="1600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ro-RO" sz="1600" b="0" i="1" smtClean="0">
                        <a:latin typeface="Cambria Math"/>
                      </a:rPr>
                      <m:t>/</m:t>
                    </m:r>
                    <m:func>
                      <m:func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o-RO" sz="1600" b="0" i="0" smtClean="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ro-RO" sz="1600" b="0" i="1" smtClean="0">
                            <a:latin typeface="Cambria Math"/>
                          </a:rPr>
                          <m:t>𝑉</m:t>
                        </m:r>
                        <m:r>
                          <a:rPr lang="ro-RO" sz="1600" b="0" i="1" smtClean="0">
                            <a:latin typeface="Cambria Math"/>
                          </a:rPr>
                          <m:t>)</m:t>
                        </m:r>
                      </m:e>
                    </m:func>
                  </m:oMath>
                </a14:m>
                <a:r>
                  <a:rPr lang="ro-RO" sz="1600" dirty="0"/>
                  <a:t> </a:t>
                </a:r>
              </a:p>
              <a:p>
                <a:pPr marL="0" indent="0">
                  <a:buNone/>
                </a:pPr>
                <a:endParaRPr lang="ro-RO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7772400" cy="4114800"/>
              </a:xfrm>
              <a:blipFill rotWithShape="0">
                <a:blip r:embed="rId2"/>
                <a:stretch>
                  <a:fillRect l="-392" t="-444" b="-9630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- 9 Ianuarie 2023</a:t>
            </a:r>
          </a:p>
        </p:txBody>
      </p:sp>
    </p:spTree>
    <p:extLst>
      <p:ext uri="{BB962C8B-B14F-4D97-AF65-F5344CB8AC3E}">
        <p14:creationId xmlns:p14="http://schemas.microsoft.com/office/powerpoint/2010/main" val="1150138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- 9 Ianuarie 2023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587375"/>
            <a:ext cx="8913813" cy="4365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6299707"/>
      </p:ext>
    </p:extLst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5877</TotalTime>
  <Words>1298</Words>
  <Application>Microsoft Office PowerPoint</Application>
  <PresentationFormat>On-screen Show (4:3)</PresentationFormat>
  <Paragraphs>124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Cambria Math</vt:lpstr>
      <vt:lpstr>Tahoma</vt:lpstr>
      <vt:lpstr>Times New Roman</vt:lpstr>
      <vt:lpstr>Wingdings</vt:lpstr>
      <vt:lpstr>Blueprint</vt:lpstr>
      <vt:lpstr>Algoritmi și structuri de date – curs 11     - Informatică Economică, an II –</vt:lpstr>
      <vt:lpstr>Cuprins</vt:lpstr>
      <vt:lpstr>Algoritmi de cale minima</vt:lpstr>
      <vt:lpstr>Structura optimă a unei cai minime</vt:lpstr>
      <vt:lpstr>Reprezentarea căii minime</vt:lpstr>
      <vt:lpstr>Arborele cu cai minime</vt:lpstr>
      <vt:lpstr>Relaxarea</vt:lpstr>
      <vt:lpstr>PowerPoint Presentation</vt:lpstr>
      <vt:lpstr>Proprietăți ale căilor minimale</vt:lpstr>
      <vt:lpstr>Algoritmul Bellman-Ford</vt:lpstr>
      <vt:lpstr>PowerPoint Presentation</vt:lpstr>
      <vt:lpstr>Cai minime in grafuri aciclice (DAG)</vt:lpstr>
      <vt:lpstr>PowerPoint Presentation</vt:lpstr>
      <vt:lpstr>Algoritmul lui Dijkstra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Moni</dc:creator>
  <cp:lastModifiedBy>GHEORGHE-COSMIN SILAGHI</cp:lastModifiedBy>
  <cp:revision>261</cp:revision>
  <dcterms:created xsi:type="dcterms:W3CDTF">2004-11-24T18:35:22Z</dcterms:created>
  <dcterms:modified xsi:type="dcterms:W3CDTF">2023-01-09T16:26:06Z</dcterms:modified>
</cp:coreProperties>
</file>