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"/>
  </p:notesMasterIdLst>
  <p:sldIdLst>
    <p:sldId id="300" r:id="rId2"/>
    <p:sldId id="310" r:id="rId3"/>
    <p:sldId id="311" r:id="rId4"/>
    <p:sldId id="312" r:id="rId5"/>
    <p:sldId id="313" r:id="rId6"/>
    <p:sldId id="314" r:id="rId7"/>
    <p:sldId id="315" r:id="rId8"/>
    <p:sldId id="316" r:id="rId9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9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/>
              <a:t>Cluj-Napoca  - 27 octombrie 2025</a:t>
            </a:r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6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en-US" sz="2400" dirty="0" err="1"/>
              <a:t>Prof.dr</a:t>
            </a:r>
            <a:r>
              <a:rPr lang="en-US" sz="2400" dirty="0"/>
              <a:t>. Gheorghe Cosmin Silaghi</a:t>
            </a:r>
            <a:endParaRPr lang="ro-RO" sz="2400" dirty="0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76300" y="3124200"/>
            <a:ext cx="4876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Structura</a:t>
            </a:r>
            <a:r>
              <a:rPr lang="en-US" sz="2000" dirty="0">
                <a:solidFill>
                  <a:schemeClr val="tx2"/>
                </a:solidFill>
              </a:rPr>
              <a:t> de Heap. </a:t>
            </a:r>
          </a:p>
          <a:p>
            <a:r>
              <a:rPr lang="en-US" sz="2000" dirty="0">
                <a:solidFill>
                  <a:schemeClr val="tx2"/>
                </a:solidFill>
              </a:rPr>
              <a:t>Heapsort. Coada de </a:t>
            </a:r>
            <a:r>
              <a:rPr lang="en-US" sz="2000" dirty="0" err="1">
                <a:solidFill>
                  <a:schemeClr val="tx2"/>
                </a:solidFill>
              </a:rPr>
              <a:t>prioritate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- 27 octombrie 2025</a:t>
            </a:r>
            <a:endParaRPr lang="en-GB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Heap</a:t>
            </a:r>
            <a:endParaRPr lang="ro-RO" sz="32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4363" y="1524000"/>
            <a:ext cx="8286750" cy="2667000"/>
          </a:xfrm>
        </p:spPr>
        <p:txBody>
          <a:bodyPr/>
          <a:lstStyle/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en-US" sz="1600" dirty="0"/>
              <a:t>Un heap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ro-RO" sz="1600" dirty="0"/>
              <a:t>un sir de obiecte care pot fi văzute ca și un arbore binar aproape complet – ultimul rand al arborelui se completează de la stânga la dreapta. </a:t>
            </a:r>
          </a:p>
          <a:p>
            <a:pPr marL="342900" lvl="1" indent="-342900">
              <a:buClr>
                <a:schemeClr val="hlink"/>
              </a:buClr>
              <a:buSzPct val="110000"/>
              <a:buBlip>
                <a:blip r:embed="rId2"/>
              </a:buBlip>
            </a:pPr>
            <a:r>
              <a:rPr lang="en-US" sz="1600" dirty="0"/>
              <a:t>Un sir A care </a:t>
            </a:r>
            <a:r>
              <a:rPr lang="en-US" sz="1600" dirty="0" err="1"/>
              <a:t>reprezint</a:t>
            </a:r>
            <a:r>
              <a:rPr lang="ro-RO" sz="1600" dirty="0"/>
              <a:t>ă</a:t>
            </a:r>
            <a:r>
              <a:rPr lang="en-US" sz="1600" dirty="0"/>
              <a:t> un heap are 2 </a:t>
            </a:r>
            <a:r>
              <a:rPr lang="en-US" sz="1600" dirty="0" err="1"/>
              <a:t>atribute</a:t>
            </a:r>
            <a:r>
              <a:rPr lang="en-US" sz="1600" dirty="0"/>
              <a:t>:</a:t>
            </a:r>
            <a:endParaRPr lang="ro-RO" sz="1600" dirty="0"/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A.length: Lungimea heapului – ne furnizează numărul de elemente din sir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A.heap-size: ne spune câte elemente din heap sunt stocate in sirul A</a:t>
            </a:r>
          </a:p>
          <a:p>
            <a:pPr marL="342900" lvl="1" indent="-342900">
              <a:buSzPct val="110000"/>
              <a:buBlip>
                <a:blip r:embed="rId2"/>
              </a:buBlip>
            </a:pPr>
            <a:r>
              <a:rPr lang="ro-RO" sz="1800" dirty="0"/>
              <a:t>Pentru un nod i avem: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PARENT(i) = i/2                 - imparțire intreagă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LEFT(i) = 2i</a:t>
            </a:r>
          </a:p>
          <a:p>
            <a:pPr marL="742950" lvl="2" indent="-342900">
              <a:buSzPct val="110000"/>
              <a:buBlip>
                <a:blip r:embed="rId2"/>
              </a:buBlip>
            </a:pPr>
            <a:r>
              <a:rPr lang="ro-RO" sz="1600" dirty="0"/>
              <a:t>RIGHT(i) = 2i+1</a:t>
            </a:r>
          </a:p>
          <a:p>
            <a:pPr marL="342900" lvl="1" indent="-342900">
              <a:buSzPct val="110000"/>
              <a:buBlip>
                <a:blip r:embed="rId2"/>
              </a:buBlip>
            </a:pPr>
            <a:endParaRPr lang="ro-RO" sz="2000" dirty="0"/>
          </a:p>
          <a:p>
            <a:pPr marL="0" lvl="1" indent="0">
              <a:buSzPct val="110000"/>
              <a:buNone/>
            </a:pPr>
            <a:endParaRPr lang="ro-RO" sz="2000" dirty="0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49580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500563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436245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366236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36004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267200"/>
            <a:ext cx="8077199" cy="2502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- 27 octombrie 2025</a:t>
            </a:r>
          </a:p>
        </p:txBody>
      </p:sp>
    </p:spTree>
    <p:extLst>
      <p:ext uri="{BB962C8B-B14F-4D97-AF65-F5344CB8AC3E}">
        <p14:creationId xmlns:p14="http://schemas.microsoft.com/office/powerpoint/2010/main" val="770242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Heap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14363" y="1524000"/>
                <a:ext cx="8286750" cy="4114800"/>
              </a:xfrm>
            </p:spPr>
            <p:txBody>
              <a:bodyPr/>
              <a:lstStyle/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ro-RO" sz="1600" dirty="0"/>
                  <a:t>Max-heap: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𝑃𝐴𝑅𝐸𝑁𝑇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en-US" sz="1600" dirty="0"/>
                  <a:t>Min-heap: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𝑃𝐴𝑅𝐸𝑁𝑇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e>
                    </m:d>
                  </m:oMath>
                </a14:m>
                <a:endParaRPr lang="en-US" sz="1600" b="0" dirty="0">
                  <a:ea typeface="Cambria Math"/>
                </a:endParaRP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en-US" sz="1600" dirty="0"/>
                  <a:t>In</a:t>
                </a:r>
                <a:r>
                  <a:rPr lang="ro-RO" sz="1600" dirty="0"/>
                  <a:t>ălțimea unui nod: cel mai mare număr de laturi de la nod la o frunză descendă din acel nod</a:t>
                </a: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r>
                  <a:rPr lang="ro-RO" sz="1600" dirty="0"/>
                  <a:t>Pentru un heap cu n elemente, înălțimea sa este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6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–</a:t>
                </a:r>
                <a:r>
                  <a:rPr lang="ro-RO" sz="1600" dirty="0">
                    <a:solidFill>
                      <a:srgbClr val="FF0000"/>
                    </a:solidFill>
                  </a:rPr>
                  <a:t> rog demonstrație</a:t>
                </a:r>
              </a:p>
              <a:p>
                <a:pPr marL="342900" lvl="1" indent="-342900">
                  <a:buClr>
                    <a:schemeClr val="hlink"/>
                  </a:buClr>
                  <a:buSzPct val="110000"/>
                  <a:buBlip>
                    <a:blip r:embed="rId2"/>
                  </a:buBlip>
                </a:pPr>
                <a:endParaRPr lang="en-US" sz="16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363" y="1524000"/>
                <a:ext cx="8286750" cy="4114800"/>
              </a:xfrm>
              <a:blipFill rotWithShape="1">
                <a:blip r:embed="rId3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49580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4500563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4362450" y="33480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43291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366236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36004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- 27 octombrie 2025</a:t>
            </a:r>
          </a:p>
        </p:txBody>
      </p:sp>
    </p:spTree>
    <p:extLst>
      <p:ext uri="{BB962C8B-B14F-4D97-AF65-F5344CB8AC3E}">
        <p14:creationId xmlns:p14="http://schemas.microsoft.com/office/powerpoint/2010/main" val="2409247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Menținerea proprietății de heap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610958" y="1524000"/>
            <a:ext cx="3380642" cy="2362200"/>
          </a:xfrm>
        </p:spPr>
        <p:txBody>
          <a:bodyPr/>
          <a:lstStyle/>
          <a:p>
            <a:r>
              <a:rPr lang="ro-RO" sz="1800" dirty="0"/>
              <a:t>Se presupune că:</a:t>
            </a:r>
          </a:p>
          <a:p>
            <a:pPr lvl="1"/>
            <a:r>
              <a:rPr lang="ro-RO" sz="1600" dirty="0"/>
              <a:t>LEFT(i) și RIGHT(i) sunt Max-heap</a:t>
            </a:r>
          </a:p>
          <a:p>
            <a:pPr lvl="1"/>
            <a:r>
              <a:rPr lang="ro-RO" sz="1600" dirty="0"/>
              <a:t>A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</a:t>
            </a:r>
            <a:r>
              <a:rPr lang="en-US" sz="1600" dirty="0" err="1"/>
              <a:t>mic</a:t>
            </a:r>
            <a:r>
              <a:rPr lang="en-US" sz="1600" dirty="0"/>
              <a:t> </a:t>
            </a:r>
            <a:r>
              <a:rPr lang="en-US" sz="1600" dirty="0" err="1"/>
              <a:t>dec</a:t>
            </a:r>
            <a:r>
              <a:rPr lang="ro-RO" sz="1600" dirty="0"/>
              <a:t>ât copii lui</a:t>
            </a:r>
          </a:p>
          <a:p>
            <a:r>
              <a:rPr lang="ro-RO" sz="1800" dirty="0"/>
              <a:t>Max-Heapify coboară A</a:t>
            </a:r>
            <a:r>
              <a:rPr lang="en-US" sz="1800" dirty="0"/>
              <a:t>[</a:t>
            </a:r>
            <a:r>
              <a:rPr lang="en-US" sz="1800" dirty="0" err="1"/>
              <a:t>i</a:t>
            </a:r>
            <a:r>
              <a:rPr lang="en-US" sz="1800" dirty="0"/>
              <a:t>] in heap </a:t>
            </a:r>
            <a:r>
              <a:rPr lang="en-US" sz="1800" dirty="0" err="1"/>
              <a:t>pentru</a:t>
            </a:r>
            <a:r>
              <a:rPr lang="en-US" sz="1800" dirty="0"/>
              <a:t> me</a:t>
            </a:r>
            <a:r>
              <a:rPr lang="ro-RO" sz="1800" dirty="0"/>
              <a:t>nținerea structurii de heap</a:t>
            </a:r>
            <a:endParaRPr lang="ro-RO" sz="2000" dirty="0"/>
          </a:p>
          <a:p>
            <a:endParaRPr lang="ro-RO" sz="1800" dirty="0"/>
          </a:p>
        </p:txBody>
      </p:sp>
      <p:pic>
        <p:nvPicPr>
          <p:cNvPr id="2050" name="Picture 2" descr="http://highered.mcgraw-hill.com/sites/dl/free/0070131511/25321/max_heapify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4977113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09600" y="4876800"/>
            <a:ext cx="7924800" cy="1828800"/>
          </a:xfrm>
          <a:prstGeom prst="rect">
            <a:avLst/>
          </a:prstGeom>
          <a:blipFill rotWithShape="1">
            <a:blip r:embed="rId3"/>
            <a:stretch>
              <a:fillRect t="-1667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o-RO">
                <a:noFill/>
              </a:rPr>
              <a:t> 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- 27 octombrie 2025</a:t>
            </a:r>
          </a:p>
        </p:txBody>
      </p:sp>
    </p:spTree>
    <p:extLst>
      <p:ext uri="{BB962C8B-B14F-4D97-AF65-F5344CB8AC3E}">
        <p14:creationId xmlns:p14="http://schemas.microsoft.com/office/powerpoint/2010/main" val="178230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Construirea</a:t>
            </a:r>
            <a:r>
              <a:rPr lang="en-US" sz="3200" dirty="0"/>
              <a:t> </a:t>
            </a:r>
            <a:r>
              <a:rPr lang="en-US" sz="3200" dirty="0" err="1"/>
              <a:t>unui</a:t>
            </a:r>
            <a:r>
              <a:rPr lang="en-US" sz="3200" dirty="0"/>
              <a:t> heap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1295400"/>
          </a:xfrm>
        </p:spPr>
        <p:txBody>
          <a:bodyPr/>
          <a:lstStyle/>
          <a:p>
            <a:r>
              <a:rPr lang="en-US" sz="1800" dirty="0"/>
              <a:t>Se </a:t>
            </a:r>
            <a:r>
              <a:rPr lang="en-US" sz="1800" dirty="0" err="1"/>
              <a:t>poate</a:t>
            </a:r>
            <a:r>
              <a:rPr lang="en-US" sz="1800" dirty="0"/>
              <a:t> </a:t>
            </a:r>
            <a:r>
              <a:rPr lang="en-US" sz="1800" dirty="0" err="1"/>
              <a:t>porni</a:t>
            </a:r>
            <a:r>
              <a:rPr lang="en-US" sz="1800" dirty="0"/>
              <a:t> de </a:t>
            </a:r>
            <a:r>
              <a:rPr lang="en-US" sz="1800" dirty="0" err="1"/>
              <a:t>jos</a:t>
            </a:r>
            <a:r>
              <a:rPr lang="en-US" sz="1800" dirty="0"/>
              <a:t> </a:t>
            </a:r>
            <a:r>
              <a:rPr lang="ro-RO" sz="1800" dirty="0"/>
              <a:t>în sus (de la fru</a:t>
            </a:r>
            <a:r>
              <a:rPr lang="en-US" sz="1800" dirty="0"/>
              <a:t>n</a:t>
            </a:r>
            <a:r>
              <a:rPr lang="ro-RO" sz="1800" dirty="0"/>
              <a:t>ze) care sunt heap de heapsize=1 pentru a construi heapul</a:t>
            </a:r>
          </a:p>
          <a:p>
            <a:r>
              <a:rPr lang="ro-RO" sz="1800" dirty="0"/>
              <a:t>Loop invariant: la începutul fiecărei iterații a buclei for, fiecare din nodurile i+1, i+2, ..., n sunt rădăcinile unui heap </a:t>
            </a:r>
            <a:endParaRPr lang="ro-RO" sz="1400" dirty="0"/>
          </a:p>
        </p:txBody>
      </p:sp>
      <p:pic>
        <p:nvPicPr>
          <p:cNvPr id="3074" name="Picture 2" descr="http://highered.mcgraw-hill.com/sites/dl/free/0070131511/25321/build_max_heap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19400"/>
            <a:ext cx="4267200" cy="1507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 bwMode="auto">
              <a:xfrm>
                <a:off x="609600" y="4495800"/>
                <a:ext cx="7772400" cy="1295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ro-RO" sz="1800" kern="0" dirty="0"/>
                  <a:t>Fiecare Max-heapify rulează în </a:t>
                </a:r>
                <a14:m>
                  <m:oMath xmlns:m="http://schemas.openxmlformats.org/officeDocument/2006/math">
                    <m:r>
                      <a:rPr lang="ro-RO" sz="1800" b="0" i="1" kern="0" smtClean="0">
                        <a:latin typeface="Cambria Math"/>
                      </a:rPr>
                      <m:t>𝑂</m:t>
                    </m:r>
                    <m:r>
                      <a:rPr lang="ro-RO" sz="1800" b="0" i="1" kern="0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ro-RO" sz="1800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 kern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1" kern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800" b="0" i="1" kern="0" smtClean="0">
                            <a:latin typeface="Cambria Math"/>
                          </a:rPr>
                          <m:t>𝑛</m:t>
                        </m:r>
                        <m:r>
                          <a:rPr lang="ro-RO" sz="1800" b="0" i="1" kern="0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ro-RO" sz="1800" b="0" kern="0" dirty="0"/>
              </a:p>
              <a:p>
                <a:r>
                  <a:rPr lang="ro-RO" sz="1800" kern="0" dirty="0"/>
                  <a:t>Se execută </a:t>
                </a:r>
                <a14:m>
                  <m:oMath xmlns:m="http://schemas.openxmlformats.org/officeDocument/2006/math">
                    <m:r>
                      <a:rPr lang="ro-RO" sz="1800" b="0" i="1" kern="0" smtClean="0">
                        <a:latin typeface="Cambria Math"/>
                      </a:rPr>
                      <m:t>𝑂</m:t>
                    </m:r>
                    <m:r>
                      <a:rPr lang="ro-RO" sz="1800" b="0" i="1" kern="0" smtClean="0">
                        <a:latin typeface="Cambria Math"/>
                      </a:rPr>
                      <m:t>(</m:t>
                    </m:r>
                    <m:r>
                      <a:rPr lang="ro-RO" sz="1800" b="0" i="1" kern="0" smtClean="0">
                        <a:latin typeface="Cambria Math"/>
                      </a:rPr>
                      <m:t>𝑛</m:t>
                    </m:r>
                    <m:r>
                      <a:rPr lang="ro-RO" sz="1800" b="0" i="1" kern="0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800" kern="0" dirty="0"/>
                  <a:t> apeluri ale lui Max-heapify</a:t>
                </a:r>
              </a:p>
              <a:p>
                <a:pPr marL="0" indent="0">
                  <a:buNone/>
                </a:pPr>
                <a:r>
                  <a:rPr lang="ro-RO" sz="1800" b="0" kern="0" dirty="0"/>
                  <a:t>=</a:t>
                </a:r>
                <a:r>
                  <a:rPr lang="en-US" sz="1800" kern="0" dirty="0"/>
                  <a:t>&gt;</a:t>
                </a:r>
                <a14:m>
                  <m:oMath xmlns:m="http://schemas.openxmlformats.org/officeDocument/2006/math">
                    <m:r>
                      <a:rPr lang="en-US" sz="1800" b="0" i="1" kern="0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kern="0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1800" b="0" i="1" kern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800" b="0" i="1" kern="0" smtClean="0">
                        <a:latin typeface="Cambria Math"/>
                      </a:rPr>
                      <m:t>𝑂</m:t>
                    </m:r>
                    <m:r>
                      <a:rPr lang="en-US" sz="1800" b="0" i="1" kern="0" smtClean="0">
                        <a:latin typeface="Cambria Math"/>
                      </a:rPr>
                      <m:t>(</m:t>
                    </m:r>
                    <m:r>
                      <a:rPr lang="en-US" sz="1800" b="0" i="1" kern="0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sz="1800" b="0" i="1" kern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800" b="0" i="1" kern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kern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1800" b="0" i="1" kern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800" b="0" i="1" kern="0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sz="1800" b="0" i="1" kern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kern="0" dirty="0"/>
                  <a:t>  - </a:t>
                </a:r>
                <a:r>
                  <a:rPr lang="en-US" sz="1800" kern="0" dirty="0" err="1"/>
                  <a:t>aceast</a:t>
                </a:r>
                <a:r>
                  <a:rPr lang="ro-RO" sz="1800" kern="0" dirty="0"/>
                  <a:t>ă mărginire superioară nu este asimptotică</a:t>
                </a:r>
              </a:p>
              <a:p>
                <a:r>
                  <a:rPr lang="ro-RO" sz="1800" kern="0" dirty="0"/>
                  <a:t>Se poate deriva mărginirea asimptotică </a:t>
                </a:r>
                <a14:m>
                  <m:oMath xmlns:m="http://schemas.openxmlformats.org/officeDocument/2006/math">
                    <m:r>
                      <a:rPr lang="ro-RO" sz="1800" i="1" ker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 ker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i="1" kern="0">
                        <a:latin typeface="Cambria Math"/>
                      </a:rPr>
                      <m:t>=</m:t>
                    </m:r>
                    <m:r>
                      <a:rPr lang="ro-RO" sz="1800" i="1" kern="0">
                        <a:latin typeface="Cambria Math"/>
                      </a:rPr>
                      <m:t>𝑂</m:t>
                    </m:r>
                    <m:r>
                      <a:rPr lang="ro-RO" sz="1800" i="1" kern="0">
                        <a:latin typeface="Cambria Math"/>
                      </a:rPr>
                      <m:t>(</m:t>
                    </m:r>
                    <m:r>
                      <a:rPr lang="ro-RO" sz="1800" i="1" kern="0">
                        <a:latin typeface="Cambria Math"/>
                      </a:rPr>
                      <m:t>𝑛</m:t>
                    </m:r>
                    <m:r>
                      <a:rPr lang="ro-RO" sz="1800" i="1" kern="0">
                        <a:latin typeface="Cambria Math"/>
                      </a:rPr>
                      <m:t>)</m:t>
                    </m:r>
                  </m:oMath>
                </a14:m>
                <a:endParaRPr lang="ro-RO" sz="1800" kern="0" dirty="0"/>
              </a:p>
              <a:p>
                <a:endParaRPr lang="ro-RO" sz="1800" kern="0" dirty="0"/>
              </a:p>
              <a:p>
                <a:pPr marL="0" indent="0">
                  <a:buNone/>
                </a:pPr>
                <a:endParaRPr lang="ro-RO" sz="1800" kern="0" dirty="0"/>
              </a:p>
              <a:p>
                <a:pPr marL="0" indent="0">
                  <a:buNone/>
                </a:pPr>
                <a:endParaRPr lang="ro-RO" sz="1800" kern="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4495800"/>
                <a:ext cx="7772400" cy="1295400"/>
              </a:xfrm>
              <a:prstGeom prst="rect">
                <a:avLst/>
              </a:prstGeom>
              <a:blipFill rotWithShape="1">
                <a:blip r:embed="rId4"/>
                <a:stretch>
                  <a:fillRect l="-627" t="-2358" b="-117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- 27 octombrie 2025</a:t>
            </a:r>
          </a:p>
        </p:txBody>
      </p:sp>
    </p:spTree>
    <p:extLst>
      <p:ext uri="{BB962C8B-B14F-4D97-AF65-F5344CB8AC3E}">
        <p14:creationId xmlns:p14="http://schemas.microsoft.com/office/powerpoint/2010/main" val="80858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Heapsort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3657600"/>
                <a:ext cx="7772400" cy="2133600"/>
              </a:xfrm>
            </p:spPr>
            <p:txBody>
              <a:bodyPr/>
              <a:lstStyle/>
              <a:p>
                <a:r>
                  <a:rPr lang="en-US" sz="1800" dirty="0"/>
                  <a:t>Fiecare </a:t>
                </a:r>
                <a:r>
                  <a:rPr lang="en-US" sz="1800" dirty="0" err="1"/>
                  <a:t>apel</a:t>
                </a:r>
                <a:r>
                  <a:rPr lang="en-US" sz="1800" dirty="0"/>
                  <a:t> Build-max-heap se </a:t>
                </a:r>
                <a:r>
                  <a:rPr lang="en-US" sz="1800" dirty="0" err="1"/>
                  <a:t>execut</a:t>
                </a:r>
                <a:r>
                  <a:rPr lang="ro-RO" sz="1800" dirty="0"/>
                  <a:t>ă în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𝑂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r>
                  <a:rPr lang="ro-RO" sz="1800" dirty="0"/>
                  <a:t>Pentru fiecare dintre cele n-1 apeluri din bucla for avem timpul de executie pentru Max-heapify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𝑂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0" dirty="0"/>
                  <a:t>=</a:t>
                </a:r>
                <a:r>
                  <a:rPr lang="en-US" sz="1800" b="0" dirty="0"/>
                  <a:t>&gt;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𝑂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3657600"/>
                <a:ext cx="7772400" cy="2133600"/>
              </a:xfrm>
              <a:blipFill rotWithShape="1">
                <a:blip r:embed="rId2"/>
                <a:stretch>
                  <a:fillRect l="-627" t="-142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http://highered.mcgraw-hill.com/sites/dl/free/0070131511/25321/heapsor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4800600" cy="194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- 27 octombrie 2025</a:t>
            </a:r>
          </a:p>
        </p:txBody>
      </p:sp>
    </p:spTree>
    <p:extLst>
      <p:ext uri="{BB962C8B-B14F-4D97-AF65-F5344CB8AC3E}">
        <p14:creationId xmlns:p14="http://schemas.microsoft.com/office/powerpoint/2010/main" val="3183832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7477-6C82-85A7-4C5F-772A5D13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Coada de </a:t>
            </a:r>
            <a:r>
              <a:rPr lang="en-US" dirty="0" err="1"/>
              <a:t>prioritate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EE660-532D-D159-9B21-5991E57E1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56792"/>
            <a:ext cx="8426896" cy="4114800"/>
          </a:xfrm>
        </p:spPr>
        <p:txBody>
          <a:bodyPr/>
          <a:lstStyle/>
          <a:p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extragerea</a:t>
            </a:r>
            <a:r>
              <a:rPr lang="en-US" sz="2000" dirty="0"/>
              <a:t> </a:t>
            </a:r>
            <a:r>
              <a:rPr lang="en-US" sz="2000" dirty="0" err="1"/>
              <a:t>elementului</a:t>
            </a:r>
            <a:r>
              <a:rPr lang="en-US" sz="2000" dirty="0"/>
              <a:t> care are cea mai buna </a:t>
            </a:r>
            <a:r>
              <a:rPr lang="en-US" sz="2000" dirty="0" err="1"/>
              <a:t>valoare</a:t>
            </a:r>
            <a:r>
              <a:rPr lang="en-US" sz="2000" dirty="0"/>
              <a:t> </a:t>
            </a:r>
            <a:r>
              <a:rPr lang="en-US" sz="2000" dirty="0" err="1"/>
              <a:t>dintre</a:t>
            </a:r>
            <a:r>
              <a:rPr lang="en-US" sz="2000" dirty="0"/>
              <a:t> </a:t>
            </a:r>
            <a:r>
              <a:rPr lang="en-US" sz="2000" dirty="0" err="1"/>
              <a:t>cele</a:t>
            </a:r>
            <a:r>
              <a:rPr lang="en-US" sz="2000" dirty="0"/>
              <a:t> </a:t>
            </a:r>
            <a:r>
              <a:rPr lang="en-US" sz="2000" dirty="0" err="1"/>
              <a:t>pastrate</a:t>
            </a:r>
            <a:r>
              <a:rPr lang="en-US" sz="2000" dirty="0"/>
              <a:t> in </a:t>
            </a:r>
            <a:r>
              <a:rPr lang="en-US" sz="2000" dirty="0" err="1"/>
              <a:t>coada</a:t>
            </a:r>
            <a:endParaRPr lang="en-US" sz="2000" dirty="0"/>
          </a:p>
          <a:p>
            <a:r>
              <a:rPr lang="en-US" sz="2000" dirty="0" err="1"/>
              <a:t>Operatii</a:t>
            </a:r>
            <a:r>
              <a:rPr lang="en-US" sz="2000" dirty="0"/>
              <a:t> pe un Max-Priority-Queue:</a:t>
            </a:r>
          </a:p>
          <a:p>
            <a:pPr marL="0" indent="0">
              <a:buNone/>
            </a:pPr>
            <a:r>
              <a:rPr lang="en-US" sz="2000" dirty="0"/>
              <a:t>-INSERT(</a:t>
            </a:r>
            <a:r>
              <a:rPr lang="en-US" sz="2000" dirty="0" err="1"/>
              <a:t>S,x</a:t>
            </a:r>
            <a:r>
              <a:rPr lang="en-US" sz="2000" dirty="0"/>
              <a:t>) : </a:t>
            </a:r>
            <a:r>
              <a:rPr lang="en-US" sz="2000" dirty="0" err="1"/>
              <a:t>insereaza</a:t>
            </a:r>
            <a:r>
              <a:rPr lang="en-US" sz="2000" dirty="0"/>
              <a:t> </a:t>
            </a:r>
            <a:r>
              <a:rPr lang="en-US" sz="2000" dirty="0" err="1"/>
              <a:t>elementul</a:t>
            </a:r>
            <a:r>
              <a:rPr lang="en-US" sz="2000" dirty="0"/>
              <a:t> x in </a:t>
            </a:r>
            <a:r>
              <a:rPr lang="en-US" sz="2000" dirty="0" err="1"/>
              <a:t>multime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- MAXIMUM(S): </a:t>
            </a:r>
            <a:r>
              <a:rPr lang="en-US" sz="2000" dirty="0" err="1"/>
              <a:t>returneaza</a:t>
            </a:r>
            <a:r>
              <a:rPr lang="en-US" sz="2000" dirty="0"/>
              <a:t> </a:t>
            </a:r>
            <a:r>
              <a:rPr lang="en-US" sz="2000" dirty="0" err="1"/>
              <a:t>elementul</a:t>
            </a:r>
            <a:r>
              <a:rPr lang="en-US" sz="2000" dirty="0"/>
              <a:t> cu </a:t>
            </a:r>
            <a:r>
              <a:rPr lang="en-US" sz="2000" dirty="0" err="1"/>
              <a:t>cheie</a:t>
            </a:r>
            <a:r>
              <a:rPr lang="en-US" sz="2000" dirty="0"/>
              <a:t> maxima</a:t>
            </a:r>
          </a:p>
          <a:p>
            <a:pPr marL="0" indent="0">
              <a:buNone/>
            </a:pPr>
            <a:r>
              <a:rPr lang="en-US" sz="2000" dirty="0"/>
              <a:t>- Extract-MAX(S): </a:t>
            </a:r>
            <a:r>
              <a:rPr lang="en-US" sz="2000" dirty="0" err="1"/>
              <a:t>sterge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returneaza</a:t>
            </a:r>
            <a:r>
              <a:rPr lang="en-US" sz="2000" dirty="0"/>
              <a:t> </a:t>
            </a:r>
            <a:r>
              <a:rPr lang="en-US" sz="2000" dirty="0" err="1"/>
              <a:t>elementul</a:t>
            </a:r>
            <a:r>
              <a:rPr lang="en-US" sz="2000" dirty="0"/>
              <a:t> cu </a:t>
            </a:r>
            <a:r>
              <a:rPr lang="en-US" sz="2000" dirty="0" err="1"/>
              <a:t>cheie</a:t>
            </a:r>
            <a:r>
              <a:rPr lang="en-US" sz="2000" dirty="0"/>
              <a:t> maxima</a:t>
            </a:r>
          </a:p>
          <a:p>
            <a:pPr marL="0" indent="0">
              <a:buNone/>
            </a:pPr>
            <a:r>
              <a:rPr lang="en-US" sz="2000" dirty="0"/>
              <a:t>- Increase-Key(</a:t>
            </a:r>
            <a:r>
              <a:rPr lang="en-US" sz="2000" dirty="0" err="1"/>
              <a:t>S,x</a:t>
            </a:r>
            <a:r>
              <a:rPr lang="en-US" sz="2000" dirty="0"/>
              <a:t>, k): </a:t>
            </a:r>
            <a:r>
              <a:rPr lang="en-US" sz="2000" dirty="0" err="1"/>
              <a:t>creste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 err="1"/>
              <a:t>elementului</a:t>
            </a:r>
            <a:r>
              <a:rPr lang="en-US" sz="2000" dirty="0"/>
              <a:t> x la o </a:t>
            </a:r>
            <a:r>
              <a:rPr lang="en-US" sz="2000" dirty="0" err="1"/>
              <a:t>noua</a:t>
            </a:r>
            <a:r>
              <a:rPr lang="en-US" sz="2000" dirty="0"/>
              <a:t> </a:t>
            </a:r>
            <a:r>
              <a:rPr lang="en-US" sz="2000" dirty="0" err="1"/>
              <a:t>valoare</a:t>
            </a:r>
            <a:r>
              <a:rPr lang="en-US" sz="2000" dirty="0"/>
              <a:t> k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D5F69-65CE-5010-7320-6047EDE6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- 27 octombrie 2025</a:t>
            </a:r>
          </a:p>
        </p:txBody>
      </p:sp>
    </p:spTree>
    <p:extLst>
      <p:ext uri="{BB962C8B-B14F-4D97-AF65-F5344CB8AC3E}">
        <p14:creationId xmlns:p14="http://schemas.microsoft.com/office/powerpoint/2010/main" val="931211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A940A-3367-7DBF-20DA-1BAB5C6E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- 27 octombrie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09B16-3199-ECD5-EC61-28D8A3AAC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84784"/>
            <a:ext cx="4029637" cy="2534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3F7C66-0114-3B25-15C4-17075B8BB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000186"/>
            <a:ext cx="5325218" cy="2248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AC56CF-EF71-8EDA-8D4A-396A53677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1484784"/>
            <a:ext cx="489653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81762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5936</TotalTime>
  <Words>494</Words>
  <Application>Microsoft Office PowerPoint</Application>
  <PresentationFormat>On-screen Show (4:3)</PresentationFormat>
  <Paragraphs>52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 Math</vt:lpstr>
      <vt:lpstr>Tahoma</vt:lpstr>
      <vt:lpstr>Times New Roman</vt:lpstr>
      <vt:lpstr>Wingdings</vt:lpstr>
      <vt:lpstr>Blueprint</vt:lpstr>
      <vt:lpstr>Algoritmi și structuri de date – curs 6    - Informatică Economică, an II –</vt:lpstr>
      <vt:lpstr>Heap</vt:lpstr>
      <vt:lpstr>Heap</vt:lpstr>
      <vt:lpstr>Menținerea proprietății de heap</vt:lpstr>
      <vt:lpstr>Construirea unui heap</vt:lpstr>
      <vt:lpstr>Heapsort</vt:lpstr>
      <vt:lpstr>Coada de prioritate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Gheorghe-Cosmin Silaghi</cp:lastModifiedBy>
  <cp:revision>295</cp:revision>
  <dcterms:created xsi:type="dcterms:W3CDTF">2004-11-24T18:35:22Z</dcterms:created>
  <dcterms:modified xsi:type="dcterms:W3CDTF">2025-10-27T11:39:11Z</dcterms:modified>
</cp:coreProperties>
</file>