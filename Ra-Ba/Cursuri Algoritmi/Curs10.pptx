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3"/>
  </p:notesMasterIdLst>
  <p:sldIdLst>
    <p:sldId id="256" r:id="rId2"/>
    <p:sldId id="281" r:id="rId3"/>
    <p:sldId id="257" r:id="rId4"/>
    <p:sldId id="280" r:id="rId5"/>
    <p:sldId id="260" r:id="rId6"/>
    <p:sldId id="261" r:id="rId7"/>
    <p:sldId id="262" r:id="rId8"/>
    <p:sldId id="263" r:id="rId9"/>
    <p:sldId id="293" r:id="rId10"/>
    <p:sldId id="264" r:id="rId11"/>
    <p:sldId id="294" r:id="rId12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146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FF025B8-CDF1-47E0-A314-DC57550098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11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411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1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CED30-8BB3-4254-8858-39CEA52735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DBAD-A52A-4DC7-80FE-981ECB1F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88759-1A87-43FC-9D81-BC4D400D2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8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7477D-BB97-457C-89BA-5713B0B0B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9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387D-1133-468E-AE72-C925541E4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3CC5C-E80A-488B-AD6C-3180914442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3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A99A8-BCD7-4B7E-8522-3CE9331863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85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067C4-FE98-4433-8D52-56E1BA817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7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D716F-35CF-4603-9782-F2FDC8C4C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1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A8865-FCD6-43CD-88ED-AF2AD3463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6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BABAE-6959-4344-8AD1-D6370A2C50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2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B209-2CBE-428E-A057-AD0A68D539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16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D4E0-6A23-45C4-A877-717DF862B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0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ro-RO" noProof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A3B64-3C04-4941-BAB2-F7767CF73D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5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104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30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grpSp>
            <p:nvGrpSpPr>
              <p:cNvPr id="41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31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</p:grpSp>
        <p:sp>
          <p:nvSpPr>
            <p:cNvPr id="3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sp>
          <p:nvSpPr>
            <p:cNvPr id="3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grpSp>
          <p:nvGrpSpPr>
            <p:cNvPr id="410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3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09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10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138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084E7CB-EF2E-4647-B803-81CC09BA3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3048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smtClean="0"/>
              <a:t>Cluj-Napoca  - 4 ianuarie 2021</a:t>
            </a:r>
            <a:endParaRPr lang="en-GB" sz="14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990600"/>
          </a:xfrm>
        </p:spPr>
        <p:txBody>
          <a:bodyPr/>
          <a:lstStyle/>
          <a:p>
            <a:pPr eaLnBrk="1" hangingPunct="1"/>
            <a:r>
              <a:rPr lang="en-US" sz="3200" dirty="0" err="1"/>
              <a:t>Algoritmi</a:t>
            </a:r>
            <a:r>
              <a:rPr lang="en-US" sz="3200" dirty="0"/>
              <a:t> </a:t>
            </a:r>
            <a:r>
              <a:rPr lang="ro-RO" sz="3200" dirty="0"/>
              <a:t>și structuri de date</a:t>
            </a:r>
            <a:r>
              <a:rPr lang="en-US" sz="3200" dirty="0"/>
              <a:t> – curs 10 </a:t>
            </a:r>
            <a:r>
              <a:rPr lang="en-US" sz="3600" dirty="0"/>
              <a:t>   </a:t>
            </a:r>
            <a:br>
              <a:rPr lang="en-US" sz="3600" dirty="0"/>
            </a:br>
            <a:r>
              <a:rPr lang="ro-RO" sz="2000" dirty="0"/>
              <a:t>- Informatică Economică, an II –</a:t>
            </a:r>
          </a:p>
        </p:txBody>
      </p:sp>
      <p:sp>
        <p:nvSpPr>
          <p:cNvPr id="61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833938"/>
            <a:ext cx="4953000" cy="804862"/>
          </a:xfrm>
        </p:spPr>
        <p:txBody>
          <a:bodyPr/>
          <a:lstStyle/>
          <a:p>
            <a:pPr eaLnBrk="1" hangingPunct="1"/>
            <a:r>
              <a:rPr lang="ro-RO"/>
              <a:t>Gheorghe Cosmin Silaghi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838200" y="30480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2000" dirty="0" err="1">
                <a:solidFill>
                  <a:schemeClr val="tx2"/>
                </a:solidFill>
              </a:rPr>
              <a:t>Prelucrari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pe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grafuri</a:t>
            </a:r>
            <a:r>
              <a:rPr lang="en-US" sz="2000" dirty="0">
                <a:solidFill>
                  <a:schemeClr val="tx2"/>
                </a:solidFill>
              </a:rPr>
              <a:t> II</a:t>
            </a:r>
            <a:endParaRPr lang="ro-RO" sz="2000" dirty="0">
              <a:solidFill>
                <a:schemeClr val="tx2"/>
              </a:solidFill>
            </a:endParaRPr>
          </a:p>
        </p:txBody>
      </p:sp>
      <p:pic>
        <p:nvPicPr>
          <p:cNvPr id="4" name="Picture 5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52599" cy="98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://bis.econ.ubbcluj.ro/website/templates/bistemplate/images/sigla_fsega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570" y="0"/>
            <a:ext cx="977030" cy="97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http://bis.econ.ubbcluj.ro/website/templates/bistemplate/images/sigla_ubb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0"/>
            <a:ext cx="914399" cy="91440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err="1"/>
              <a:t>Arbori</a:t>
            </a:r>
            <a:r>
              <a:rPr lang="en-US" sz="2000" dirty="0"/>
              <a:t> </a:t>
            </a:r>
            <a:r>
              <a:rPr lang="en-US" sz="2000" dirty="0" err="1"/>
              <a:t>minimali</a:t>
            </a:r>
            <a:r>
              <a:rPr lang="en-US" sz="2000" dirty="0"/>
              <a:t> de </a:t>
            </a:r>
            <a:r>
              <a:rPr lang="en-US" sz="2000" dirty="0" err="1"/>
              <a:t>acoperire</a:t>
            </a:r>
            <a:endParaRPr lang="en-US" sz="2000" dirty="0"/>
          </a:p>
          <a:p>
            <a:endParaRPr lang="ro-RO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378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2800" dirty="0"/>
              <a:t>Definirea arborilor de acoperire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 descr="Rectangle: Click to edit Master text styles&#10;Second level&#10;Third level&#10;Fourth level&#10;Fifth level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533400" y="1676400"/>
                <a:ext cx="8534400" cy="4114800"/>
              </a:xfrm>
              <a:noFill/>
            </p:spPr>
            <p:txBody>
              <a:bodyPr/>
              <a:lstStyle/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ro-RO" sz="1800" b="1" dirty="0"/>
                  <a:t>Problemă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800" dirty="0"/>
                  <a:t>La proiectarea circuitelor electronice, n pini pot fi conectați cu n-1 cabluri, fiecare conectand cate 2 pini. Dintre toate aceste cablări posibile, se cere să se determine cablarea care foloseste cea mai mică cantitate de cabluri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endParaRPr lang="ro-RO" sz="18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ro-RO" sz="1800" b="1" dirty="0"/>
                  <a:t>Definire formală a problemei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800" dirty="0"/>
                  <a:t>Graf: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𝐺</m:t>
                    </m:r>
                    <m:r>
                      <a:rPr lang="ro-RO" sz="1800" b="0" i="1" smtClean="0">
                        <a:latin typeface="Cambria Math"/>
                      </a:rPr>
                      <m:t>=(</m:t>
                    </m:r>
                    <m:r>
                      <a:rPr lang="ro-RO" sz="1800" b="0" i="1" smtClean="0">
                        <a:latin typeface="Cambria Math"/>
                      </a:rPr>
                      <m:t>𝑉</m:t>
                    </m:r>
                    <m:r>
                      <a:rPr lang="ro-RO" sz="1800" b="0" i="1" smtClean="0">
                        <a:latin typeface="Cambria Math"/>
                      </a:rPr>
                      <m:t>,</m:t>
                    </m:r>
                    <m:r>
                      <a:rPr lang="ro-RO" sz="1800" b="0" i="1" smtClean="0">
                        <a:latin typeface="Cambria Math"/>
                      </a:rPr>
                      <m:t>𝐸</m:t>
                    </m:r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600" i="1" dirty="0"/>
                  <a:t>  </a:t>
                </a:r>
                <a:r>
                  <a:rPr lang="ro-RO" sz="1600" dirty="0"/>
                  <a:t>V – multimea pinilor, E – multimea posibilelor cablări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w(u,v) repezintă costul unui cablu de la pinul u la v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Dorim să determinăm o mulțime aciclică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𝑇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𝐸</m:t>
                    </m:r>
                  </m:oMath>
                </a14:m>
                <a:r>
                  <a:rPr lang="ro-RO" sz="1600" dirty="0"/>
                  <a:t> care conectează toate nodurile din V si pentru care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𝑤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𝑇</m:t>
                        </m:r>
                      </m:e>
                    </m:d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ro-RO" sz="1600" b="0" i="1" smtClean="0">
                            <a:latin typeface="Cambria Math"/>
                          </a:rPr>
                          <m:t>(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𝑢</m:t>
                        </m:r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𝑣</m:t>
                        </m:r>
                        <m:r>
                          <a:rPr lang="ro-RO" sz="1600" b="0" i="1" smtClean="0">
                            <a:latin typeface="Cambria Math"/>
                          </a:rPr>
                          <m:t>)∈</m:t>
                        </m:r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𝑇</m:t>
                        </m:r>
                      </m:sub>
                      <m:sup/>
                      <m:e>
                        <m:r>
                          <a:rPr lang="ro-RO" sz="1600" b="0" i="1" smtClean="0">
                            <a:latin typeface="Cambria Math"/>
                          </a:rPr>
                          <m:t>𝑤</m:t>
                        </m:r>
                        <m:r>
                          <a:rPr lang="ro-RO" sz="1600" b="0" i="1" smtClean="0">
                            <a:latin typeface="Cambria Math"/>
                          </a:rPr>
                          <m:t>(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𝑢</m:t>
                        </m:r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𝑣</m:t>
                        </m:r>
                        <m:r>
                          <a:rPr lang="ro-RO" sz="1600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ro-RO" sz="1600" dirty="0"/>
                  <a:t> este minimă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endParaRPr lang="ro-RO" sz="1600" dirty="0"/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Deoarece T este aciclic, in fapt se cere determinarea unui arbore T – arbore care poartă numele de  arbore de acoperire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endParaRPr lang="ro-RO" sz="1600" dirty="0"/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Algoritmul lui Kruskal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Algoritmul lui Prim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Timp de executie: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𝑂</m:t>
                    </m:r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</a:rPr>
                      <m:t>𝐸</m:t>
                    </m:r>
                    <m:func>
                      <m:func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1600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ro-RO" sz="1600" b="0" i="1" smtClean="0">
                            <a:latin typeface="Cambria Math"/>
                          </a:rPr>
                          <m:t>𝑉</m:t>
                        </m:r>
                      </m:e>
                    </m:func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600" dirty="0"/>
              </a:p>
            </p:txBody>
          </p:sp>
        </mc:Choice>
        <mc:Fallback xmlns="">
          <p:sp>
            <p:nvSpPr>
              <p:cNvPr id="10243" name="Rectangle 3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533400" y="1676400"/>
                <a:ext cx="8534400" cy="4114800"/>
              </a:xfrm>
              <a:blipFill rotWithShape="1">
                <a:blip r:embed="rId2"/>
                <a:stretch>
                  <a:fillRect l="-643" t="-1333" b="-1496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smtClean="0"/>
              <a:t>Cluj-Napoca  - 4 ianuarie 2021</a:t>
            </a: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898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58" y="1524000"/>
            <a:ext cx="644084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0697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2986088" y="1157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Metoda generică de cautare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o-RO" sz="1600" dirty="0"/>
                  <a:t>GENERIC-MST(G, w)</a:t>
                </a:r>
              </a:p>
              <a:p>
                <a:pPr marL="0" indent="0">
                  <a:buNone/>
                </a:pPr>
                <a:r>
                  <a:rPr lang="ro-RO" sz="1600" dirty="0"/>
                  <a:t>1. A = </a:t>
                </a:r>
                <a14:m>
                  <m:oMath xmlns:m="http://schemas.openxmlformats.org/officeDocument/2006/math">
                    <m:r>
                      <a:rPr lang="ro-RO" sz="1600" i="1" smtClean="0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2. While A nu este un arbore minimal de acoperire</a:t>
                </a:r>
              </a:p>
              <a:p>
                <a:pPr marL="0" indent="0">
                  <a:buNone/>
                </a:pPr>
                <a:r>
                  <a:rPr lang="ro-RO" sz="1600" dirty="0"/>
                  <a:t>3.	Găseste un arc (u,v) care este </a:t>
                </a:r>
                <a:r>
                  <a:rPr lang="en-US" sz="1600" dirty="0"/>
                  <a:t>“</a:t>
                </a:r>
                <a:r>
                  <a:rPr lang="ro-RO" sz="1600" dirty="0"/>
                  <a:t>safe</a:t>
                </a:r>
                <a:r>
                  <a:rPr lang="en-US" sz="1600" dirty="0"/>
                  <a:t>”</a:t>
                </a:r>
                <a:r>
                  <a:rPr lang="ro-RO" sz="1600" dirty="0"/>
                  <a:t> 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pentru</a:t>
                </a:r>
                <a:r>
                  <a:rPr lang="en-US" sz="1600" dirty="0"/>
                  <a:t> A</a:t>
                </a:r>
              </a:p>
              <a:p>
                <a:pPr marL="0" indent="0">
                  <a:buNone/>
                </a:pPr>
                <a:r>
                  <a:rPr lang="en-US" sz="1600" dirty="0"/>
                  <a:t>4.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𝐴</m:t>
                    </m:r>
                    <m:r>
                      <a:rPr lang="en-US" sz="1600" b="0" i="1" smtClean="0">
                        <a:latin typeface="Cambria Math"/>
                      </a:rPr>
                      <m:t>=</m:t>
                    </m:r>
                    <m:r>
                      <a:rPr lang="en-US" sz="1600" b="0" i="1" smtClean="0">
                        <a:latin typeface="Cambria Math"/>
                      </a:rPr>
                      <m:t>𝐴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/>
                                <a:ea typeface="Cambria Math"/>
                              </a:rPr>
                              <m:t>𝑢</m:t>
                            </m:r>
                            <m:r>
                              <a:rPr lang="en-US" sz="1600" b="0" i="1" smtClean="0">
                                <a:latin typeface="Cambria Math"/>
                                <a:ea typeface="Cambria Math"/>
                              </a:rPr>
                              <m:t>,</m:t>
                            </m:r>
                            <m:r>
                              <a:rPr lang="en-US" sz="1600" b="0" i="1" smtClean="0">
                                <a:latin typeface="Cambria Math"/>
                                <a:ea typeface="Cambria Math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endParaRPr lang="en-US" sz="1600" b="0" dirty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sz="1600" dirty="0"/>
                  <a:t>5. Return A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>
                  <a:buFont typeface="Arial" pitchFamily="34" charset="0"/>
                  <a:buChar char="•"/>
                </a:pPr>
                <a:r>
                  <a:rPr lang="en-US" sz="1600" dirty="0" err="1"/>
                  <a:t>Inainte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fiecare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iteratie</a:t>
                </a:r>
                <a:r>
                  <a:rPr lang="en-US" sz="1600" dirty="0"/>
                  <a:t>, A </a:t>
                </a:r>
                <a:r>
                  <a:rPr lang="en-US" sz="1600" dirty="0" err="1"/>
                  <a:t>este</a:t>
                </a:r>
                <a:r>
                  <a:rPr lang="en-US" sz="1600" dirty="0"/>
                  <a:t> un subset a </a:t>
                </a:r>
                <a:r>
                  <a:rPr lang="en-US" sz="1600" dirty="0" err="1"/>
                  <a:t>unui</a:t>
                </a:r>
                <a:r>
                  <a:rPr lang="en-US" sz="1600" dirty="0"/>
                  <a:t> arbore minimal de </a:t>
                </a:r>
                <a:r>
                  <a:rPr lang="en-US" sz="1600" dirty="0" err="1"/>
                  <a:t>acoperire</a:t>
                </a:r>
                <a:endParaRPr lang="en-US" sz="1600" dirty="0"/>
              </a:p>
              <a:p>
                <a:pPr>
                  <a:buFont typeface="Arial" pitchFamily="34" charset="0"/>
                  <a:buChar char="•"/>
                </a:pPr>
                <a:r>
                  <a:rPr lang="en-US" sz="1600" dirty="0"/>
                  <a:t>La </a:t>
                </a:r>
                <a:r>
                  <a:rPr lang="en-US" sz="1600" dirty="0" err="1"/>
                  <a:t>fiecare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iteratie</a:t>
                </a:r>
                <a:r>
                  <a:rPr lang="en-US" sz="1600" dirty="0"/>
                  <a:t>, se </a:t>
                </a:r>
                <a:r>
                  <a:rPr lang="en-US" sz="1600" dirty="0" err="1"/>
                  <a:t>adaug</a:t>
                </a:r>
                <a:r>
                  <a:rPr lang="ro-RO" sz="1600" dirty="0"/>
                  <a:t>ă la A un arc </a:t>
                </a:r>
                <a:r>
                  <a:rPr lang="en-US" sz="1600" dirty="0"/>
                  <a:t>(</a:t>
                </a:r>
                <a:r>
                  <a:rPr lang="ro-RO" sz="1600" dirty="0"/>
                  <a:t>u,v)  </a:t>
                </a:r>
                <a:r>
                  <a:rPr lang="en-US" sz="1600" i="1" dirty="0"/>
                  <a:t>“safe”</a:t>
                </a:r>
                <a:r>
                  <a:rPr lang="en-US" sz="1600" dirty="0"/>
                  <a:t> </a:t>
                </a:r>
                <a:r>
                  <a:rPr lang="ro-RO" sz="1600" dirty="0"/>
                  <a:t>astfel incat să se păstreze proprietatea de subset a unui arbore minimal de acoperire</a:t>
                </a:r>
                <a:endParaRPr lang="en-US" sz="1600" dirty="0"/>
              </a:p>
              <a:p>
                <a:pPr>
                  <a:buFont typeface="Arial" pitchFamily="34" charset="0"/>
                  <a:buChar char="•"/>
                </a:pPr>
                <a:endParaRPr lang="en-US" sz="1600" dirty="0"/>
              </a:p>
              <a:p>
                <a:pPr>
                  <a:buFont typeface="Arial" pitchFamily="34" charset="0"/>
                  <a:buChar char="•"/>
                </a:pPr>
                <a:r>
                  <a:rPr lang="en-US" sz="1600" dirty="0" err="1"/>
                  <a:t>Partea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dificil</a:t>
                </a:r>
                <a:r>
                  <a:rPr lang="ro-RO" sz="1600" dirty="0"/>
                  <a:t>ă in algoritm: modul de determinare a unui arc safe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ro-RO" sz="1600" dirty="0"/>
                  <a:t> 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l="-370"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5815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o-RO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Taietura unui graf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ro-RO" sz="1600" dirty="0"/>
                  <a:t>O tăietură (S, V-S) a unui graf neorientat G=(V,E) este o partitie a lui V</a:t>
                </a:r>
              </a:p>
              <a:p>
                <a:r>
                  <a:rPr lang="ro-RO" sz="1600" dirty="0"/>
                  <a:t>Un arc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</a:rPr>
                      <m:t>𝑢</m:t>
                    </m:r>
                    <m:r>
                      <a:rPr lang="ro-RO" sz="1600" b="0" i="1" smtClean="0">
                        <a:latin typeface="Cambria Math"/>
                      </a:rPr>
                      <m:t>,</m:t>
                    </m:r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</a:rPr>
                      <m:t>)∈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𝐸</m:t>
                    </m:r>
                  </m:oMath>
                </a14:m>
                <a:r>
                  <a:rPr lang="ro-RO" sz="1600" dirty="0"/>
                  <a:t> taie tăietura S dacă unul din capete este in S si celălalt in V-S</a:t>
                </a:r>
              </a:p>
              <a:p>
                <a:r>
                  <a:rPr lang="ro-RO" sz="1600" dirty="0"/>
                  <a:t>O tăietură S </a:t>
                </a:r>
                <a:r>
                  <a:rPr lang="ro-RO" sz="1600" i="1" dirty="0"/>
                  <a:t>respectă</a:t>
                </a:r>
                <a:r>
                  <a:rPr lang="ro-RO" sz="1600" dirty="0"/>
                  <a:t> o multime A de arce dacă nici un arc din A nu taie tăietura S</a:t>
                </a:r>
              </a:p>
              <a:p>
                <a:r>
                  <a:rPr lang="ro-RO" sz="1600" dirty="0"/>
                  <a:t>Un arc este un </a:t>
                </a:r>
                <a:r>
                  <a:rPr lang="ro-RO" sz="1600" i="1" dirty="0"/>
                  <a:t>arc usor</a:t>
                </a:r>
                <a:r>
                  <a:rPr lang="ro-RO" sz="1600" dirty="0"/>
                  <a:t> care taie o tăietură dacă costul w a arcului este minimum dintre costurile tuturor arcelor care taie tăietura</a:t>
                </a:r>
                <a:r>
                  <a:rPr lang="ro-RO" sz="1400" dirty="0"/>
                  <a:t>  </a:t>
                </a:r>
                <a:endParaRPr lang="en-US" sz="14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0">
                <a:blip r:embed="rId2"/>
                <a:stretch>
                  <a:fillRect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0"/>
            <a:ext cx="5456238" cy="188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596" y="2852737"/>
            <a:ext cx="1903629" cy="3852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7849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364" name="Rectangle 3" descr="Rectangle: Click to edit Master text styles&#10;Second level&#10;Third level&#10;Fourth level&#10;Fifth level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pPr eaLnBrk="1" hangingPunct="1"/>
                <a:r>
                  <a:rPr lang="ro-RO" sz="1600" dirty="0"/>
                  <a:t>Dacă G=(V,E) este un graf neorientat conectat si o functie reală w definită pe E. Fie A un subset a lui E care este inclus intr-un arbore minimal de acoperire, fie (S,V-S) o tăietură oarecare care respectă pe A si fie (u,v) un arc usor care taie tăietura (S,V-S). Atunci (u,v) este un arc </a:t>
                </a:r>
                <a:r>
                  <a:rPr lang="ro-RO" sz="1600" i="1" dirty="0"/>
                  <a:t>safe</a:t>
                </a:r>
                <a:r>
                  <a:rPr lang="ro-RO" sz="1600" dirty="0"/>
                  <a:t> pentru A</a:t>
                </a:r>
              </a:p>
              <a:p>
                <a:pPr eaLnBrk="1" hangingPunct="1"/>
                <a:endParaRPr lang="ro-RO" sz="1600" dirty="0"/>
              </a:p>
              <a:p>
                <a:pPr eaLnBrk="1" hangingPunct="1"/>
                <a:r>
                  <a:rPr lang="ro-RO" sz="1600" dirty="0"/>
                  <a:t>Dacă G=(V,E) este un graf neorientat conectat cu o functie reală w definită pe E. Fie A un subset a lui E care este inclus intr-un arbore minimal de acoperire si fie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𝐶</m:t>
                    </m:r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600" dirty="0"/>
                  <a:t> o componentă conexă (un arbore) in pădurea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=(</m:t>
                    </m:r>
                    <m:r>
                      <a:rPr lang="ro-RO" sz="1600" b="0" i="1" smtClean="0">
                        <a:latin typeface="Cambria Math"/>
                      </a:rPr>
                      <m:t>𝑉</m:t>
                    </m:r>
                    <m:r>
                      <a:rPr lang="ro-RO" sz="1600" b="0" i="1" smtClean="0">
                        <a:latin typeface="Cambria Math"/>
                      </a:rPr>
                      <m:t>,</m:t>
                    </m:r>
                    <m:r>
                      <a:rPr lang="ro-RO" sz="1600" b="0" i="1" smtClean="0">
                        <a:latin typeface="Cambria Math"/>
                      </a:rPr>
                      <m:t>𝐴</m:t>
                    </m:r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600" dirty="0"/>
                  <a:t>. Dacă (u,v) este un arc usor care conectează C cu alte componente din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ro-RO" sz="1600" dirty="0"/>
                  <a:t>, atunci (u,v) este un arc safe pentru A</a:t>
                </a:r>
              </a:p>
            </p:txBody>
          </p:sp>
        </mc:Choice>
        <mc:Fallback xmlns="">
          <p:sp>
            <p:nvSpPr>
              <p:cNvPr id="15364" name="Rectangle 3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t="-444" r="-111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smtClean="0"/>
              <a:t>Cluj-Napoca  - 4 ianuarie 2021</a:t>
            </a: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3675653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dirty="0"/>
              <a:t>Algoritmul lui Kruskal</a:t>
            </a:r>
            <a:endParaRPr lang="en-US" sz="3200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smtClean="0"/>
              <a:t>Cluj-Napoca  - 4 ianuarie 2021</a:t>
            </a:r>
            <a:endParaRPr lang="en-GB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ro-RO" sz="1600" dirty="0"/>
                  <a:t>Algoritmul găseste arcul safe (u,v) dintre toate arcele care conectează 2 arbori in pădurea de arbori – arc cu costul cel mai mic</a:t>
                </a:r>
              </a:p>
              <a:p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MST-KRUSKAL(G, w)</a:t>
                </a:r>
              </a:p>
              <a:p>
                <a:pPr marL="0" indent="0">
                  <a:buNone/>
                </a:pPr>
                <a:r>
                  <a:rPr lang="ro-RO" sz="1600" dirty="0"/>
                  <a:t>1. A = </a:t>
                </a:r>
                <a14:m>
                  <m:oMath xmlns:m="http://schemas.openxmlformats.org/officeDocument/2006/math">
                    <m:r>
                      <a:rPr lang="ro-RO" sz="1600" i="1" smtClean="0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2. For fiecare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𝑉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3. 	MAKE-SET(v)</a:t>
                </a:r>
              </a:p>
              <a:p>
                <a:pPr marL="0" indent="0">
                  <a:buNone/>
                </a:pPr>
                <a:r>
                  <a:rPr lang="ro-RO" sz="1600" dirty="0"/>
                  <a:t>4. Sortează arcele din E in ordine crescătoare a costului w</a:t>
                </a:r>
              </a:p>
              <a:p>
                <a:pPr marL="0" indent="0">
                  <a:buNone/>
                </a:pPr>
                <a:r>
                  <a:rPr lang="ro-RO" sz="1600" dirty="0"/>
                  <a:t>5. Pentru fiecare arc (u,v) luat in ordine crescătoare a costului</a:t>
                </a:r>
              </a:p>
              <a:p>
                <a:pPr marL="0" indent="0">
                  <a:buNone/>
                </a:pPr>
                <a:r>
                  <a:rPr lang="ro-RO" sz="1600" dirty="0"/>
                  <a:t>6.	If FIND-SET(u) </a:t>
                </a:r>
                <a14:m>
                  <m:oMath xmlns:m="http://schemas.openxmlformats.org/officeDocument/2006/math">
                    <m:r>
                      <a:rPr lang="ro-RO" sz="1600" i="1" smtClean="0"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ro-RO" sz="1600" dirty="0"/>
                  <a:t> FIND-SET(v)</a:t>
                </a:r>
              </a:p>
              <a:p>
                <a:pPr marL="0" indent="0">
                  <a:buNone/>
                </a:pPr>
                <a:r>
                  <a:rPr lang="ro-RO" sz="1600" dirty="0"/>
                  <a:t>7.		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𝐴</m:t>
                    </m:r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r>
                      <a:rPr lang="ro-RO" sz="1600" b="0" i="1" smtClean="0">
                        <a:latin typeface="Cambria Math"/>
                      </a:rPr>
                      <m:t>𝐴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/>
                                <a:ea typeface="Cambria Math"/>
                              </a:rPr>
                              <m:t>𝑢</m:t>
                            </m:r>
                            <m:r>
                              <a:rPr lang="en-US" sz="1600" b="0" i="1" smtClean="0">
                                <a:latin typeface="Cambria Math"/>
                                <a:ea typeface="Cambria Math"/>
                              </a:rPr>
                              <m:t>,</m:t>
                            </m:r>
                            <m:r>
                              <a:rPr lang="en-US" sz="1600" b="0" i="1" smtClean="0">
                                <a:latin typeface="Cambria Math"/>
                                <a:ea typeface="Cambria Math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endParaRPr lang="en-US" sz="1600" b="0" dirty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sz="1600" dirty="0"/>
                  <a:t>8.		UNION</a:t>
                </a:r>
                <a:r>
                  <a:rPr lang="ro-RO" sz="1600" dirty="0"/>
                  <a:t>(</a:t>
                </a:r>
                <a:r>
                  <a:rPr lang="en-US" sz="1600" dirty="0" err="1"/>
                  <a:t>u,v</a:t>
                </a:r>
                <a:r>
                  <a:rPr lang="en-US" sz="1600" dirty="0"/>
                  <a:t>)</a:t>
                </a:r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9. Return A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l="-370"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2881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01" y="205460"/>
            <a:ext cx="7818798" cy="644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88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Algoritmul lui Prim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ro-RO" sz="1600" dirty="0"/>
                  <a:t>La fiecare pas se adaugă lui A un arc usor care conectează pe A cu un nod izolat</a:t>
                </a:r>
              </a:p>
              <a:p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MST-PRIM(G, w, r)</a:t>
                </a:r>
              </a:p>
              <a:p>
                <a:pPr marL="0" indent="0">
                  <a:buNone/>
                </a:pPr>
                <a:r>
                  <a:rPr lang="ro-RO" sz="1600" dirty="0"/>
                  <a:t>1. For fiecare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𝑢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𝑉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2.	u.key = </a:t>
                </a:r>
                <a14:m>
                  <m:oMath xmlns:m="http://schemas.openxmlformats.org/officeDocument/2006/math">
                    <m:r>
                      <a:rPr lang="ro-RO" sz="1600" i="1" smtClean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3.	u.</a:t>
                </a:r>
                <a:r>
                  <a:rPr lang="el-GR" sz="1600" dirty="0"/>
                  <a:t>π</a:t>
                </a:r>
                <a:r>
                  <a:rPr lang="ro-RO" sz="1600" dirty="0"/>
                  <a:t> = Nil</a:t>
                </a:r>
              </a:p>
              <a:p>
                <a:pPr marL="0" indent="0">
                  <a:buNone/>
                </a:pPr>
                <a:r>
                  <a:rPr lang="ro-RO" sz="1600" dirty="0"/>
                  <a:t>4. r.key = 0</a:t>
                </a:r>
              </a:p>
              <a:p>
                <a:pPr marL="0" indent="0">
                  <a:buNone/>
                </a:pPr>
                <a:r>
                  <a:rPr lang="ro-RO" sz="1600" dirty="0"/>
                  <a:t>5. Q = V</a:t>
                </a:r>
              </a:p>
              <a:p>
                <a:pPr marL="0" indent="0">
                  <a:buNone/>
                </a:pPr>
                <a:r>
                  <a:rPr lang="ro-RO" sz="1600" dirty="0"/>
                  <a:t>6. While Q != </a:t>
                </a:r>
                <a14:m>
                  <m:oMath xmlns:m="http://schemas.openxmlformats.org/officeDocument/2006/math">
                    <m:r>
                      <a:rPr lang="ro-RO" sz="1600" i="1" smtClean="0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7.	u = EXTRACT-MIN(Q)</a:t>
                </a:r>
              </a:p>
              <a:p>
                <a:pPr marL="0" indent="0">
                  <a:buNone/>
                </a:pPr>
                <a:r>
                  <a:rPr lang="ro-RO" sz="1600" dirty="0"/>
                  <a:t>8.	For fiecare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𝐺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𝐴𝑑𝑗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𝑢</m:t>
                        </m:r>
                      </m:e>
                    </m:d>
                  </m:oMath>
                </a14:m>
                <a:endParaRPr lang="ro-RO" sz="1600" b="0" dirty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ro-RO" sz="1600" dirty="0"/>
                  <a:t>9.		If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𝑄</m:t>
                    </m:r>
                  </m:oMath>
                </a14:m>
                <a:r>
                  <a:rPr lang="ro-RO" sz="1600" dirty="0"/>
                  <a:t> and w(u,v) </a:t>
                </a:r>
                <a:r>
                  <a:rPr lang="en-US" sz="1600" dirty="0"/>
                  <a:t>&lt; </a:t>
                </a:r>
                <a:r>
                  <a:rPr lang="en-US" sz="1600" dirty="0" err="1"/>
                  <a:t>v.key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10			v.</a:t>
                </a:r>
                <a:r>
                  <a:rPr lang="el-GR" sz="1600" dirty="0"/>
                  <a:t>π</a:t>
                </a:r>
                <a:r>
                  <a:rPr lang="en-US" sz="1600" dirty="0"/>
                  <a:t> = u</a:t>
                </a:r>
              </a:p>
              <a:p>
                <a:pPr marL="0" indent="0">
                  <a:buNone/>
                </a:pPr>
                <a:r>
                  <a:rPr lang="en-US" sz="1600" dirty="0"/>
                  <a:t>11.			</a:t>
                </a:r>
                <a:r>
                  <a:rPr lang="en-US" sz="1600" dirty="0" err="1"/>
                  <a:t>v.key</a:t>
                </a:r>
                <a:r>
                  <a:rPr lang="en-US" sz="1600" dirty="0"/>
                  <a:t> = w(</a:t>
                </a:r>
                <a:r>
                  <a:rPr lang="en-US" sz="1600" dirty="0" err="1"/>
                  <a:t>u,v</a:t>
                </a:r>
                <a:r>
                  <a:rPr lang="en-US" sz="1600" dirty="0"/>
                  <a:t>)</a:t>
                </a:r>
                <a:endParaRPr lang="ro-RO" sz="16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l="-370" t="-444" b="-251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- 4 ianuarie 2021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254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103" y="0"/>
            <a:ext cx="68657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83958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5879</TotalTime>
  <Words>476</Words>
  <Application>Microsoft Office PowerPoint</Application>
  <PresentationFormat>On-screen Show (4:3)</PresentationFormat>
  <Paragraphs>79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Cambria Math</vt:lpstr>
      <vt:lpstr>Tahoma</vt:lpstr>
      <vt:lpstr>Times New Roman</vt:lpstr>
      <vt:lpstr>Wingdings</vt:lpstr>
      <vt:lpstr>Blueprint</vt:lpstr>
      <vt:lpstr>Algoritmi și structuri de date – curs 10     - Informatică Economică, an II –</vt:lpstr>
      <vt:lpstr>Cuprins</vt:lpstr>
      <vt:lpstr>Definirea arborilor de acoperire</vt:lpstr>
      <vt:lpstr>PowerPoint Presentation</vt:lpstr>
      <vt:lpstr>Metoda generică de cautare</vt:lpstr>
      <vt:lpstr>Taietura unui graf</vt:lpstr>
      <vt:lpstr>PowerPoint Presentation</vt:lpstr>
      <vt:lpstr>Algoritmul lui Kruskal</vt:lpstr>
      <vt:lpstr>PowerPoint Presentation</vt:lpstr>
      <vt:lpstr>Algoritmul lui Prim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</dc:creator>
  <cp:lastModifiedBy>Gheorghe Cosmin Silaghi</cp:lastModifiedBy>
  <cp:revision>260</cp:revision>
  <dcterms:created xsi:type="dcterms:W3CDTF">2004-11-24T18:35:22Z</dcterms:created>
  <dcterms:modified xsi:type="dcterms:W3CDTF">2021-01-03T09:11:08Z</dcterms:modified>
</cp:coreProperties>
</file>