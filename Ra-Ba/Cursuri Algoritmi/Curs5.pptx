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0"/>
  </p:notesMasterIdLst>
  <p:sldIdLst>
    <p:sldId id="256" r:id="rId2"/>
    <p:sldId id="257" r:id="rId3"/>
    <p:sldId id="276" r:id="rId4"/>
    <p:sldId id="292" r:id="rId5"/>
    <p:sldId id="295" r:id="rId6"/>
    <p:sldId id="293" r:id="rId7"/>
    <p:sldId id="316" r:id="rId8"/>
    <p:sldId id="317" r:id="rId9"/>
    <p:sldId id="309" r:id="rId10"/>
    <p:sldId id="297" r:id="rId11"/>
    <p:sldId id="300" r:id="rId12"/>
    <p:sldId id="294" r:id="rId13"/>
    <p:sldId id="296" r:id="rId14"/>
    <p:sldId id="298" r:id="rId15"/>
    <p:sldId id="299" r:id="rId16"/>
    <p:sldId id="311" r:id="rId17"/>
    <p:sldId id="318" r:id="rId18"/>
    <p:sldId id="312" r:id="rId19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46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png"/><Relationship Id="rId1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11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heorghe.Silaghi@econ.ubbcluj.r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</a:t>
            </a:r>
            <a:r>
              <a:rPr lang="en-US" sz="3200" dirty="0" smtClean="0"/>
              <a:t>5</a:t>
            </a:r>
            <a:r>
              <a:rPr lang="en-US" sz="3600" dirty="0" smtClean="0"/>
              <a:t>  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algn="r" eaLnBrk="1" hangingPunct="1"/>
            <a:r>
              <a:rPr lang="en-US" sz="2400" dirty="0" err="1"/>
              <a:t>Prof.dr</a:t>
            </a:r>
            <a:r>
              <a:rPr lang="en-US" sz="2400" dirty="0"/>
              <a:t>. Gheorghe Cosmin Silaghi</a:t>
            </a:r>
          </a:p>
          <a:p>
            <a:pPr algn="r" eaLnBrk="1" hangingPunct="1"/>
            <a:r>
              <a:rPr lang="en-US" sz="2400" dirty="0">
                <a:hlinkClick r:id="rId3"/>
              </a:rPr>
              <a:t>Gheorghe.Silaghi@econ.ubbcluj.ro</a:t>
            </a:r>
            <a:r>
              <a:rPr lang="en-US" sz="2400" dirty="0"/>
              <a:t> </a:t>
            </a:r>
            <a:endParaRPr lang="ro-RO" sz="2400" dirty="0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990600" y="2590800"/>
            <a:ext cx="4876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Concepte</a:t>
            </a:r>
            <a:r>
              <a:rPr lang="en-US" sz="2000" dirty="0">
                <a:solidFill>
                  <a:schemeClr val="tx2"/>
                </a:solidFill>
              </a:rPr>
              <a:t> de </a:t>
            </a:r>
            <a:r>
              <a:rPr lang="en-US" sz="2000" dirty="0" err="1">
                <a:solidFill>
                  <a:schemeClr val="tx2"/>
                </a:solidFill>
              </a:rPr>
              <a:t>baz</a:t>
            </a:r>
            <a:r>
              <a:rPr lang="ro-RO" sz="2000" dirty="0">
                <a:solidFill>
                  <a:schemeClr val="tx2"/>
                </a:solidFill>
              </a:rPr>
              <a:t>ă</a:t>
            </a:r>
          </a:p>
          <a:p>
            <a:r>
              <a:rPr lang="ro-RO" sz="2000" dirty="0">
                <a:solidFill>
                  <a:schemeClr val="tx2"/>
                </a:solidFill>
              </a:rPr>
              <a:t>Complexitatea algoritmilor</a:t>
            </a:r>
          </a:p>
          <a:p>
            <a:r>
              <a:rPr lang="ro-RO" sz="2000" dirty="0">
                <a:solidFill>
                  <a:schemeClr val="tx2"/>
                </a:solidFill>
              </a:rPr>
              <a:t>Metode de sortare de bază</a:t>
            </a: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pPr eaLnBrk="1" hangingPunct="1"/>
            <a:r>
              <a:rPr lang="ro-RO" sz="3200"/>
              <a:t>Cuprins</a:t>
            </a:r>
            <a:endParaRPr lang="en-GB" sz="3200"/>
          </a:p>
        </p:txBody>
      </p:sp>
      <p:sp>
        <p:nvSpPr>
          <p:cNvPr id="71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924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sz="2000" dirty="0"/>
              <a:t>Conceptul de algoritm</a:t>
            </a:r>
          </a:p>
          <a:p>
            <a:pPr eaLnBrk="1" hangingPunct="1">
              <a:lnSpc>
                <a:spcPct val="90000"/>
              </a:lnSpc>
            </a:pPr>
            <a:r>
              <a:rPr lang="ro-RO" sz="2000" dirty="0"/>
              <a:t>Complexitatea algoritmilor. Analiza eficienței algoritmilor</a:t>
            </a:r>
          </a:p>
          <a:p>
            <a:pPr eaLnBrk="1" hangingPunct="1">
              <a:lnSpc>
                <a:spcPct val="90000"/>
              </a:lnSpc>
            </a:pPr>
            <a:r>
              <a:rPr lang="ro-RO" sz="2000" dirty="0"/>
              <a:t>Sortarea prin insertie</a:t>
            </a:r>
          </a:p>
          <a:p>
            <a:pPr eaLnBrk="1" hangingPunct="1">
              <a:lnSpc>
                <a:spcPct val="90000"/>
              </a:lnSpc>
            </a:pPr>
            <a:r>
              <a:rPr lang="ro-RO" sz="2000" dirty="0"/>
              <a:t>Sortare prin interclasare</a:t>
            </a:r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lvl="1" eaLnBrk="1" hangingPunct="1">
              <a:lnSpc>
                <a:spcPct val="90000"/>
              </a:lnSpc>
            </a:pPr>
            <a:endParaRPr lang="ro-RO" sz="16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endParaRPr lang="ro-RO" sz="20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Algoritmi – definiții fundamentale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14362" y="1524000"/>
                <a:ext cx="7990085" cy="4114800"/>
              </a:xfrm>
            </p:spPr>
            <p:txBody>
              <a:bodyPr/>
              <a:lstStyle/>
              <a:p>
                <a:pPr marL="0" lvl="1" indent="0">
                  <a:buClr>
                    <a:schemeClr val="hlink"/>
                  </a:buClr>
                  <a:buSzPct val="110000"/>
                  <a:buNone/>
                </a:pPr>
                <a:r>
                  <a:rPr lang="ro-RO" sz="1600" b="1" dirty="0"/>
                  <a:t>Definiția conceptului de algoritm</a:t>
                </a: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ro-RO" sz="1600" dirty="0"/>
                  <a:t>O procedura de calcul bine definită, care primește ca și intrare un set de valori și produce la ieșire un set de valori</a:t>
                </a: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endParaRPr lang="ro-RO" sz="1600" dirty="0"/>
              </a:p>
              <a:p>
                <a:pPr marL="0" lvl="1" indent="0">
                  <a:buClr>
                    <a:schemeClr val="hlink"/>
                  </a:buClr>
                  <a:buSzPct val="110000"/>
                  <a:buNone/>
                </a:pPr>
                <a:r>
                  <a:rPr lang="ro-RO" sz="1600" dirty="0"/>
                  <a:t>Exemplu: definirea problemei de </a:t>
                </a:r>
                <a:r>
                  <a:rPr lang="ro-RO" sz="1600" i="1" dirty="0"/>
                  <a:t>sortare</a:t>
                </a:r>
                <a:r>
                  <a:rPr lang="ro-RO" sz="1600" dirty="0"/>
                  <a:t> a unui și</a:t>
                </a:r>
                <a:r>
                  <a:rPr lang="en-US" sz="1600" dirty="0"/>
                  <a:t>r</a:t>
                </a:r>
                <a:r>
                  <a:rPr lang="ro-RO" sz="1600" dirty="0"/>
                  <a:t> de numere:</a:t>
                </a: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ro-RO" sz="1600" b="1" dirty="0"/>
                  <a:t>Input:</a:t>
                </a:r>
                <a:r>
                  <a:rPr lang="ro-RO" sz="1600" dirty="0"/>
                  <a:t> o secvență de n numere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ro-RO" sz="1600" dirty="0"/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ro-RO" sz="1600" b="1" dirty="0"/>
                  <a:t>Output:</a:t>
                </a:r>
                <a:r>
                  <a:rPr lang="ro-RO" sz="1600" dirty="0"/>
                  <a:t> o permutare (sau o reordonare)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o-RO" sz="1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𝑎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′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  <m:sup/>
                        </m:sSubSup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ro-RO" sz="1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𝑎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′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  <m:sup/>
                        </m:sSubSup>
                        <m:r>
                          <a:rPr lang="en-US" sz="1600" b="0" i="1" smtClean="0"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ro-RO" sz="1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𝑎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′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𝑛</m:t>
                            </m:r>
                          </m:sub>
                          <m:sup/>
                        </m:sSubSup>
                      </m:e>
                    </m:d>
                  </m:oMath>
                </a14:m>
                <a:r>
                  <a:rPr lang="ro-RO" sz="1600" dirty="0"/>
                  <a:t>a secvenței de numere furnizată la intrare, astfel încât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′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ro-RO" sz="160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…≤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′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endParaRPr lang="en-US" dirty="0"/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en-US" sz="1600" dirty="0"/>
                  <a:t>Un </a:t>
                </a:r>
                <a:r>
                  <a:rPr lang="en-US" sz="1600" dirty="0" err="1"/>
                  <a:t>algoritm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sortare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pentru</a:t>
                </a:r>
                <a:r>
                  <a:rPr lang="en-US" sz="1600" dirty="0"/>
                  <a:t> o </a:t>
                </a:r>
                <a:r>
                  <a:rPr lang="en-US" sz="1600" dirty="0" err="1"/>
                  <a:t>anumit</a:t>
                </a:r>
                <a:r>
                  <a:rPr lang="ro-RO" sz="1600" dirty="0"/>
                  <a:t>ă secvență de numere input 31, 41, 59, 26 va produce ca și output secvența 26, 31, 41, 59. </a:t>
                </a: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ro-RO" sz="1600" dirty="0"/>
                  <a:t>O </a:t>
                </a:r>
                <a:r>
                  <a:rPr lang="ro-RO" sz="1600" b="1" i="1" dirty="0"/>
                  <a:t>instantă a problemei </a:t>
                </a:r>
                <a:r>
                  <a:rPr lang="ro-RO" sz="1600" dirty="0"/>
                  <a:t>o constituie o secvență de intrare care satisface condițiile problemei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362" y="1524000"/>
                <a:ext cx="7990085" cy="4114800"/>
              </a:xfrm>
              <a:blipFill rotWithShape="0">
                <a:blip r:embed="rId3"/>
                <a:stretch>
                  <a:fillRect l="-458" t="-444" r="-61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49580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500563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436245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3" name="Rectangle 8"/>
          <p:cNvSpPr>
            <a:spLocks noChangeArrowheads="1"/>
          </p:cNvSpPr>
          <p:nvPr/>
        </p:nvSpPr>
        <p:spPr bwMode="auto">
          <a:xfrm>
            <a:off x="366236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36004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699792" y="6248400"/>
            <a:ext cx="3320008" cy="457200"/>
          </a:xfrm>
        </p:spPr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Algoritmi – definiții fundamentale (II)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4363" y="1524000"/>
            <a:ext cx="8286750" cy="4114800"/>
          </a:xfrm>
        </p:spPr>
        <p:txBody>
          <a:bodyPr/>
          <a:lstStyle/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ro-RO" sz="1600" dirty="0"/>
              <a:t>Un algoritm se spune că este </a:t>
            </a:r>
            <a:r>
              <a:rPr lang="ro-RO" sz="1600" b="1" i="1" dirty="0"/>
              <a:t>corect</a:t>
            </a:r>
            <a:r>
              <a:rPr lang="ro-RO" sz="1600" dirty="0"/>
              <a:t> dacă pentru orice secvență de intrare care satisface condițiile problemei va produce la ieșire un rezultat (output) corect</a:t>
            </a:r>
          </a:p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endParaRPr lang="en-US" sz="1600" dirty="0"/>
          </a:p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ro-RO" sz="1600" dirty="0"/>
              <a:t>Spunem că algoritmul respectiv </a:t>
            </a:r>
            <a:r>
              <a:rPr lang="ro-RO" sz="1600" b="1" i="1" dirty="0"/>
              <a:t>rezolvă</a:t>
            </a:r>
            <a:r>
              <a:rPr lang="ro-RO" sz="1600" dirty="0"/>
              <a:t> problema computațională furnizată.</a:t>
            </a:r>
          </a:p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endParaRPr lang="ro-RO" sz="1600" dirty="0"/>
          </a:p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ro-RO" sz="1600" dirty="0"/>
              <a:t>O </a:t>
            </a:r>
            <a:r>
              <a:rPr lang="ro-RO" sz="1600" b="1" i="1" dirty="0"/>
              <a:t>structură de date</a:t>
            </a:r>
            <a:r>
              <a:rPr lang="ro-RO" sz="1600" dirty="0"/>
              <a:t> reprezintă un mod de a organiza și stoca datele astfel încât să facilităm accesul la ele și modificarea acestora</a:t>
            </a:r>
          </a:p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endParaRPr lang="ro-RO" sz="1600" dirty="0"/>
          </a:p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ro-RO" sz="1600" b="1" i="1" dirty="0"/>
              <a:t>Tehnici </a:t>
            </a:r>
            <a:r>
              <a:rPr lang="ro-RO" sz="1600" dirty="0"/>
              <a:t>care vor fi acoperite în acest curs: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Tehnici de proiectare a algoritmilor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Tehnici de analiză a algoritmilor astfel încât să putem decide asupra </a:t>
            </a:r>
          </a:p>
          <a:p>
            <a:pPr marL="1200150" lvl="3" indent="-342900">
              <a:buSzPct val="110000"/>
              <a:buBlip>
                <a:blip r:embed="rId2"/>
              </a:buBlip>
            </a:pPr>
            <a:r>
              <a:rPr lang="ro-RO" sz="1400" dirty="0"/>
              <a:t>corectitudinii algoritmilor și </a:t>
            </a:r>
          </a:p>
          <a:p>
            <a:pPr marL="1200150" lvl="3" indent="-342900">
              <a:buSzPct val="110000"/>
              <a:buBlip>
                <a:blip r:embed="rId2"/>
              </a:buBlip>
            </a:pPr>
            <a:r>
              <a:rPr lang="ro-RO" sz="1400" dirty="0"/>
              <a:t>eficienței acestora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49580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500563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436245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3" name="Rectangle 8"/>
          <p:cNvSpPr>
            <a:spLocks noChangeArrowheads="1"/>
          </p:cNvSpPr>
          <p:nvPr/>
        </p:nvSpPr>
        <p:spPr bwMode="auto">
          <a:xfrm>
            <a:off x="366236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36004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3103984" cy="457200"/>
          </a:xfrm>
        </p:spPr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443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Pseudocod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1800" dirty="0"/>
              <a:t>Modalitate de a descrie algoritmi</a:t>
            </a:r>
          </a:p>
          <a:p>
            <a:r>
              <a:rPr lang="ro-RO" sz="1800" dirty="0"/>
              <a:t>Similar cu schemele logice</a:t>
            </a:r>
          </a:p>
          <a:p>
            <a:r>
              <a:rPr lang="ro-RO" sz="1800" dirty="0"/>
              <a:t>Un algoritm descris in pseudocod poate apoi sa fie implementat in orice limbaj de programare (C, Pascal etc).</a:t>
            </a:r>
          </a:p>
          <a:p>
            <a:r>
              <a:rPr lang="ro-RO" sz="1800" dirty="0"/>
              <a:t>Convenții de notare</a:t>
            </a:r>
          </a:p>
          <a:p>
            <a:pPr lvl="1"/>
            <a:r>
              <a:rPr lang="ro-RO" sz="1600" dirty="0"/>
              <a:t>Indentarea descrie o structura de tip bloc</a:t>
            </a:r>
          </a:p>
          <a:p>
            <a:pPr lvl="1"/>
            <a:r>
              <a:rPr lang="ro-RO" sz="1600" dirty="0"/>
              <a:t>If-then-else, precum si structurile repetitive while, for, repeat-until au semnificație similară cu cea din C</a:t>
            </a:r>
          </a:p>
          <a:p>
            <a:pPr lvl="1"/>
            <a:r>
              <a:rPr lang="ro-RO" sz="1600" dirty="0"/>
              <a:t>// este utilizat pentru comentarii</a:t>
            </a:r>
          </a:p>
          <a:p>
            <a:pPr lvl="1"/>
            <a:r>
              <a:rPr lang="ro-RO" sz="1600" dirty="0"/>
              <a:t>Variabilele sunt locale fiecarei proceduri</a:t>
            </a:r>
          </a:p>
          <a:p>
            <a:pPr lvl="1"/>
            <a:r>
              <a:rPr lang="ro-RO" sz="1600" dirty="0"/>
              <a:t>Transmiterea parametrilor in proceduri se realizează intotdeauna prin valoare</a:t>
            </a:r>
          </a:p>
          <a:p>
            <a:pPr lvl="1"/>
            <a:r>
              <a:rPr lang="ro-RO" sz="1600" dirty="0"/>
              <a:t>Operatorii logici </a:t>
            </a:r>
            <a:r>
              <a:rPr lang="ro-RO" sz="1600" i="1" dirty="0"/>
              <a:t>and</a:t>
            </a:r>
            <a:r>
              <a:rPr lang="ro-RO" sz="1600" dirty="0"/>
              <a:t> si </a:t>
            </a:r>
            <a:r>
              <a:rPr lang="ro-RO" sz="1600" i="1" dirty="0"/>
              <a:t>or</a:t>
            </a:r>
            <a:r>
              <a:rPr lang="ro-RO" sz="1600" dirty="0"/>
              <a:t> se evaluează prin scurt-circuitare</a:t>
            </a:r>
          </a:p>
          <a:p>
            <a:pPr lvl="1"/>
            <a:endParaRPr lang="ro-RO" sz="1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62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Necesitatea studierii algoritmilor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1800" dirty="0"/>
              <a:t>Dacă calculatoarele ar avea o viteză de execuție infinită, atunci orice metodă corectă de rezolvare a unei probleme ar fi potrivită</a:t>
            </a:r>
          </a:p>
          <a:p>
            <a:endParaRPr lang="ro-RO" sz="1800" dirty="0"/>
          </a:p>
          <a:p>
            <a:r>
              <a:rPr lang="ro-RO" sz="1800" dirty="0"/>
              <a:t>Calculatoarele au viteze de execuție limitate</a:t>
            </a:r>
          </a:p>
          <a:p>
            <a:r>
              <a:rPr lang="ro-RO" sz="1800" dirty="0"/>
              <a:t>Spațiile de memorare ale calculatoarelor sunt ieftine dar nu gratuite</a:t>
            </a:r>
          </a:p>
          <a:p>
            <a:pPr marL="0" indent="0">
              <a:buNone/>
            </a:pPr>
            <a:r>
              <a:rPr lang="ro-RO" sz="1800" dirty="0"/>
              <a:t>=</a:t>
            </a:r>
            <a:r>
              <a:rPr lang="en-US" sz="1800" dirty="0"/>
              <a:t>&gt;</a:t>
            </a:r>
            <a:r>
              <a:rPr lang="ro-RO" sz="1800" dirty="0"/>
              <a:t> Nu orice algoritm corect funcționează în mod utilizabil pe orice resurse de calcul</a:t>
            </a:r>
          </a:p>
          <a:p>
            <a:endParaRPr lang="ro-RO" sz="1800" dirty="0"/>
          </a:p>
          <a:p>
            <a:r>
              <a:rPr lang="ro-RO" sz="1800" b="1" i="1" dirty="0"/>
              <a:t>Eficiența</a:t>
            </a:r>
            <a:r>
              <a:rPr lang="ro-RO" sz="1800" dirty="0"/>
              <a:t> unui algoritm: </a:t>
            </a:r>
          </a:p>
          <a:p>
            <a:pPr lvl="1"/>
            <a:r>
              <a:rPr lang="ro-RO" sz="1600" dirty="0"/>
              <a:t>se referă la resursele de calcul și memorie necesare pentru execuția algoritmului</a:t>
            </a:r>
          </a:p>
          <a:p>
            <a:pPr lvl="1"/>
            <a:r>
              <a:rPr lang="ro-RO" sz="1600" dirty="0"/>
              <a:t>Poate fi mult mai importantă decât capabilitățile hardware și software ale calculatorului care rulează algoritmul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42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Eficienta</a:t>
            </a:r>
            <a:r>
              <a:rPr lang="en-US" dirty="0" smtClean="0"/>
              <a:t> </a:t>
            </a:r>
            <a:r>
              <a:rPr lang="en-US" dirty="0" err="1" smtClean="0"/>
              <a:t>algoritmilor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778" y="1556792"/>
            <a:ext cx="7772400" cy="4114800"/>
          </a:xfrm>
        </p:spPr>
        <p:txBody>
          <a:bodyPr/>
          <a:lstStyle/>
          <a:p>
            <a:r>
              <a:rPr lang="en-US" sz="2200" dirty="0" err="1" smtClean="0"/>
              <a:t>Problema</a:t>
            </a:r>
            <a:r>
              <a:rPr lang="en-US" sz="2200" dirty="0" smtClean="0"/>
              <a:t>: s</a:t>
            </a:r>
            <a:r>
              <a:rPr lang="ro-RO" sz="2200" dirty="0" smtClean="0"/>
              <a:t>ă se sorteze un sir de  n= 10 mil numere</a:t>
            </a:r>
          </a:p>
          <a:p>
            <a:r>
              <a:rPr lang="ro-RO" sz="2200" dirty="0" smtClean="0"/>
              <a:t>Metode de sortare:</a:t>
            </a:r>
          </a:p>
          <a:p>
            <a:pPr lvl="1"/>
            <a:r>
              <a:rPr lang="ro-RO" sz="1800" dirty="0" err="1" smtClean="0"/>
              <a:t>Insertion</a:t>
            </a:r>
            <a:r>
              <a:rPr lang="ro-RO" sz="1800" dirty="0" smtClean="0"/>
              <a:t> sort: complexitate c1 x n x n</a:t>
            </a:r>
          </a:p>
          <a:p>
            <a:pPr lvl="1"/>
            <a:r>
              <a:rPr lang="ro-RO" sz="1800" dirty="0" smtClean="0"/>
              <a:t>Merge sort: complexitate c2 x n x log n</a:t>
            </a:r>
          </a:p>
          <a:p>
            <a:r>
              <a:rPr lang="ro-RO" sz="2200" dirty="0" smtClean="0"/>
              <a:t>Resurse hardware:</a:t>
            </a:r>
          </a:p>
          <a:p>
            <a:pPr lvl="1"/>
            <a:r>
              <a:rPr lang="ro-RO" sz="1800" dirty="0" smtClean="0"/>
              <a:t>Computer A (rapid): poate să execute 10 mld </a:t>
            </a:r>
            <a:r>
              <a:rPr lang="ro-RO" sz="1800" dirty="0" err="1" smtClean="0"/>
              <a:t>instr</a:t>
            </a:r>
            <a:r>
              <a:rPr lang="ro-RO" sz="1800" dirty="0" smtClean="0"/>
              <a:t>. / secunda</a:t>
            </a:r>
          </a:p>
          <a:p>
            <a:pPr lvl="1"/>
            <a:r>
              <a:rPr lang="ro-RO" sz="1800" dirty="0" smtClean="0"/>
              <a:t>Computer B (</a:t>
            </a:r>
            <a:r>
              <a:rPr lang="ro-RO" sz="1800" dirty="0"/>
              <a:t>î</a:t>
            </a:r>
            <a:r>
              <a:rPr lang="ro-RO" sz="1800" dirty="0" smtClean="0"/>
              <a:t>ncet) : poate să execute 10 mil </a:t>
            </a:r>
            <a:r>
              <a:rPr lang="ro-RO" sz="1800" dirty="0" err="1" smtClean="0"/>
              <a:t>instr</a:t>
            </a:r>
            <a:r>
              <a:rPr lang="ro-RO" sz="1800" dirty="0" smtClean="0"/>
              <a:t> / secunda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88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Eficienta Algoritmilor</a:t>
            </a:r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 bwMode="auto">
              <a:xfrm>
                <a:off x="615778" y="1556792"/>
                <a:ext cx="7772400" cy="48245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2"/>
                  </a:buBlip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200" kern="0" dirty="0" smtClean="0"/>
                  <a:t>Problema: s</a:t>
                </a:r>
                <a:r>
                  <a:rPr lang="ro-RO" sz="2200" kern="0" dirty="0" smtClean="0"/>
                  <a:t>ă se sorteze un sir de  n= 10 mil numere</a:t>
                </a:r>
              </a:p>
              <a:p>
                <a:r>
                  <a:rPr lang="ro-RO" sz="2200" kern="0" dirty="0" smtClean="0"/>
                  <a:t>Metode de sortare:</a:t>
                </a:r>
              </a:p>
              <a:p>
                <a:pPr lvl="1"/>
                <a:r>
                  <a:rPr lang="ro-RO" sz="1800" kern="0" dirty="0" err="1" smtClean="0"/>
                  <a:t>Insertion</a:t>
                </a:r>
                <a:r>
                  <a:rPr lang="ro-RO" sz="1800" kern="0" dirty="0" smtClean="0"/>
                  <a:t> sort: complexitate c1 x n x n</a:t>
                </a:r>
              </a:p>
              <a:p>
                <a:pPr lvl="1"/>
                <a:r>
                  <a:rPr lang="ro-RO" sz="1800" kern="0" dirty="0" smtClean="0"/>
                  <a:t>Merge sort: complexitate c2 x n x log n</a:t>
                </a:r>
              </a:p>
              <a:p>
                <a:r>
                  <a:rPr lang="ro-RO" sz="2200" kern="0" dirty="0" smtClean="0"/>
                  <a:t>Resurse hardware:</a:t>
                </a:r>
              </a:p>
              <a:p>
                <a:pPr lvl="1"/>
                <a:r>
                  <a:rPr lang="ro-RO" sz="1800" kern="0" dirty="0" smtClean="0"/>
                  <a:t>Computer A (rapid): poate să execute 10 mld </a:t>
                </a:r>
                <a:r>
                  <a:rPr lang="ro-RO" sz="1800" kern="0" dirty="0" err="1" smtClean="0"/>
                  <a:t>instr</a:t>
                </a:r>
                <a:r>
                  <a:rPr lang="ro-RO" sz="1800" kern="0" dirty="0" smtClean="0"/>
                  <a:t>. / secunda</a:t>
                </a:r>
              </a:p>
              <a:p>
                <a:pPr lvl="1"/>
                <a:r>
                  <a:rPr lang="ro-RO" sz="1800" kern="0" dirty="0" smtClean="0"/>
                  <a:t>Computer B (încet) : poate să execute 10 mil </a:t>
                </a:r>
                <a:r>
                  <a:rPr lang="ro-RO" sz="1800" kern="0" dirty="0" err="1" smtClean="0"/>
                  <a:t>instr</a:t>
                </a:r>
                <a:r>
                  <a:rPr lang="ro-RO" sz="1800" kern="0" dirty="0" smtClean="0"/>
                  <a:t> / secunda</a:t>
                </a:r>
              </a:p>
              <a:p>
                <a:r>
                  <a:rPr lang="ro-RO" sz="2200" kern="0" dirty="0" smtClean="0"/>
                  <a:t>Timp de execuție</a:t>
                </a:r>
              </a:p>
              <a:p>
                <a:pPr lvl="1"/>
                <a:r>
                  <a:rPr lang="ro-RO" sz="1800" kern="0" dirty="0" smtClean="0"/>
                  <a:t>Computer A, </a:t>
                </a:r>
                <a:r>
                  <a:rPr lang="ro-RO" sz="1800" kern="0" dirty="0" err="1" smtClean="0"/>
                  <a:t>insertion</a:t>
                </a:r>
                <a:r>
                  <a:rPr lang="ro-RO" sz="1800" kern="0" dirty="0" smtClean="0"/>
                  <a:t> sort cu c1 = 2: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18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800" b="0" i="1" kern="0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ro-RO" sz="18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18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o-RO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 ker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ro-RO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 ker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ro-RO" sz="1800" i="1" ker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a:rPr lang="ro-RO" sz="1800" i="1" ker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ro-RO" sz="18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ro-RO" sz="1800" i="1" kern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b="0" i="1" kern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ro-RO" sz="1800" b="0" i="1" kern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lang="ro-RO" sz="1800" kern="0" dirty="0" smtClean="0"/>
                  <a:t>= 20 000 sec.</a:t>
                </a:r>
              </a:p>
              <a:p>
                <a:pPr lvl="1"/>
                <a:r>
                  <a:rPr lang="ro-RO" sz="1800" kern="0" dirty="0" smtClean="0"/>
                  <a:t>Computer B, cu merge sort, cu c2 = 50: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800" b="0" i="1" kern="0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ro-RO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o-RO" sz="1800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ro-RO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o-RO" sz="1800" b="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b="0" i="1" kern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ro-RO" sz="1800" b="0" i="1" kern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ro-RO" sz="1800" b="0" i="0" kern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ro-RO" sz="1800" b="0" i="1" kern="0" smtClean="0">
                            <a:latin typeface="Cambria Math" panose="02040503050406030204" pitchFamily="18" charset="0"/>
                          </a:rPr>
                          <m:t>⁡(</m:t>
                        </m:r>
                        <m:sSup>
                          <m:sSupPr>
                            <m:ctrlPr>
                              <a:rPr lang="ro-RO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 ker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ro-RO" sz="1800" i="1" ker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ro-RO" sz="18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ro-RO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 ker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ro-RO" sz="1800" b="0" i="1" kern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a:rPr lang="ro-RO" sz="1800" b="0" i="1" kern="0" smtClean="0">
                        <a:latin typeface="Cambria Math" panose="02040503050406030204" pitchFamily="18" charset="0"/>
                      </a:rPr>
                      <m:t>=1163 </m:t>
                    </m:r>
                  </m:oMath>
                </a14:m>
                <a:r>
                  <a:rPr lang="ro-RO" sz="1800" kern="0" dirty="0" smtClean="0"/>
                  <a:t>sec</a:t>
                </a: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778" y="1556792"/>
                <a:ext cx="7772400" cy="4824536"/>
              </a:xfrm>
              <a:prstGeom prst="rect">
                <a:avLst/>
              </a:prstGeom>
              <a:blipFill rotWithShape="0">
                <a:blip r:embed="rId3"/>
                <a:stretch>
                  <a:fillRect t="-6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6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Necesitatea studierii algoritmilor</a:t>
            </a:r>
            <a:r>
              <a:rPr lang="en-US" sz="3200" dirty="0"/>
              <a:t> (II)</a:t>
            </a:r>
            <a:endParaRPr lang="ro-RO" sz="3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643050"/>
            <a:ext cx="6261100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000100" y="3929066"/>
            <a:ext cx="5357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ro-RO" sz="1600" dirty="0"/>
              <a:t>calculator capabil să efectueze 10</a:t>
            </a:r>
            <a:r>
              <a:rPr lang="ro-RO" sz="1600" baseline="30000" dirty="0"/>
              <a:t>9</a:t>
            </a:r>
            <a:r>
              <a:rPr lang="ro-RO" sz="1600" dirty="0"/>
              <a:t> instrucţiuni/secundă</a:t>
            </a:r>
            <a:r>
              <a:rPr lang="en-US" sz="1600" dirty="0"/>
              <a:t>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4500570"/>
            <a:ext cx="6257925" cy="223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1242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Analiza unui algoritm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1800" dirty="0"/>
              <a:t>Inseamnă să identificăm resursele necesare execuției algoritmului</a:t>
            </a:r>
          </a:p>
          <a:p>
            <a:pPr lvl="1"/>
            <a:r>
              <a:rPr lang="ro-RO" sz="1600" dirty="0"/>
              <a:t>Memorie, latime de bandă pentru comunicații, hardware necesar etc.</a:t>
            </a:r>
          </a:p>
          <a:p>
            <a:r>
              <a:rPr lang="ro-RO" sz="2000" dirty="0"/>
              <a:t>Utilizarea unui model generic de calculator</a:t>
            </a:r>
          </a:p>
          <a:p>
            <a:pPr lvl="1"/>
            <a:r>
              <a:rPr lang="ro-RO" sz="1600" dirty="0"/>
              <a:t>Un singur procesor</a:t>
            </a:r>
          </a:p>
          <a:p>
            <a:pPr lvl="1"/>
            <a:r>
              <a:rPr lang="ro-RO" sz="1600" dirty="0"/>
              <a:t>Model </a:t>
            </a:r>
            <a:r>
              <a:rPr lang="ro-RO" sz="1600" b="1" i="1" dirty="0"/>
              <a:t>random-access machine</a:t>
            </a:r>
            <a:r>
              <a:rPr lang="ro-RO" sz="1600" dirty="0"/>
              <a:t> pentru procesor: instructiunile se execută secvențial (una după alta), și nu există posibilitate de concurență</a:t>
            </a:r>
          </a:p>
          <a:p>
            <a:pPr lvl="1"/>
            <a:r>
              <a:rPr lang="ro-RO" sz="1600" dirty="0"/>
              <a:t>Se presupune că instrucțiunile permise pe procesor se execută toate intr-un timp constant</a:t>
            </a:r>
          </a:p>
          <a:p>
            <a:pPr lvl="1"/>
            <a:r>
              <a:rPr lang="ro-RO" sz="1600" dirty="0"/>
              <a:t>Presupunem că procesorul poate lucra cu date de tip intreg sau flotant, fără ca precizia să fie de larg interes (in demersul nostru de analiză a algoritmului)</a:t>
            </a:r>
          </a:p>
          <a:p>
            <a:pPr lvl="1"/>
            <a:endParaRPr lang="ro-RO" sz="1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3768" y="6248400"/>
            <a:ext cx="3536032" cy="457200"/>
          </a:xfrm>
        </p:spPr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512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Complexitatea algoritmilor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1800" i="1" dirty="0"/>
                  <a:t>Rata de creștere</a:t>
                </a:r>
                <a:r>
                  <a:rPr lang="ro-RO" sz="1800" dirty="0"/>
                  <a:t> a timpului de execuție: ne interesează doar termenul cel mai semnificativ din T(n), adică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𝑎</m:t>
                    </m:r>
                    <m:sSup>
                      <m:sSup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ro-RO" sz="1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o-RO" sz="1800" b="0" i="1" smtClean="0">
                        <a:latin typeface="Cambria Math"/>
                      </a:rPr>
                      <m:t>.</m:t>
                    </m:r>
                  </m:oMath>
                </a14:m>
                <a:endParaRPr lang="ro-RO" sz="1800" dirty="0"/>
              </a:p>
              <a:p>
                <a:r>
                  <a:rPr lang="ro-RO" sz="1800" dirty="0"/>
                  <a:t>=</a:t>
                </a:r>
                <a:r>
                  <a:rPr lang="en-US" sz="1800" dirty="0"/>
                  <a:t>&gt;complexitatea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Θ</m:t>
                    </m:r>
                    <m:r>
                      <a:rPr lang="en-US" sz="18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1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endParaRPr lang="ro-RO" sz="1800" dirty="0"/>
              </a:p>
              <a:p>
                <a:r>
                  <a:rPr lang="en-US" sz="1800" dirty="0"/>
                  <a:t>Un </a:t>
                </a:r>
                <a:r>
                  <a:rPr lang="en-US" sz="1800" dirty="0" err="1"/>
                  <a:t>algoritm</a:t>
                </a:r>
                <a:r>
                  <a:rPr lang="en-US" sz="1800" dirty="0"/>
                  <a:t> </a:t>
                </a:r>
                <a:r>
                  <a:rPr lang="en-US" sz="1800" dirty="0" err="1"/>
                  <a:t>este</a:t>
                </a:r>
                <a:r>
                  <a:rPr lang="en-US" sz="1800" dirty="0"/>
                  <a:t> </a:t>
                </a:r>
                <a:r>
                  <a:rPr lang="en-US" sz="1800" b="1" i="1" dirty="0" err="1"/>
                  <a:t>mai</a:t>
                </a:r>
                <a:r>
                  <a:rPr lang="en-US" sz="1800" b="1" i="1" dirty="0"/>
                  <a:t> </a:t>
                </a:r>
                <a:r>
                  <a:rPr lang="en-US" sz="1800" b="1" i="1" dirty="0" err="1"/>
                  <a:t>eficient</a:t>
                </a:r>
                <a:r>
                  <a:rPr lang="en-US" sz="1800" b="1" i="1" dirty="0"/>
                  <a:t> </a:t>
                </a:r>
                <a:r>
                  <a:rPr lang="en-US" sz="1800" dirty="0" err="1"/>
                  <a:t>dec</a:t>
                </a:r>
                <a:r>
                  <a:rPr lang="ro-RO" sz="1800" dirty="0"/>
                  <a:t>ât altul dacă are o rată de creștere mai mică, pentru cazul cel mai defavorabil</a:t>
                </a:r>
              </a:p>
              <a:p>
                <a:endParaRPr lang="ro-RO" sz="1800" dirty="0"/>
              </a:p>
              <a:p>
                <a:r>
                  <a:rPr lang="ro-RO" sz="1800" i="1" dirty="0"/>
                  <a:t>Eficiența asimptotică</a:t>
                </a:r>
                <a:r>
                  <a:rPr lang="ro-RO" sz="1800" dirty="0"/>
                  <a:t> a algoritmilor: atunci când rata de creștere a timpului de execuție devine esențială considerând mărimi mari ale setului de date de intrare</a:t>
                </a:r>
              </a:p>
              <a:p>
                <a:endParaRPr lang="ro-RO" sz="1800" dirty="0"/>
              </a:p>
              <a:p>
                <a:endParaRPr lang="ro-RO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>
                <a:blip r:embed="rId2"/>
                <a:stretch>
                  <a:fillRect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285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Sortarea prin inserție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0" y="1428736"/>
            <a:ext cx="4447032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71472" y="1571612"/>
            <a:ext cx="3581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o-RO" sz="1800" b="1" kern="0" dirty="0"/>
              <a:t>Ideea de sortare:</a:t>
            </a:r>
          </a:p>
          <a:p>
            <a:r>
              <a:rPr lang="ro-RO" sz="1800" kern="0" dirty="0"/>
              <a:t>Pornim cu un sir gol de numere</a:t>
            </a:r>
          </a:p>
          <a:p>
            <a:r>
              <a:rPr lang="ro-RO" sz="1800" kern="0" dirty="0"/>
              <a:t>Luăm câte un număr din șirul inițial și il plasăm in sirul sortat la poziția corespunzătoare</a:t>
            </a:r>
          </a:p>
          <a:p>
            <a:r>
              <a:rPr lang="ro-RO" sz="1800" kern="0" dirty="0"/>
              <a:t>Plasarea numărului in șir la poziția corespunzătoare se face prin comparare succesivă de la stânga la dreapta sau invers</a:t>
            </a:r>
            <a:endParaRPr lang="en-US" kern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70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Sortarea prin inseție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4191000"/>
            <a:ext cx="8239991" cy="2286000"/>
          </a:xfrm>
        </p:spPr>
        <p:txBody>
          <a:bodyPr/>
          <a:lstStyle/>
          <a:p>
            <a:r>
              <a:rPr lang="ro-RO" sz="1600" b="1" dirty="0"/>
              <a:t>Loop invariant:</a:t>
            </a:r>
            <a:r>
              <a:rPr lang="ro-RO" sz="1600" dirty="0"/>
              <a:t> la fiecare început al iterației for, subșirul A</a:t>
            </a:r>
            <a:r>
              <a:rPr lang="en-US" sz="1600" dirty="0"/>
              <a:t>[1..j-1] </a:t>
            </a:r>
            <a:r>
              <a:rPr lang="en-US" sz="1600" dirty="0" err="1"/>
              <a:t>este</a:t>
            </a:r>
            <a:r>
              <a:rPr lang="en-US" sz="1600" dirty="0"/>
              <a:t> format din </a:t>
            </a:r>
            <a:r>
              <a:rPr lang="ro-RO" sz="1600" i="1" dirty="0"/>
              <a:t>exact</a:t>
            </a:r>
            <a:r>
              <a:rPr lang="ro-RO" sz="1600" dirty="0"/>
              <a:t> aceleași elemente care se alfă la inceputul sortării în subșirul A</a:t>
            </a:r>
            <a:r>
              <a:rPr lang="en-US" sz="1600" dirty="0"/>
              <a:t>[1..j-1], </a:t>
            </a:r>
            <a:r>
              <a:rPr lang="en-US" sz="1600" dirty="0" err="1"/>
              <a:t>dar</a:t>
            </a:r>
            <a:r>
              <a:rPr lang="en-US" sz="1600" dirty="0"/>
              <a:t> </a:t>
            </a:r>
            <a:r>
              <a:rPr lang="ro-RO" sz="1600" dirty="0"/>
              <a:t>într-o ordine sortată</a:t>
            </a:r>
          </a:p>
          <a:p>
            <a:r>
              <a:rPr lang="ro-RO" sz="1600" i="1" dirty="0"/>
              <a:t>Inițializare:</a:t>
            </a:r>
            <a:r>
              <a:rPr lang="ro-RO" sz="1600" dirty="0"/>
              <a:t> condiția </a:t>
            </a:r>
            <a:r>
              <a:rPr lang="ro-RO" sz="1600" i="1" dirty="0"/>
              <a:t>Loop invariant</a:t>
            </a:r>
            <a:r>
              <a:rPr lang="ro-RO" sz="1600" dirty="0"/>
              <a:t> este adevărată înainte de execuția buclei for</a:t>
            </a:r>
          </a:p>
          <a:p>
            <a:r>
              <a:rPr lang="ro-RO" sz="1600" i="1" dirty="0"/>
              <a:t>Mentenanță</a:t>
            </a:r>
            <a:r>
              <a:rPr lang="ro-RO" sz="1600" dirty="0"/>
              <a:t>: condiția Loop invariant este adevărată înaintea inceperii unei iterații din bucla for și rămâne adevărată inaintea inceperii următoarei iterații</a:t>
            </a:r>
          </a:p>
          <a:p>
            <a:r>
              <a:rPr lang="ro-RO" sz="1600" i="1" dirty="0"/>
              <a:t>Terminare:</a:t>
            </a:r>
            <a:r>
              <a:rPr lang="ro-RO" sz="1600" dirty="0"/>
              <a:t> condiția Loop invariant este adevărată după execuția buclei for – astfel, ne furnizează o proprietate esențială pentru a demonstra că algoritmul este corect</a:t>
            </a:r>
          </a:p>
        </p:txBody>
      </p:sp>
      <p:pic>
        <p:nvPicPr>
          <p:cNvPr id="2050" name="Picture 2" descr="http://highered.mcgraw-hill.com/sites/dl/free/0070131511/25317/insertion_sort_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1"/>
            <a:ext cx="4866966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737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Analiza sortării prin inseție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1828800"/>
          </a:xfrm>
        </p:spPr>
        <p:txBody>
          <a:bodyPr/>
          <a:lstStyle/>
          <a:p>
            <a:r>
              <a:rPr lang="ro-RO" sz="1800" i="1" dirty="0"/>
              <a:t>Mărimea datelor de intrare (input size)</a:t>
            </a:r>
            <a:r>
              <a:rPr lang="ro-RO" sz="1800" dirty="0"/>
              <a:t>: in general, este numărul de itemi din setul de intrare</a:t>
            </a:r>
          </a:p>
          <a:p>
            <a:r>
              <a:rPr lang="ro-RO" sz="1800" i="1" dirty="0"/>
              <a:t>Timpul de execuție</a:t>
            </a:r>
            <a:r>
              <a:rPr lang="ro-RO" sz="1800" dirty="0"/>
              <a:t>: reprezintă numărul de operații primitive necesar a se executa pentru ca algoritmul să ajungă la soluție</a:t>
            </a:r>
          </a:p>
          <a:p>
            <a:pPr lvl="1"/>
            <a:r>
              <a:rPr lang="ro-RO" sz="1600" dirty="0"/>
              <a:t>Este necesar să se definească operația primitivă într-un mod independent de mașina de calcul</a:t>
            </a:r>
          </a:p>
          <a:p>
            <a:endParaRPr lang="ro-RO" sz="1800" dirty="0"/>
          </a:p>
          <a:p>
            <a:endParaRPr lang="ro-RO" sz="1800" dirty="0"/>
          </a:p>
          <a:p>
            <a:endParaRPr lang="ro-RO" sz="1800" dirty="0"/>
          </a:p>
        </p:txBody>
      </p:sp>
      <p:pic>
        <p:nvPicPr>
          <p:cNvPr id="3074" name="Picture 2" descr="http://highered.mcgraw-hill.com/sites/dl/free/0070131511/25317/insertion_sort_a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76599"/>
            <a:ext cx="7315200" cy="318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135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Analiza sortării prin inseție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876800"/>
              </a:xfrm>
            </p:spPr>
            <p:txBody>
              <a:bodyPr/>
              <a:lstStyle/>
              <a:p>
                <a:r>
                  <a:rPr lang="ro-RO" sz="1800" dirty="0"/>
                  <a:t>Cazul cel mai favorabil (best case): sirul este deja sortat. =</a:t>
                </a:r>
                <a:r>
                  <a:rPr lang="en-US" sz="1800" dirty="0"/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r>
                      <a:rPr lang="en-US" sz="1600" b="0" i="1" smtClean="0">
                        <a:latin typeface="Cambria Math"/>
                      </a:rPr>
                      <m:t>𝑎𝑛</m:t>
                    </m:r>
                    <m:r>
                      <a:rPr lang="en-US" sz="1600" b="0" i="1" smtClean="0">
                        <a:latin typeface="Cambria Math"/>
                      </a:rPr>
                      <m:t>+</m:t>
                    </m:r>
                    <m:r>
                      <a:rPr lang="en-US" sz="1600" b="0" i="1" smtClean="0">
                        <a:latin typeface="Cambria Math"/>
                      </a:rPr>
                      <m:t>𝑏</m:t>
                    </m:r>
                  </m:oMath>
                </a14:m>
                <a:endParaRPr lang="en-US" sz="1400" dirty="0"/>
              </a:p>
              <a:p>
                <a:r>
                  <a:rPr lang="en-US" sz="1800" dirty="0" err="1"/>
                  <a:t>Cazulcelmaidefavorabil</a:t>
                </a:r>
                <a:r>
                  <a:rPr lang="en-US" sz="1800" dirty="0"/>
                  <a:t> (worst case): </a:t>
                </a:r>
                <a:r>
                  <a:rPr lang="en-US" sz="1800" dirty="0" err="1"/>
                  <a:t>siruleste</a:t>
                </a:r>
                <a:r>
                  <a:rPr lang="en-US" sz="1800" dirty="0"/>
                  <a:t> in </a:t>
                </a:r>
                <a:r>
                  <a:rPr lang="en-US" sz="1800" dirty="0" err="1"/>
                  <a:t>ordine</a:t>
                </a:r>
                <a:r>
                  <a:rPr lang="en-US" sz="1800" dirty="0"/>
                  <a:t> invers</a:t>
                </a:r>
                <a:r>
                  <a:rPr lang="ro-RO" sz="1800" dirty="0"/>
                  <a:t>ă: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=</m:t>
                    </m:r>
                  </m:oMath>
                </a14:m>
                <a:r>
                  <a:rPr lang="ro-RO" sz="1800" dirty="0"/>
                  <a:t>j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a:rPr lang="ro-RO" sz="1600" b="0" i="1" smtClean="0">
                        <a:latin typeface="Cambria Math"/>
                      </a:rPr>
                      <m:t>𝑎</m:t>
                    </m:r>
                    <m:sSup>
                      <m:sSup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o-RO" sz="1600" b="0" i="1" smtClean="0">
                        <a:latin typeface="Cambria Math"/>
                      </a:rPr>
                      <m:t>+</m:t>
                    </m:r>
                    <m:r>
                      <a:rPr lang="ro-RO" sz="1600" b="0" i="1" smtClean="0">
                        <a:latin typeface="Cambria Math"/>
                      </a:rPr>
                      <m:t>𝑏𝑛</m:t>
                    </m:r>
                    <m:r>
                      <a:rPr lang="ro-RO" sz="1600" b="0" i="1" smtClean="0">
                        <a:latin typeface="Cambria Math"/>
                      </a:rPr>
                      <m:t>+</m:t>
                    </m:r>
                    <m:r>
                      <a:rPr lang="ro-RO" sz="1600" b="0" i="1" smtClean="0">
                        <a:latin typeface="Cambria Math"/>
                      </a:rPr>
                      <m:t>𝑐</m:t>
                    </m:r>
                  </m:oMath>
                </a14:m>
                <a:endParaRPr lang="ro-RO" sz="1600" b="0" dirty="0"/>
              </a:p>
              <a:p>
                <a:r>
                  <a:rPr lang="ro-RO" sz="1800" dirty="0"/>
                  <a:t>În majoritatea cazurilor, la analiza unui algoritm trebuie să ne concentrăm pe analiza cazului cel mai defavorabil</a:t>
                </a:r>
              </a:p>
              <a:p>
                <a:endParaRPr lang="ro-RO" sz="1800" dirty="0"/>
              </a:p>
              <a:p>
                <a:r>
                  <a:rPr lang="ro-RO" sz="1800" i="1" dirty="0"/>
                  <a:t>Cazul cel mai defavorabil</a:t>
                </a:r>
                <a:r>
                  <a:rPr lang="ro-RO" sz="1800" dirty="0"/>
                  <a:t>: pentru o anume dimensiune </a:t>
                </a:r>
                <a:r>
                  <a:rPr lang="ro-RO" sz="1800" i="1" dirty="0"/>
                  <a:t>n</a:t>
                </a:r>
                <a:r>
                  <a:rPr lang="ro-RO" sz="1800" dirty="0"/>
                  <a:t> a datelor de intrare, reprezintă acele date de intrare care generează timpul de execuție maxim al algoritmului</a:t>
                </a:r>
              </a:p>
              <a:p>
                <a:pPr lvl="1"/>
                <a:r>
                  <a:rPr lang="ro-RO" sz="1600" dirty="0"/>
                  <a:t>furnizează o limită superioară pentru timpul de execuție</a:t>
                </a:r>
              </a:p>
              <a:p>
                <a:pPr lvl="1"/>
                <a:r>
                  <a:rPr lang="ro-RO" sz="1600" dirty="0"/>
                  <a:t>Analiza cazului cel mai defavorabil ne garantează că timpul de execuție nu va fi nicicând mai rău</a:t>
                </a:r>
              </a:p>
              <a:p>
                <a:endParaRPr lang="ro-RO" sz="1800" dirty="0"/>
              </a:p>
              <a:p>
                <a:r>
                  <a:rPr lang="ro-RO" sz="1800" dirty="0"/>
                  <a:t>Cazul mediu (average):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𝑗</m:t>
                    </m:r>
                    <m:r>
                      <a:rPr lang="ro-RO" sz="1800" b="0" i="1" smtClean="0">
                        <a:latin typeface="Cambria Math"/>
                      </a:rPr>
                      <m:t>/2</m:t>
                    </m:r>
                  </m:oMath>
                </a14:m>
                <a:r>
                  <a:rPr lang="ro-RO" sz="1800" dirty="0"/>
                  <a:t>. =</a:t>
                </a:r>
                <a:r>
                  <a:rPr lang="en-US" sz="1800" dirty="0"/>
                  <a:t>&gt;</a:t>
                </a:r>
                <a:r>
                  <a:rPr lang="ro-RO" sz="1800" dirty="0"/>
                  <a:t> timp de execuție funcție pătratică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876800"/>
              </a:xfrm>
              <a:blipFill rotWithShape="1">
                <a:blip r:embed="rId2"/>
                <a:stretch>
                  <a:fillRect t="-75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15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 smtClean="0"/>
              <a:t>Recursivitate</a:t>
            </a:r>
            <a:r>
              <a:rPr lang="en-US" sz="3200" dirty="0" smtClean="0"/>
              <a:t> (I)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fr-FR" sz="1800" dirty="0" err="1"/>
              <a:t>Mecanism</a:t>
            </a:r>
            <a:r>
              <a:rPr lang="fr-FR" sz="1800" dirty="0"/>
              <a:t> </a:t>
            </a:r>
            <a:r>
              <a:rPr lang="fr-FR" sz="1800" dirty="0" err="1"/>
              <a:t>prin</a:t>
            </a:r>
            <a:r>
              <a:rPr lang="fr-FR" sz="1800" dirty="0"/>
              <a:t> care un </a:t>
            </a:r>
            <a:r>
              <a:rPr lang="fr-FR" sz="1800" dirty="0" err="1"/>
              <a:t>subprogram</a:t>
            </a:r>
            <a:r>
              <a:rPr lang="fr-FR" sz="1800" dirty="0"/>
              <a:t> (</a:t>
            </a:r>
            <a:r>
              <a:rPr lang="fr-FR" sz="1800" dirty="0" err="1"/>
              <a:t>procedură</a:t>
            </a:r>
            <a:r>
              <a:rPr lang="fr-FR" sz="1800" dirty="0"/>
              <a:t>, </a:t>
            </a:r>
            <a:r>
              <a:rPr lang="fr-FR" sz="1800" dirty="0" err="1"/>
              <a:t>funcţie</a:t>
            </a:r>
            <a:r>
              <a:rPr lang="fr-FR" sz="1800" dirty="0"/>
              <a:t>) se </a:t>
            </a:r>
            <a:r>
              <a:rPr lang="fr-FR" sz="1800" dirty="0" err="1"/>
              <a:t>autoapelează</a:t>
            </a:r>
            <a:r>
              <a:rPr lang="fr-FR" sz="1800" dirty="0"/>
              <a:t>.</a:t>
            </a:r>
          </a:p>
          <a:p>
            <a:endParaRPr lang="fr-FR" sz="1800" dirty="0"/>
          </a:p>
          <a:p>
            <a:r>
              <a:rPr lang="fr-FR" sz="1800" dirty="0"/>
              <a:t>Un </a:t>
            </a:r>
            <a:r>
              <a:rPr lang="fr-FR" sz="1800" dirty="0" err="1"/>
              <a:t>algoritm</a:t>
            </a:r>
            <a:r>
              <a:rPr lang="fr-FR" sz="1800" dirty="0"/>
              <a:t> </a:t>
            </a:r>
            <a:r>
              <a:rPr lang="fr-FR" sz="1800" dirty="0" err="1"/>
              <a:t>recursiv</a:t>
            </a:r>
            <a:r>
              <a:rPr lang="fr-FR" sz="1800" dirty="0"/>
              <a:t> </a:t>
            </a:r>
            <a:r>
              <a:rPr lang="fr-FR" sz="1800" dirty="0" err="1"/>
              <a:t>poate</a:t>
            </a:r>
            <a:r>
              <a:rPr lang="fr-FR" sz="1800" dirty="0"/>
              <a:t> </a:t>
            </a:r>
            <a:r>
              <a:rPr lang="fr-FR" sz="1800" dirty="0" err="1"/>
              <a:t>avea</a:t>
            </a:r>
            <a:r>
              <a:rPr lang="fr-FR" sz="1800" dirty="0"/>
              <a:t> un </a:t>
            </a:r>
            <a:r>
              <a:rPr lang="fr-FR" sz="1800" dirty="0" err="1"/>
              <a:t>echivalent</a:t>
            </a:r>
            <a:r>
              <a:rPr lang="fr-FR" sz="1800" dirty="0"/>
              <a:t> </a:t>
            </a:r>
            <a:r>
              <a:rPr lang="fr-FR" sz="1800" dirty="0" err="1"/>
              <a:t>nerecursiv</a:t>
            </a:r>
            <a:r>
              <a:rPr lang="fr-FR" sz="1800" dirty="0"/>
              <a:t> </a:t>
            </a:r>
            <a:r>
              <a:rPr lang="fr-FR" sz="1800" dirty="0" err="1"/>
              <a:t>şi</a:t>
            </a:r>
            <a:r>
              <a:rPr lang="fr-FR" sz="1800" dirty="0"/>
              <a:t> </a:t>
            </a:r>
            <a:r>
              <a:rPr lang="fr-FR" sz="1800" dirty="0" err="1"/>
              <a:t>invers</a:t>
            </a:r>
            <a:r>
              <a:rPr lang="fr-FR" sz="1800" dirty="0"/>
              <a:t>.</a:t>
            </a:r>
          </a:p>
          <a:p>
            <a:endParaRPr lang="en-US" sz="1800" dirty="0"/>
          </a:p>
          <a:p>
            <a:r>
              <a:rPr lang="fr-FR" sz="1800" dirty="0" err="1"/>
              <a:t>Implementarea</a:t>
            </a:r>
            <a:r>
              <a:rPr lang="fr-FR" sz="1800" dirty="0"/>
              <a:t> </a:t>
            </a:r>
            <a:r>
              <a:rPr lang="fr-FR" sz="1800" dirty="0" err="1"/>
              <a:t>recursivităţii</a:t>
            </a:r>
            <a:r>
              <a:rPr lang="fr-FR" sz="1800" dirty="0"/>
              <a:t> are la </a:t>
            </a:r>
            <a:r>
              <a:rPr lang="fr-FR" sz="1800" dirty="0" err="1"/>
              <a:t>bază</a:t>
            </a:r>
            <a:r>
              <a:rPr lang="fr-FR" sz="1800" dirty="0"/>
              <a:t> structura de date </a:t>
            </a:r>
            <a:r>
              <a:rPr lang="fr-FR" sz="1800" dirty="0" err="1"/>
              <a:t>denumită</a:t>
            </a:r>
            <a:r>
              <a:rPr lang="fr-FR" sz="1800" dirty="0"/>
              <a:t> </a:t>
            </a:r>
            <a:r>
              <a:rPr lang="fr-FR" sz="1800" i="1" dirty="0" err="1"/>
              <a:t>stivă</a:t>
            </a:r>
            <a:r>
              <a:rPr lang="fr-FR" sz="1800" dirty="0"/>
              <a:t>. </a:t>
            </a:r>
          </a:p>
          <a:p>
            <a:pPr lvl="1"/>
            <a:r>
              <a:rPr lang="ro-RO" sz="1400" dirty="0"/>
              <a:t>Stiva este acea formă de organizare a datelor (structură de date) cu proprietatea că operaţiile de introducere şi scoatere a datelor se fac în vârful ei.</a:t>
            </a:r>
            <a:endParaRPr lang="en-US" sz="1400" dirty="0"/>
          </a:p>
          <a:p>
            <a:pPr lvl="1"/>
            <a:r>
              <a:rPr lang="ro-RO" sz="1400" dirty="0"/>
              <a:t>O stivă funcţionează după principiul LIFO („Last in First Out”, în traducere „Ultimul intrat, primul ieşit”). </a:t>
            </a:r>
            <a:endParaRPr lang="en-US" sz="1400" dirty="0"/>
          </a:p>
          <a:p>
            <a:endParaRPr lang="ro-RO" sz="1600" dirty="0"/>
          </a:p>
          <a:p>
            <a:pPr lvl="1"/>
            <a:endParaRPr lang="ro-RO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82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 smtClean="0"/>
              <a:t>Recursivitate</a:t>
            </a:r>
            <a:r>
              <a:rPr lang="en-US" sz="3200" dirty="0" smtClean="0"/>
              <a:t> (II)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1800" dirty="0"/>
              <a:t>Din punct de vedere al modului în care se realizează autoapelul, există două tipuri de recursivitate</a:t>
            </a:r>
            <a:r>
              <a:rPr lang="en-US" sz="1800" dirty="0"/>
              <a:t>:</a:t>
            </a:r>
            <a:endParaRPr lang="en-US" sz="1800" b="1" dirty="0"/>
          </a:p>
          <a:p>
            <a:pPr lvl="1"/>
            <a:r>
              <a:rPr lang="en-US" sz="1400" i="1" dirty="0"/>
              <a:t>D</a:t>
            </a:r>
            <a:r>
              <a:rPr lang="ro-RO" sz="1400" i="1" dirty="0" err="1" smtClean="0"/>
              <a:t>irectă</a:t>
            </a:r>
            <a:r>
              <a:rPr lang="en-US" sz="1400" dirty="0" smtClean="0"/>
              <a:t>: </a:t>
            </a:r>
            <a:r>
              <a:rPr lang="ro-RO" sz="1400" dirty="0" smtClean="0"/>
              <a:t>procedura </a:t>
            </a:r>
            <a:r>
              <a:rPr lang="ro-RO" sz="1400" dirty="0"/>
              <a:t>(sau </a:t>
            </a:r>
            <a:r>
              <a:rPr lang="ro-RO" sz="1400" dirty="0" err="1"/>
              <a:t>funcţia</a:t>
            </a:r>
            <a:r>
              <a:rPr lang="ro-RO" sz="1400" dirty="0"/>
              <a:t>) se </a:t>
            </a:r>
            <a:r>
              <a:rPr lang="ro-RO" sz="1400" dirty="0" err="1"/>
              <a:t>autoapelează</a:t>
            </a:r>
            <a:r>
              <a:rPr lang="ro-RO" sz="1400" dirty="0"/>
              <a:t> (în corpul său). Exemplul clasic este definirea </a:t>
            </a:r>
            <a:r>
              <a:rPr lang="ro-RO" sz="1400" dirty="0" err="1"/>
              <a:t>funcţiei</a:t>
            </a:r>
            <a:r>
              <a:rPr lang="ro-RO" sz="1400" dirty="0"/>
              <a:t> factorial:</a:t>
            </a:r>
            <a:r>
              <a:rPr lang="en-US" sz="1400" b="1" dirty="0"/>
              <a:t> </a:t>
            </a:r>
            <a:r>
              <a:rPr lang="ro-RO" sz="1400" dirty="0"/>
              <a:t>n!=(n-1)!</a:t>
            </a:r>
            <a:r>
              <a:rPr lang="ro-RO" sz="1400" dirty="0">
                <a:sym typeface="Symbol"/>
              </a:rPr>
              <a:t></a:t>
            </a:r>
            <a:r>
              <a:rPr lang="ro-RO" sz="1400" dirty="0"/>
              <a:t>n, 0!=1, </a:t>
            </a:r>
            <a:r>
              <a:rPr lang="ro-RO" sz="1400" dirty="0" err="1"/>
              <a:t>n</a:t>
            </a:r>
            <a:r>
              <a:rPr lang="ro-RO" sz="1400" dirty="0" err="1">
                <a:sym typeface="Symbol"/>
              </a:rPr>
              <a:t></a:t>
            </a:r>
            <a:r>
              <a:rPr lang="ro-RO" sz="1400" dirty="0" err="1"/>
              <a:t>N</a:t>
            </a:r>
            <a:r>
              <a:rPr lang="ro-RO" sz="1400" dirty="0"/>
              <a:t>.</a:t>
            </a:r>
            <a:endParaRPr lang="en-US" sz="1400" dirty="0"/>
          </a:p>
          <a:p>
            <a:pPr lvl="1"/>
            <a:r>
              <a:rPr lang="en-US" sz="1400" i="1" dirty="0"/>
              <a:t>Indi</a:t>
            </a:r>
            <a:r>
              <a:rPr lang="ro-RO" sz="1400" i="1" dirty="0" err="1"/>
              <a:t>rectă</a:t>
            </a:r>
            <a:r>
              <a:rPr lang="en-US" sz="1400" i="1" dirty="0"/>
              <a:t>: </a:t>
            </a:r>
            <a:r>
              <a:rPr lang="ro-RO" sz="1400" dirty="0"/>
              <a:t>are loc atunci când o procedură (</a:t>
            </a:r>
            <a:r>
              <a:rPr lang="ro-RO" sz="1400" dirty="0" err="1"/>
              <a:t>funcţie</a:t>
            </a:r>
            <a:r>
              <a:rPr lang="ro-RO" sz="1400" dirty="0"/>
              <a:t>) apelează o altă procedură (</a:t>
            </a:r>
            <a:r>
              <a:rPr lang="ro-RO" sz="1400" dirty="0" err="1"/>
              <a:t>funcţie</a:t>
            </a:r>
            <a:r>
              <a:rPr lang="ro-RO" sz="1400" dirty="0"/>
              <a:t>), care la rândul ei o apelează pe ea. </a:t>
            </a:r>
            <a:r>
              <a:rPr lang="en-US" sz="1400" dirty="0"/>
              <a:t>Ex: 2</a:t>
            </a:r>
            <a:r>
              <a:rPr lang="fr-FR" sz="1400" dirty="0"/>
              <a:t> </a:t>
            </a:r>
            <a:r>
              <a:rPr lang="fr-FR" sz="1400" dirty="0" err="1"/>
              <a:t>valori</a:t>
            </a:r>
            <a:r>
              <a:rPr lang="fr-FR" sz="1400" dirty="0"/>
              <a:t> </a:t>
            </a:r>
            <a:r>
              <a:rPr lang="fr-FR" sz="1400" dirty="0" err="1"/>
              <a:t>reale</a:t>
            </a:r>
            <a:r>
              <a:rPr lang="fr-FR" sz="1400" dirty="0"/>
              <a:t>, </a:t>
            </a:r>
            <a:r>
              <a:rPr lang="fr-FR" sz="1400" dirty="0" err="1"/>
              <a:t>pozitive</a:t>
            </a:r>
            <a:r>
              <a:rPr lang="fr-FR" sz="1400" dirty="0"/>
              <a:t> a</a:t>
            </a:r>
            <a:r>
              <a:rPr lang="fr-FR" sz="1400" baseline="-25000" dirty="0"/>
              <a:t>0</a:t>
            </a:r>
            <a:r>
              <a:rPr lang="fr-FR" sz="1400" dirty="0"/>
              <a:t>,b</a:t>
            </a:r>
            <a:r>
              <a:rPr lang="fr-FR" sz="1400" baseline="-25000" dirty="0"/>
              <a:t>0</a:t>
            </a:r>
            <a:r>
              <a:rPr lang="fr-FR" sz="1400" dirty="0"/>
              <a:t> </a:t>
            </a:r>
            <a:r>
              <a:rPr lang="fr-FR" sz="1400" dirty="0" err="1"/>
              <a:t>şi</a:t>
            </a:r>
            <a:r>
              <a:rPr lang="fr-FR" sz="1400" dirty="0"/>
              <a:t> n un </a:t>
            </a:r>
            <a:r>
              <a:rPr lang="fr-FR" sz="1400" dirty="0" err="1"/>
              <a:t>număr</a:t>
            </a:r>
            <a:r>
              <a:rPr lang="fr-FR" sz="1400" dirty="0"/>
              <a:t> </a:t>
            </a:r>
            <a:r>
              <a:rPr lang="fr-FR" sz="1400" dirty="0" err="1"/>
              <a:t>natural</a:t>
            </a:r>
            <a:r>
              <a:rPr lang="fr-FR" sz="1400" dirty="0"/>
              <a:t>. </a:t>
            </a:r>
            <a:r>
              <a:rPr lang="ro-RO" sz="1400" dirty="0"/>
              <a:t>Definim </a:t>
            </a:r>
            <a:r>
              <a:rPr lang="ro-RO" sz="1400" dirty="0" err="1"/>
              <a:t>şir</a:t>
            </a:r>
            <a:r>
              <a:rPr lang="en-US" sz="1400" dirty="0" err="1"/>
              <a:t>urile</a:t>
            </a:r>
            <a:r>
              <a:rPr lang="ro-RO" sz="1400" dirty="0"/>
              <a:t>:</a:t>
            </a:r>
            <a:r>
              <a:rPr lang="en-US" sz="1400" dirty="0"/>
              <a:t> </a:t>
            </a:r>
            <a:r>
              <a:rPr lang="ro-RO" sz="1400" dirty="0"/>
              <a:t>a</a:t>
            </a:r>
            <a:r>
              <a:rPr lang="ro-RO" sz="1400" baseline="-25000" dirty="0"/>
              <a:t>n</a:t>
            </a:r>
            <a:r>
              <a:rPr lang="ro-RO" sz="1400" dirty="0"/>
              <a:t>=(a</a:t>
            </a:r>
            <a:r>
              <a:rPr lang="ro-RO" sz="1400" baseline="-25000" dirty="0"/>
              <a:t>n-1</a:t>
            </a:r>
            <a:r>
              <a:rPr lang="ro-RO" sz="1400" dirty="0"/>
              <a:t>+b</a:t>
            </a:r>
            <a:r>
              <a:rPr lang="ro-RO" sz="1400" baseline="-25000" dirty="0"/>
              <a:t>n-1</a:t>
            </a:r>
            <a:r>
              <a:rPr lang="ro-RO" sz="1400" dirty="0"/>
              <a:t>)/2        </a:t>
            </a:r>
            <a:r>
              <a:rPr lang="ro-RO" sz="1400" dirty="0" err="1"/>
              <a:t>b</a:t>
            </a:r>
            <a:r>
              <a:rPr lang="ro-RO" sz="1400" baseline="-25000" dirty="0" err="1"/>
              <a:t>n</a:t>
            </a:r>
            <a:r>
              <a:rPr lang="ro-RO" sz="1400" dirty="0"/>
              <a:t>=a</a:t>
            </a:r>
            <a:r>
              <a:rPr lang="ro-RO" sz="1400" baseline="-25000" dirty="0"/>
              <a:t>n-1</a:t>
            </a:r>
            <a:r>
              <a:rPr lang="ro-RO" sz="1400" dirty="0"/>
              <a:t>b</a:t>
            </a:r>
            <a:r>
              <a:rPr lang="ro-RO" sz="1400" baseline="-25000" dirty="0"/>
              <a:t>n-1</a:t>
            </a:r>
            <a:endParaRPr lang="en-US" sz="1400" b="1" dirty="0"/>
          </a:p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006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Recursivitate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3500438"/>
            <a:ext cx="7772400" cy="357190"/>
          </a:xfrm>
        </p:spPr>
        <p:txBody>
          <a:bodyPr/>
          <a:lstStyle/>
          <a:p>
            <a:pPr lvl="1">
              <a:buNone/>
            </a:pPr>
            <a:r>
              <a:rPr lang="en-US" sz="1400" dirty="0" err="1"/>
              <a:t>Exemplu</a:t>
            </a:r>
            <a:r>
              <a:rPr lang="en-US" sz="1400" dirty="0"/>
              <a:t>: 3!					</a:t>
            </a:r>
            <a:r>
              <a:rPr lang="en-US" sz="1400" dirty="0" err="1"/>
              <a:t>Exemplu</a:t>
            </a:r>
            <a:r>
              <a:rPr lang="en-US" sz="1400" dirty="0"/>
              <a:t>: 5!</a:t>
            </a:r>
          </a:p>
          <a:p>
            <a:pPr lvl="1">
              <a:buNone/>
            </a:pPr>
            <a:r>
              <a:rPr lang="en-US" sz="600" dirty="0"/>
              <a:t>				</a:t>
            </a:r>
            <a:r>
              <a:rPr lang="en-US" sz="1400" dirty="0" err="1"/>
              <a:t>Exemplu</a:t>
            </a:r>
            <a:r>
              <a:rPr lang="en-US" sz="1400" dirty="0"/>
              <a:t>: </a:t>
            </a:r>
            <a:r>
              <a:rPr lang="en-US" sz="1400" dirty="0" err="1"/>
              <a:t>Sirul</a:t>
            </a:r>
            <a:r>
              <a:rPr lang="en-US" sz="1400" dirty="0"/>
              <a:t> </a:t>
            </a:r>
            <a:r>
              <a:rPr lang="en-US" sz="1400" dirty="0" err="1"/>
              <a:t>lui</a:t>
            </a:r>
            <a:r>
              <a:rPr lang="en-US" sz="1400" dirty="0"/>
              <a:t> Fibonacci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9" name="Object 1"/>
          <p:cNvGraphicFramePr>
            <a:graphicFrameLocks noChangeAspect="1"/>
          </p:cNvGraphicFramePr>
          <p:nvPr/>
        </p:nvGraphicFramePr>
        <p:xfrm>
          <a:off x="428596" y="1428736"/>
          <a:ext cx="460057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Bitmap Image" r:id="rId3" imgW="6571429" imgH="3657143" progId="PBrush">
                  <p:embed/>
                </p:oleObj>
              </mc:Choice>
              <mc:Fallback>
                <p:oleObj name="Bitmap Image" r:id="rId3" imgW="6571429" imgH="3657143" progId="PBrush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9702"/>
                      <a:stretch>
                        <a:fillRect/>
                      </a:stretch>
                    </p:blipFill>
                    <p:spPr bwMode="auto">
                      <a:xfrm>
                        <a:off x="428596" y="1428736"/>
                        <a:ext cx="4600575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5643570" y="1285860"/>
          <a:ext cx="3009900" cy="228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7" name="Bitmap Image" r:id="rId5" imgW="4877481" imgH="3657143" progId="PBrush">
                  <p:embed/>
                </p:oleObj>
              </mc:Choice>
              <mc:Fallback>
                <p:oleObj name="Bitmap Image" r:id="rId5" imgW="4877481" imgH="3657143" progId="PBrush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8281" b="34375"/>
                      <a:stretch>
                        <a:fillRect/>
                      </a:stretch>
                    </p:blipFill>
                    <p:spPr bwMode="auto">
                      <a:xfrm>
                        <a:off x="5643570" y="1285860"/>
                        <a:ext cx="3009900" cy="22860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53" name="Object 5" descr="Fluffy bunnies family tree"/>
          <p:cNvGraphicFramePr>
            <a:graphicFrameLocks noChangeAspect="1"/>
          </p:cNvGraphicFramePr>
          <p:nvPr/>
        </p:nvGraphicFramePr>
        <p:xfrm>
          <a:off x="642910" y="4214818"/>
          <a:ext cx="284797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Picture" r:id="rId7" imgW="3601212" imgH="2734056" progId="Word.Picture.8">
                  <p:embed/>
                </p:oleObj>
              </mc:Choice>
              <mc:Fallback>
                <p:oleObj name="Picture" r:id="rId7" imgW="3601212" imgH="2734056" progId="Word.Picture.8">
                  <p:embed/>
                  <p:pic>
                    <p:nvPicPr>
                      <p:cNvPr id="0" name="Picture 5" descr="Fluffy bunnies family tre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4214818"/>
                        <a:ext cx="2847975" cy="224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55" name="Object 7"/>
          <p:cNvGraphicFramePr>
            <a:graphicFrameLocks noChangeAspect="1"/>
          </p:cNvGraphicFramePr>
          <p:nvPr/>
        </p:nvGraphicFramePr>
        <p:xfrm>
          <a:off x="4929190" y="4000500"/>
          <a:ext cx="3352800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Bitmap Image" r:id="rId9" imgW="4877481" imgH="3657143" progId="PBrush">
                  <p:embed/>
                </p:oleObj>
              </mc:Choice>
              <mc:Fallback>
                <p:oleObj name="Bitmap Image" r:id="rId9" imgW="4877481" imgH="3657143" progId="PBrush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1250" b="21875"/>
                      <a:stretch>
                        <a:fillRect/>
                      </a:stretch>
                    </p:blipFill>
                    <p:spPr bwMode="auto">
                      <a:xfrm>
                        <a:off x="4929190" y="4000500"/>
                        <a:ext cx="3352800" cy="285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- 9 Noimebrie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829819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8995</TotalTime>
  <Words>1169</Words>
  <Application>Microsoft Office PowerPoint</Application>
  <PresentationFormat>On-screen Show (4:3)</PresentationFormat>
  <Paragraphs>157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Cambria Math</vt:lpstr>
      <vt:lpstr>Symbol</vt:lpstr>
      <vt:lpstr>Tahoma</vt:lpstr>
      <vt:lpstr>Times New Roman</vt:lpstr>
      <vt:lpstr>Wingdings</vt:lpstr>
      <vt:lpstr>Blueprint</vt:lpstr>
      <vt:lpstr>Bitmap Image</vt:lpstr>
      <vt:lpstr>Picture</vt:lpstr>
      <vt:lpstr>Algoritmi și structuri de date – curs 5    - Informatică Economică, an II –</vt:lpstr>
      <vt:lpstr>Cuprins</vt:lpstr>
      <vt:lpstr>Algoritmi – definiții fundamentale (I)</vt:lpstr>
      <vt:lpstr>Algoritmi – definiții fundamentale (II)</vt:lpstr>
      <vt:lpstr>Pseudocod</vt:lpstr>
      <vt:lpstr>Necesitatea studierii algoritmilor</vt:lpstr>
      <vt:lpstr>Eficienta algoritmilor</vt:lpstr>
      <vt:lpstr>Eficienta Algoritmilor</vt:lpstr>
      <vt:lpstr>Necesitatea studierii algoritmilor (II)</vt:lpstr>
      <vt:lpstr>Analiza unui algoritm</vt:lpstr>
      <vt:lpstr>Complexitatea algoritmilor</vt:lpstr>
      <vt:lpstr>Sortarea prin inserție</vt:lpstr>
      <vt:lpstr>Sortarea prin inseție</vt:lpstr>
      <vt:lpstr>Analiza sortării prin inseție</vt:lpstr>
      <vt:lpstr>Analiza sortării prin inseție</vt:lpstr>
      <vt:lpstr>Recursivitate (I)</vt:lpstr>
      <vt:lpstr>Recursivitate (II)</vt:lpstr>
      <vt:lpstr>Recursivitate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 Cosmin Silaghi</cp:lastModifiedBy>
  <cp:revision>153</cp:revision>
  <dcterms:created xsi:type="dcterms:W3CDTF">2004-11-24T18:35:22Z</dcterms:created>
  <dcterms:modified xsi:type="dcterms:W3CDTF">2020-11-09T05:00:56Z</dcterms:modified>
</cp:coreProperties>
</file>