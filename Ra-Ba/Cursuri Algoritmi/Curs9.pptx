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9"/>
  </p:notesMasterIdLst>
  <p:sldIdLst>
    <p:sldId id="256" r:id="rId2"/>
    <p:sldId id="281" r:id="rId3"/>
    <p:sldId id="257" r:id="rId4"/>
    <p:sldId id="280" r:id="rId5"/>
    <p:sldId id="259" r:id="rId6"/>
    <p:sldId id="260" r:id="rId7"/>
    <p:sldId id="261" r:id="rId8"/>
    <p:sldId id="286" r:id="rId9"/>
    <p:sldId id="262" r:id="rId10"/>
    <p:sldId id="263" r:id="rId11"/>
    <p:sldId id="264" r:id="rId12"/>
    <p:sldId id="265" r:id="rId13"/>
    <p:sldId id="287" r:id="rId14"/>
    <p:sldId id="266" r:id="rId15"/>
    <p:sldId id="283" r:id="rId16"/>
    <p:sldId id="284" r:id="rId17"/>
    <p:sldId id="285" r:id="rId18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844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dirty="0"/>
              <a:t>Cluj-Napoca  - 12 </a:t>
            </a:r>
            <a:r>
              <a:rPr lang="en-GB" sz="1400" dirty="0" err="1"/>
              <a:t>Decembrie</a:t>
            </a:r>
            <a:r>
              <a:rPr lang="en-GB" sz="1400" dirty="0"/>
              <a:t> 2022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9 </a:t>
            </a:r>
            <a:r>
              <a:rPr lang="en-US" sz="3600" dirty="0"/>
              <a:t>   </a:t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ro-RO"/>
              <a:t>Gheorghe Cosmin Silaghi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38200" y="30480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Prelucrari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pe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grafuri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Reprezentari</a:t>
            </a:r>
            <a:r>
              <a:rPr lang="en-US" sz="2000" dirty="0"/>
              <a:t> ale </a:t>
            </a:r>
            <a:r>
              <a:rPr lang="en-US" sz="2000" dirty="0" err="1"/>
              <a:t>grafurilor</a:t>
            </a:r>
            <a:endParaRPr lang="en-US" sz="2000" dirty="0"/>
          </a:p>
          <a:p>
            <a:endParaRPr lang="ro-RO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- 12 Decembrie 2022</a:t>
            </a:r>
          </a:p>
        </p:txBody>
      </p:sp>
    </p:spTree>
    <p:extLst>
      <p:ext uri="{BB962C8B-B14F-4D97-AF65-F5344CB8AC3E}">
        <p14:creationId xmlns:p14="http://schemas.microsoft.com/office/powerpoint/2010/main" val="380037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dirty="0" err="1"/>
              <a:t>Reprezent</a:t>
            </a:r>
            <a:r>
              <a:rPr lang="ro-RO" sz="2800" dirty="0"/>
              <a:t>ări – liste de adiacență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533400" y="1676400"/>
                <a:ext cx="8534400" cy="4114800"/>
              </a:xfrm>
              <a:noFill/>
            </p:spPr>
            <p:txBody>
              <a:bodyPr/>
              <a:lstStyle/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800" dirty="0"/>
                  <a:t>Graf: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𝐺</m:t>
                    </m:r>
                    <m:r>
                      <a:rPr lang="ro-RO" sz="1800" b="0" i="1" smtClean="0">
                        <a:latin typeface="Cambria Math"/>
                      </a:rPr>
                      <m:t>=(</m:t>
                    </m:r>
                    <m:r>
                      <a:rPr lang="ro-RO" sz="1800" b="0" i="1" smtClean="0">
                        <a:latin typeface="Cambria Math"/>
                      </a:rPr>
                      <m:t>𝑉</m:t>
                    </m:r>
                    <m:r>
                      <a:rPr lang="ro-RO" sz="1800" b="0" i="1" smtClean="0">
                        <a:latin typeface="Cambria Math"/>
                      </a:rPr>
                      <m:t>,</m:t>
                    </m:r>
                    <m:r>
                      <a:rPr lang="ro-RO" sz="1800" b="0" i="1" smtClean="0">
                        <a:latin typeface="Cambria Math"/>
                      </a:rPr>
                      <m:t>𝐸</m:t>
                    </m:r>
                    <m:r>
                      <a:rPr lang="ro-RO" sz="18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i="1" dirty="0"/>
                  <a:t>  </a:t>
                </a:r>
                <a:r>
                  <a:rPr lang="ro-RO" sz="1600" dirty="0"/>
                  <a:t>V – multimea nodurilo</a:t>
                </a:r>
                <a:r>
                  <a:rPr lang="en-US" sz="1600" dirty="0"/>
                  <a:t>r</a:t>
                </a:r>
                <a:r>
                  <a:rPr lang="ro-RO" sz="1600" dirty="0"/>
                  <a:t>, E – multimea arcelor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Pentru grafuri cu densitate mică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ro-RO" sz="1600" i="1">
                        <a:latin typeface="Cambria Math"/>
                        <a:ea typeface="Cambria Math"/>
                      </a:rPr>
                      <m:t>≪</m:t>
                    </m:r>
                    <m:sSup>
                      <m:sSupPr>
                        <m:ctrlPr>
                          <a:rPr lang="ro-RO" sz="16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|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𝑉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|</m:t>
                        </m:r>
                      </m:e>
                      <m:sup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ro-RO" sz="1600" dirty="0"/>
                  <a:t>: liste de adiacență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Pentru grafuri dense: matrice de adiacență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endParaRPr lang="ro-RO" sz="16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ro-RO" sz="1600" b="1" dirty="0"/>
                  <a:t>Liste de adiacență: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Reprezintă un sir Adj de |V| liste, cate o listă pentru fiecare nod din graf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Pentru fiecare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𝑉</m:t>
                    </m:r>
                  </m:oMath>
                </a14:m>
                <a:r>
                  <a:rPr lang="ro-RO" sz="1600" dirty="0"/>
                  <a:t>,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𝐴𝑑𝑗</m:t>
                    </m:r>
                    <m:r>
                      <a:rPr lang="en-US" sz="1600" b="0" i="1" smtClean="0">
                        <a:latin typeface="Cambria Math"/>
                      </a:rPr>
                      <m:t>[</m:t>
                    </m:r>
                    <m:r>
                      <a:rPr lang="en-US" sz="1600" b="0" i="1" smtClean="0">
                        <a:latin typeface="Cambria Math"/>
                      </a:rPr>
                      <m:t>𝑢</m:t>
                    </m:r>
                    <m:r>
                      <a:rPr lang="en-US" sz="1600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en-US" sz="1600" dirty="0"/>
                  <a:t> con</a:t>
                </a:r>
                <a:r>
                  <a:rPr lang="ro-RO" sz="1600" dirty="0"/>
                  <a:t>ține toate nodurile v din graf astfel incat există un arc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)∈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𝐸</m:t>
                    </m:r>
                  </m:oMath>
                </a14:m>
                <a:r>
                  <a:rPr lang="ro-RO" sz="1600" dirty="0"/>
                  <a:t> 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Notatia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𝐺</m:t>
                    </m:r>
                    <m:r>
                      <a:rPr lang="ro-RO" sz="1600" b="0" i="1" smtClean="0">
                        <a:latin typeface="Cambria Math"/>
                      </a:rPr>
                      <m:t>.</m:t>
                    </m:r>
                    <m:r>
                      <a:rPr lang="ro-RO" sz="1600" b="0" i="1" smtClean="0">
                        <a:latin typeface="Cambria Math"/>
                      </a:rPr>
                      <m:t>𝐴𝑑𝑗</m:t>
                    </m:r>
                    <m:r>
                      <a:rPr lang="en-US" sz="1600" b="0" i="1" smtClean="0">
                        <a:latin typeface="Cambria Math"/>
                      </a:rPr>
                      <m:t>[</m:t>
                    </m:r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en-US" sz="1600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pentru</a:t>
                </a:r>
                <a:r>
                  <a:rPr lang="en-US" sz="1600" dirty="0"/>
                  <a:t> a ne </a:t>
                </a:r>
                <a:r>
                  <a:rPr lang="en-US" sz="1600" dirty="0" err="1"/>
                  <a:t>referi</a:t>
                </a:r>
                <a:r>
                  <a:rPr lang="en-US" sz="1600" dirty="0"/>
                  <a:t> la </a:t>
                </a:r>
                <a:r>
                  <a:rPr lang="en-US" sz="1600" dirty="0" err="1"/>
                  <a:t>lista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adiacen</a:t>
                </a:r>
                <a:r>
                  <a:rPr lang="ro-RO" sz="1600" dirty="0"/>
                  <a:t>ță a nodului u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Dacă G graf orientat, atunci un arc (u,v) este reprezentat prin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𝐴𝑑𝑗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[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𝑢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endParaRPr lang="en-US" sz="1600" dirty="0"/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en-US" sz="1600" dirty="0" err="1"/>
                  <a:t>Dac</a:t>
                </a:r>
                <a:r>
                  <a:rPr lang="ro-RO" sz="1600" dirty="0"/>
                  <a:t>ă G graf neorientat, atunci u apare in Adj</a:t>
                </a:r>
                <a:r>
                  <a:rPr lang="en-US" sz="1600" dirty="0"/>
                  <a:t>[v] </a:t>
                </a:r>
                <a:r>
                  <a:rPr lang="ro-RO" sz="1600" dirty="0"/>
                  <a:t>și v apare in Adj</a:t>
                </a:r>
                <a:r>
                  <a:rPr lang="en-US" sz="1600" dirty="0"/>
                  <a:t>[u]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en-US" sz="1600" dirty="0"/>
                  <a:t>Spa</a:t>
                </a:r>
                <a:r>
                  <a:rPr lang="ro-RO" sz="1600" dirty="0"/>
                  <a:t>țiul de memorie necesar: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𝑉</m:t>
                    </m:r>
                    <m:r>
                      <a:rPr lang="ro-RO" sz="1600" b="0" i="1" smtClean="0">
                        <a:latin typeface="Cambria Math"/>
                      </a:rPr>
                      <m:t>+</m:t>
                    </m:r>
                    <m:r>
                      <a:rPr lang="ro-RO" sz="1600" b="0" i="1" smtClean="0">
                        <a:latin typeface="Cambria Math"/>
                      </a:rPr>
                      <m:t>𝐸</m:t>
                    </m:r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600" dirty="0"/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Dacă graful este ponderat cu ponderile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𝑤</m:t>
                    </m:r>
                    <m:r>
                      <a:rPr lang="ro-RO" sz="1600" b="0" i="1" smtClean="0">
                        <a:latin typeface="Cambria Math"/>
                      </a:rPr>
                      <m:t>:</m:t>
                    </m:r>
                    <m:r>
                      <a:rPr lang="ro-RO" sz="1600" b="0" i="1" smtClean="0">
                        <a:latin typeface="Cambria Math"/>
                      </a:rPr>
                      <m:t>𝐸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→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𝑅</m:t>
                    </m:r>
                  </m:oMath>
                </a14:m>
                <a:r>
                  <a:rPr lang="ro-RO" sz="1600" dirty="0"/>
                  <a:t>, atunci ponderea w(u,v) se salvează cu arcul v in lista de adiacență a lui u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Dezavantajul listelor de adiacență: nu permit o cale rapidă de a determina dacă un anume arc (u,v) se alfă in graf</a:t>
                </a:r>
              </a:p>
            </p:txBody>
          </p:sp>
        </mc:Choice>
        <mc:Fallback xmlns="">
          <p:sp>
            <p:nvSpPr>
              <p:cNvPr id="10243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533400" y="1676400"/>
                <a:ext cx="8534400" cy="4114800"/>
              </a:xfrm>
              <a:blipFill rotWithShape="1">
                <a:blip r:embed="rId2"/>
                <a:stretch>
                  <a:fillRect l="-429" t="-1481" b="-4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- 12 Decembrie 2022</a:t>
            </a:r>
          </a:p>
        </p:txBody>
      </p:sp>
    </p:spTree>
    <p:extLst>
      <p:ext uri="{BB962C8B-B14F-4D97-AF65-F5344CB8AC3E}">
        <p14:creationId xmlns:p14="http://schemas.microsoft.com/office/powerpoint/2010/main" val="898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Reprezentări – matrice de adiacență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Presupunem că nodurile sunt numerotate cu 1, 2, ..., |V|</a:t>
                </a:r>
              </a:p>
              <a:p>
                <a:r>
                  <a:rPr lang="ro-RO" sz="1600" dirty="0"/>
                  <a:t>Folosim o matrice de dimensiune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|</m:t>
                    </m:r>
                    <m:r>
                      <a:rPr lang="ro-RO" sz="1600" b="0" i="1" smtClean="0">
                        <a:latin typeface="Cambria Math"/>
                      </a:rPr>
                      <m:t>𝑉</m:t>
                    </m:r>
                    <m:r>
                      <a:rPr lang="ro-RO" sz="1600" b="0" i="1" smtClean="0">
                        <a:latin typeface="Cambria Math"/>
                      </a:rPr>
                      <m:t>|×|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𝑉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|</m:t>
                    </m:r>
                  </m:oMath>
                </a14:m>
                <a:r>
                  <a:rPr lang="ro-RO" sz="1600" dirty="0"/>
                  <a:t>, </a:t>
                </a:r>
                <a14:m>
                  <m:oMath xmlns:m="http://schemas.openxmlformats.org/officeDocument/2006/math">
                    <m:r>
                      <a:rPr lang="ro-RO" sz="1600" b="0" i="1" dirty="0" smtClean="0">
                        <a:latin typeface="Cambria Math"/>
                      </a:rPr>
                      <m:t>𝐴</m:t>
                    </m:r>
                    <m:r>
                      <a:rPr lang="ro-RO" sz="1600" b="0" i="1" dirty="0" smtClean="0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ro-RO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b="0" i="1" dirty="0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o-RO" sz="1600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 astfel încât </a:t>
                </a:r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6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ro-RO" sz="1600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ro-RO" sz="16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ro-RO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o-R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ro-RO" sz="1600" b="0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𝑑𝑎𝑐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ă (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)∈</m:t>
                                </m:r>
                                <m:r>
                                  <a:rPr lang="ro-RO" sz="1600" b="0" i="1" smtClean="0">
                                    <a:latin typeface="Cambria Math"/>
                                    <a:ea typeface="Cambria Math"/>
                                  </a:rPr>
                                  <m:t>𝐸</m:t>
                                </m:r>
                              </m:e>
                            </m:mr>
                            <m:mr>
                              <m:e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0, î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𝑐𝑎𝑧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𝑐𝑜𝑛𝑡𝑟𝑎𝑟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o-RO" sz="1600" dirty="0"/>
              </a:p>
              <a:p>
                <a:r>
                  <a:rPr lang="ro-RO" sz="1600" dirty="0"/>
                  <a:t>Matricea de adiacență necesită spațiu de memorie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ro-RO" sz="1600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, indiferent de numărul de </a:t>
                </a:r>
                <a:r>
                  <a:rPr lang="en-US" sz="1600" dirty="0" err="1"/>
                  <a:t>arce</a:t>
                </a:r>
                <a:endParaRPr lang="ro-RO" sz="1600" dirty="0"/>
              </a:p>
              <a:p>
                <a:r>
                  <a:rPr lang="ro-RO" sz="1600" dirty="0"/>
                  <a:t>Pentru un graf neorientat, matricea este simetrică: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𝐴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ro-RO" sz="16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endParaRPr lang="ro-RO" sz="1600" dirty="0"/>
              </a:p>
              <a:p>
                <a:r>
                  <a:rPr lang="ro-RO" sz="1600" dirty="0"/>
                  <a:t>Dacă graful este ponderat, atunci in matrice se salvează ponderile w(u,v)</a:t>
                </a:r>
              </a:p>
              <a:p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Notații:</a:t>
                </a:r>
              </a:p>
              <a:p>
                <a:r>
                  <a:rPr lang="ro-RO" sz="1600" dirty="0"/>
                  <a:t>Pentru a nota un atribut d al unui nod, folosim notatia v.d</a:t>
                </a:r>
              </a:p>
              <a:p>
                <a:r>
                  <a:rPr lang="ro-RO" sz="1600" dirty="0"/>
                  <a:t>Pentru a nota un atribut f a unui arc, folosim notatia (u,v).f</a:t>
                </a:r>
              </a:p>
              <a:p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0">
                <a:blip r:embed="rId2"/>
                <a:stretch>
                  <a:fillRect l="-370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- 12 Decembrie 2022</a:t>
            </a:r>
          </a:p>
        </p:txBody>
      </p:sp>
    </p:spTree>
    <p:extLst>
      <p:ext uri="{BB962C8B-B14F-4D97-AF65-F5344CB8AC3E}">
        <p14:creationId xmlns:p14="http://schemas.microsoft.com/office/powerpoint/2010/main" val="276069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- 12 Decembrie 2022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9144000" cy="2328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32125"/>
            <a:ext cx="91440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031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986088" y="1157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Parcurgerea in latime (breadth-first)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- 12 Decembrie 2022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Dacă se dă ca și start un nod s din graf, parcurgerea in latime explorează in mod sistematic arcele din G pentru a descoperi fiecare nod care poate fi identificat pornind de la s</a:t>
                </a:r>
              </a:p>
              <a:p>
                <a:r>
                  <a:rPr lang="ro-RO" sz="1600" dirty="0"/>
                  <a:t>Calculează distanța de la s la fiecare nod din graf care este conectat la s</a:t>
                </a:r>
              </a:p>
              <a:p>
                <a:r>
                  <a:rPr lang="ro-RO" sz="1600" dirty="0"/>
                  <a:t>Algoritmul explorează frontiera dintre nodurile descoperite si cele nedescoperite în lațime, adică descoperă toate nodurile la distanță k, apoi cele la distanță k+1, etc.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Se presupune ca initial toate nodurile din graf sunt colorate alb (nedescoperite). </a:t>
                </a:r>
              </a:p>
              <a:p>
                <a:r>
                  <a:rPr lang="ro-RO" sz="1600" dirty="0"/>
                  <a:t>Dacă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)∈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𝐸</m:t>
                    </m:r>
                  </m:oMath>
                </a14:m>
                <a:r>
                  <a:rPr lang="ro-RO" sz="1600" dirty="0"/>
                  <a:t> și u este nod negru, atunci v va fi sau negru sau gri: toate nodurile adiacente unui nod negru au fost descoperite</a:t>
                </a:r>
              </a:p>
              <a:p>
                <a:r>
                  <a:rPr lang="ro-RO" sz="1600" dirty="0"/>
                  <a:t>Nodurile gri pot avea noduri albe adiacente: acestea reprezintă frontiera dintre nodurile descoperite sau nu</a:t>
                </a:r>
              </a:p>
              <a:p>
                <a:r>
                  <a:rPr lang="ro-RO" sz="1600" dirty="0"/>
                  <a:t>Parcurgerea in latime calculează un arbore de parcurgere in latime cu radacina in s</a:t>
                </a:r>
              </a:p>
              <a:p>
                <a:r>
                  <a:rPr lang="ro-RO" sz="1600" dirty="0"/>
                  <a:t>De fiecare data cand se descoperă un nod v alb la scanarea listei de adiacență a nodului u, arcul (u,v) se salvează in arborele de parcurgere</a:t>
                </a:r>
              </a:p>
              <a:p>
                <a:endParaRPr lang="ro-RO" sz="16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t="-444" r="-815" b="-251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581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o-RO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Parcurgere in latime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ro-RO" sz="1600" dirty="0"/>
                  <a:t>Reprezentare cu liste de adiacență</a:t>
                </a:r>
              </a:p>
              <a:p>
                <a:pPr marL="0" indent="0">
                  <a:buNone/>
                </a:pPr>
                <a:r>
                  <a:rPr lang="ro-RO" sz="1600" dirty="0"/>
                  <a:t>BFS(G,s)</a:t>
                </a:r>
              </a:p>
              <a:p>
                <a:pPr marL="0" indent="0">
                  <a:buNone/>
                </a:pPr>
                <a:r>
                  <a:rPr lang="ro-RO" sz="1400" dirty="0"/>
                  <a:t>1. For fiecare nod </a:t>
                </a:r>
                <a14:m>
                  <m:oMath xmlns:m="http://schemas.openxmlformats.org/officeDocument/2006/math">
                    <m:r>
                      <a:rPr lang="ro-RO" sz="1400" b="0" i="1" smtClean="0">
                        <a:latin typeface="Cambria Math"/>
                      </a:rPr>
                      <m:t>𝑢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𝐺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𝑉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</m:e>
                    </m:d>
                  </m:oMath>
                </a14:m>
                <a:endParaRPr lang="en-US" sz="1400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sz="1400" dirty="0"/>
                  <a:t>2.	</a:t>
                </a:r>
                <a:r>
                  <a:rPr lang="en-US" sz="1400" dirty="0" err="1"/>
                  <a:t>u.color</a:t>
                </a:r>
                <a:r>
                  <a:rPr lang="en-US" sz="1400" dirty="0"/>
                  <a:t> = WHITE</a:t>
                </a:r>
              </a:p>
              <a:p>
                <a:pPr marL="0" indent="0">
                  <a:buNone/>
                </a:pPr>
                <a:r>
                  <a:rPr lang="en-US" sz="1400" dirty="0"/>
                  <a:t>3.	</a:t>
                </a:r>
                <a:r>
                  <a:rPr lang="en-US" sz="1400" dirty="0" err="1"/>
                  <a:t>u.d</a:t>
                </a:r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4.	u.</a:t>
                </a:r>
                <a:r>
                  <a:rPr lang="el-GR" sz="1400" dirty="0"/>
                  <a:t>π</a:t>
                </a:r>
                <a:r>
                  <a:rPr lang="en-US" sz="1400" dirty="0"/>
                  <a:t> = Nil   // </a:t>
                </a:r>
                <a:r>
                  <a:rPr lang="en-US" sz="1400" dirty="0" err="1"/>
                  <a:t>predecesorul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lui</a:t>
                </a:r>
                <a:r>
                  <a:rPr lang="en-US" sz="1400" dirty="0"/>
                  <a:t> u</a:t>
                </a:r>
              </a:p>
              <a:p>
                <a:pPr marL="0" indent="0">
                  <a:buNone/>
                </a:pPr>
                <a:r>
                  <a:rPr lang="en-US" sz="1400" dirty="0"/>
                  <a:t>5. </a:t>
                </a:r>
                <a:r>
                  <a:rPr lang="en-US" sz="1400" dirty="0" err="1"/>
                  <a:t>s.color</a:t>
                </a:r>
                <a:r>
                  <a:rPr lang="en-US" sz="1400" dirty="0"/>
                  <a:t> = GRAY</a:t>
                </a:r>
              </a:p>
              <a:p>
                <a:pPr marL="0" indent="0">
                  <a:buNone/>
                </a:pPr>
                <a:r>
                  <a:rPr lang="en-US" sz="1400" dirty="0"/>
                  <a:t>6. </a:t>
                </a:r>
                <a:r>
                  <a:rPr lang="en-US" sz="1400" dirty="0" err="1"/>
                  <a:t>s.d</a:t>
                </a:r>
                <a:r>
                  <a:rPr lang="en-US" sz="1400" dirty="0"/>
                  <a:t> = 0</a:t>
                </a:r>
              </a:p>
              <a:p>
                <a:pPr marL="0" indent="0">
                  <a:buNone/>
                </a:pPr>
                <a:r>
                  <a:rPr lang="en-US" sz="1400" dirty="0"/>
                  <a:t>7. s.</a:t>
                </a:r>
                <a:r>
                  <a:rPr lang="el-GR" sz="1400" dirty="0"/>
                  <a:t> π</a:t>
                </a:r>
                <a:r>
                  <a:rPr lang="en-US" sz="1400" dirty="0"/>
                  <a:t> = Nil</a:t>
                </a:r>
              </a:p>
              <a:p>
                <a:pPr marL="0" indent="0">
                  <a:buNone/>
                </a:pPr>
                <a:r>
                  <a:rPr lang="en-US" sz="1400" dirty="0"/>
                  <a:t>8. Q =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sz="1400" dirty="0"/>
                  <a:t>  // se </a:t>
                </a:r>
                <a:r>
                  <a:rPr lang="en-US" sz="1400" dirty="0" err="1"/>
                  <a:t>initializeaz</a:t>
                </a:r>
                <a:r>
                  <a:rPr lang="ro-RO" sz="1400" dirty="0"/>
                  <a:t>ă coada Q la multimea vidă</a:t>
                </a:r>
              </a:p>
              <a:p>
                <a:pPr marL="0" indent="0">
                  <a:buNone/>
                </a:pPr>
                <a:r>
                  <a:rPr lang="ro-RO" sz="1400" dirty="0"/>
                  <a:t>9. ENQUEUE(Q, s)</a:t>
                </a:r>
              </a:p>
              <a:p>
                <a:pPr marL="0" indent="0">
                  <a:buNone/>
                </a:pPr>
                <a:r>
                  <a:rPr lang="ro-RO" sz="1400" dirty="0"/>
                  <a:t>10. While </a:t>
                </a:r>
                <a14:m>
                  <m:oMath xmlns:m="http://schemas.openxmlformats.org/officeDocument/2006/math">
                    <m:r>
                      <a:rPr lang="ro-RO" sz="1400" b="0" i="1" smtClean="0">
                        <a:latin typeface="Cambria Math"/>
                      </a:rPr>
                      <m:t>𝑄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≠∅</m:t>
                    </m:r>
                  </m:oMath>
                </a14:m>
                <a:endParaRPr lang="ro-RO" sz="1400" dirty="0"/>
              </a:p>
              <a:p>
                <a:pPr marL="0" indent="0">
                  <a:buNone/>
                </a:pPr>
                <a:r>
                  <a:rPr lang="ro-RO" sz="1400" dirty="0"/>
                  <a:t>11.	u = DEQUEUE(Q)</a:t>
                </a:r>
              </a:p>
              <a:p>
                <a:pPr marL="0" indent="0">
                  <a:buNone/>
                </a:pPr>
                <a:r>
                  <a:rPr lang="ro-RO" sz="1400" dirty="0"/>
                  <a:t>12.	For fiecare nod </a:t>
                </a:r>
                <a14:m>
                  <m:oMath xmlns:m="http://schemas.openxmlformats.org/officeDocument/2006/math">
                    <m:r>
                      <a:rPr lang="ro-RO" sz="1400" b="0" i="1" smtClean="0">
                        <a:latin typeface="Cambria Math"/>
                      </a:rPr>
                      <m:t>𝑣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𝐺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ro-RO" sz="1400" b="0" i="1" smtClean="0">
                        <a:latin typeface="Cambria Math"/>
                        <a:ea typeface="Cambria Math"/>
                      </a:rPr>
                      <m:t>𝐴𝑑𝑗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[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𝑢</m:t>
                    </m:r>
                    <m:r>
                      <a:rPr lang="en-US" sz="1400" b="0" i="1" smtClean="0"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endParaRPr lang="en-US" sz="1400" dirty="0"/>
              </a:p>
              <a:p>
                <a:pPr marL="0" indent="0">
                  <a:buNone/>
                </a:pPr>
                <a:r>
                  <a:rPr lang="en-US" sz="1400" dirty="0"/>
                  <a:t>13.		If </a:t>
                </a:r>
                <a:r>
                  <a:rPr lang="en-US" sz="1400" dirty="0" err="1"/>
                  <a:t>v.color</a:t>
                </a:r>
                <a:r>
                  <a:rPr lang="en-US" sz="1400" dirty="0"/>
                  <a:t> == WHITE</a:t>
                </a:r>
              </a:p>
              <a:p>
                <a:pPr marL="0" indent="0">
                  <a:buNone/>
                </a:pPr>
                <a:r>
                  <a:rPr lang="en-US" sz="1400" dirty="0"/>
                  <a:t>14.			</a:t>
                </a:r>
                <a:r>
                  <a:rPr lang="en-US" sz="1400" dirty="0" err="1"/>
                  <a:t>v.color</a:t>
                </a:r>
                <a:r>
                  <a:rPr lang="en-US" sz="1400" dirty="0"/>
                  <a:t> = GRAY</a:t>
                </a:r>
              </a:p>
              <a:p>
                <a:pPr marL="0" indent="0">
                  <a:buNone/>
                </a:pPr>
                <a:r>
                  <a:rPr lang="en-US" sz="1400" dirty="0"/>
                  <a:t>15.			</a:t>
                </a:r>
                <a:r>
                  <a:rPr lang="en-US" sz="1400" dirty="0" err="1"/>
                  <a:t>v.d</a:t>
                </a:r>
                <a:r>
                  <a:rPr lang="en-US" sz="1400" dirty="0"/>
                  <a:t> = </a:t>
                </a:r>
                <a:r>
                  <a:rPr lang="en-US" sz="1400" dirty="0" err="1"/>
                  <a:t>u.d</a:t>
                </a:r>
                <a:r>
                  <a:rPr lang="en-US" sz="1400" dirty="0"/>
                  <a:t> + 1</a:t>
                </a:r>
              </a:p>
              <a:p>
                <a:pPr marL="0" indent="0">
                  <a:buNone/>
                </a:pPr>
                <a:r>
                  <a:rPr lang="en-US" sz="1400" dirty="0"/>
                  <a:t>16.			v.</a:t>
                </a:r>
                <a:r>
                  <a:rPr lang="el-GR" sz="1400" dirty="0"/>
                  <a:t> π</a:t>
                </a:r>
                <a:r>
                  <a:rPr lang="en-US" sz="1400" dirty="0"/>
                  <a:t> = u</a:t>
                </a:r>
              </a:p>
              <a:p>
                <a:pPr marL="0" indent="0">
                  <a:buNone/>
                </a:pPr>
                <a:r>
                  <a:rPr lang="en-US" sz="1400" dirty="0"/>
                  <a:t>17.			ENQUEUE(</a:t>
                </a:r>
                <a:r>
                  <a:rPr lang="en-US" sz="1400" dirty="0" err="1"/>
                  <a:t>Q,v</a:t>
                </a:r>
                <a:r>
                  <a:rPr lang="en-US" sz="1400" dirty="0"/>
                  <a:t>)</a:t>
                </a:r>
              </a:p>
              <a:p>
                <a:pPr marL="0" indent="0">
                  <a:buNone/>
                </a:pPr>
                <a:r>
                  <a:rPr lang="en-US" sz="1400" dirty="0"/>
                  <a:t>18	</a:t>
                </a:r>
                <a:r>
                  <a:rPr lang="en-US" sz="1400" dirty="0" err="1"/>
                  <a:t>u.color</a:t>
                </a:r>
                <a:r>
                  <a:rPr lang="en-US" sz="1400" dirty="0"/>
                  <a:t> = BLACK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l="-392" t="-444" b="-2874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7D2CDA-3271-B98F-6578-FF0689F98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- 12 Decembrie 2022</a:t>
            </a:r>
          </a:p>
        </p:txBody>
      </p:sp>
    </p:spTree>
    <p:extLst>
      <p:ext uri="{BB962C8B-B14F-4D97-AF65-F5344CB8AC3E}">
        <p14:creationId xmlns:p14="http://schemas.microsoft.com/office/powerpoint/2010/main" val="3617849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- 12 Decembrie 2022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96664"/>
            <a:ext cx="7414903" cy="59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7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Calea</a:t>
            </a:r>
            <a:r>
              <a:rPr lang="en-US" sz="3200" dirty="0"/>
              <a:t> </a:t>
            </a:r>
            <a:r>
              <a:rPr lang="en-US" sz="3200" dirty="0" err="1"/>
              <a:t>cea</a:t>
            </a:r>
            <a:r>
              <a:rPr lang="en-US" sz="3200" dirty="0"/>
              <a:t> </a:t>
            </a:r>
            <a:r>
              <a:rPr lang="en-US" sz="3200" dirty="0" err="1"/>
              <a:t>mai</a:t>
            </a:r>
            <a:r>
              <a:rPr lang="en-US" sz="3200" dirty="0"/>
              <a:t> </a:t>
            </a:r>
            <a:r>
              <a:rPr lang="en-US" sz="3200" dirty="0" err="1"/>
              <a:t>scurt</a:t>
            </a:r>
            <a:r>
              <a:rPr lang="ro-RO" sz="3200" dirty="0"/>
              <a:t>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pPr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δ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𝑠</m:t>
                    </m:r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: numărul minim de arce necesar pentru a ajunge de la nodul s la v</a:t>
                </a:r>
              </a:p>
              <a:p>
                <a:pPr eaLnBrk="1" hangingPunct="1"/>
                <a:r>
                  <a:rPr lang="ro-RO" sz="1600" dirty="0"/>
                  <a:t>Dacă nu există o cale de la s la v notăm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/>
                      </a:rPr>
                      <m:t>δ</m:t>
                    </m:r>
                    <m:d>
                      <m:d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i="1">
                            <a:latin typeface="Cambria Math"/>
                          </a:rPr>
                          <m:t>𝑠</m:t>
                        </m:r>
                        <m:r>
                          <a:rPr lang="ro-RO" sz="1600" i="1">
                            <a:latin typeface="Cambria Math"/>
                          </a:rPr>
                          <m:t>,</m:t>
                        </m:r>
                        <m:r>
                          <a:rPr lang="ro-RO" sz="1600" i="1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∞</m:t>
                    </m:r>
                  </m:oMath>
                </a14:m>
                <a:endParaRPr lang="ro-RO" sz="1600" dirty="0"/>
              </a:p>
              <a:p>
                <a:pPr eaLnBrk="1" hangingPunct="1"/>
                <a:endParaRPr lang="ro-RO" sz="1600" dirty="0"/>
              </a:p>
              <a:p>
                <a:pPr eaLnBrk="1" hangingPunct="1"/>
                <a:r>
                  <a:rPr lang="ro-RO" sz="1600" dirty="0"/>
                  <a:t>Dacă avem un graf G=(V,E), si s un nod arbitrar din V, atunci pentru orice arc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)∈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𝐸</m:t>
                    </m:r>
                  </m:oMath>
                </a14:m>
                <a:r>
                  <a:rPr lang="ro-RO" sz="1600" dirty="0"/>
                  <a:t>, avem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δ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</a:rPr>
                          <m:t>𝑠</m:t>
                        </m:r>
                        <m:r>
                          <a:rPr lang="ro-RO" sz="1600" b="0" i="1" smtClean="0">
                            <a:latin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m:rPr>
                        <m:sty m:val="p"/>
                      </m:rPr>
                      <a:rPr lang="el-GR" sz="1600" b="0" i="1" smtClean="0">
                        <a:latin typeface="Cambria Math"/>
                        <a:ea typeface="Cambria Math"/>
                      </a:rPr>
                      <m:t>δ</m:t>
                    </m:r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𝑠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sz="1600" b="0" i="1" smtClean="0">
                            <a:latin typeface="Cambria Math"/>
                            <a:ea typeface="Cambria Math"/>
                          </a:rPr>
                          <m:t>𝑢</m:t>
                        </m:r>
                      </m:e>
                    </m:d>
                    <m:r>
                      <a:rPr lang="ro-RO" sz="1600" b="0" i="1" smtClean="0">
                        <a:latin typeface="Cambria Math"/>
                        <a:ea typeface="Cambria Math"/>
                      </a:rPr>
                      <m:t>+1</m:t>
                    </m:r>
                  </m:oMath>
                </a14:m>
                <a:endParaRPr lang="ro-RO" sz="1600" b="0" dirty="0">
                  <a:ea typeface="Cambria Math"/>
                </a:endParaRPr>
              </a:p>
              <a:p>
                <a:pPr eaLnBrk="1" hangingPunct="1"/>
                <a:endParaRPr lang="ro-RO" sz="1600" dirty="0"/>
              </a:p>
              <a:p>
                <a:pPr eaLnBrk="1" hangingPunct="1"/>
                <a:r>
                  <a:rPr lang="ro-RO" sz="1600" dirty="0"/>
                  <a:t>Dacă se execută BFS pornind de la un nod s, la terminare, pentru fiecare nod v pt care există o cale de la s, valoarea v.d calculată de BFS satisface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.</m:t>
                    </m:r>
                    <m:r>
                      <a:rPr lang="ro-RO" sz="1600" b="0" i="1" smtClean="0">
                        <a:latin typeface="Cambria Math"/>
                      </a:rPr>
                      <m:t>𝑑</m:t>
                    </m:r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600" b="0" i="1" smtClean="0">
                        <a:latin typeface="Cambria Math"/>
                        <a:ea typeface="Cambria Math"/>
                      </a:rPr>
                      <m:t>δ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𝑠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ro-RO" sz="1600" dirty="0"/>
                  <a:t> </a:t>
                </a:r>
              </a:p>
              <a:p>
                <a:pPr eaLnBrk="1" hangingPunct="1"/>
                <a:endParaRPr lang="ro-RO" sz="1600" dirty="0"/>
              </a:p>
              <a:p>
                <a:pPr marL="0" indent="0" eaLnBrk="1" hangingPunct="1">
                  <a:buNone/>
                </a:pPr>
                <a:r>
                  <a:rPr lang="ro-RO" sz="1600" dirty="0"/>
                  <a:t>PRINT-PATH(G, s, v)</a:t>
                </a:r>
              </a:p>
              <a:p>
                <a:pPr marL="0" indent="0" eaLnBrk="1" hangingPunct="1">
                  <a:buNone/>
                </a:pPr>
                <a:r>
                  <a:rPr lang="ro-RO" sz="1600" dirty="0"/>
                  <a:t>1. If v == s</a:t>
                </a:r>
              </a:p>
              <a:p>
                <a:pPr marL="0" indent="0" eaLnBrk="1" hangingPunct="1">
                  <a:buNone/>
                </a:pPr>
                <a:r>
                  <a:rPr lang="ro-RO" sz="1600" dirty="0"/>
                  <a:t>2.	Print s</a:t>
                </a:r>
              </a:p>
              <a:p>
                <a:pPr marL="0" indent="0" eaLnBrk="1" hangingPunct="1">
                  <a:buNone/>
                </a:pPr>
                <a:r>
                  <a:rPr lang="ro-RO" sz="1600" dirty="0"/>
                  <a:t>3. Elseif v.</a:t>
                </a:r>
                <a:r>
                  <a:rPr lang="el-GR" sz="1600" dirty="0"/>
                  <a:t>π</a:t>
                </a:r>
                <a:r>
                  <a:rPr lang="ro-RO" sz="1600" dirty="0"/>
                  <a:t> == Nil</a:t>
                </a:r>
              </a:p>
              <a:p>
                <a:pPr marL="0" indent="0" eaLnBrk="1" hangingPunct="1">
                  <a:buNone/>
                </a:pPr>
                <a:r>
                  <a:rPr lang="ro-RO" sz="1600" dirty="0"/>
                  <a:t>4.	Print nu exista cale de la s la v</a:t>
                </a:r>
              </a:p>
              <a:p>
                <a:pPr marL="0" indent="0" eaLnBrk="1" hangingPunct="1">
                  <a:buNone/>
                </a:pPr>
                <a:r>
                  <a:rPr lang="ro-RO" sz="1600" dirty="0"/>
                  <a:t>5. Else 	PRINT-PATH(G, s, v.</a:t>
                </a:r>
                <a:r>
                  <a:rPr lang="el-GR" sz="1600" dirty="0"/>
                  <a:t>π</a:t>
                </a:r>
                <a:r>
                  <a:rPr lang="ro-RO" sz="1600" dirty="0"/>
                  <a:t>)</a:t>
                </a:r>
              </a:p>
              <a:p>
                <a:pPr marL="0" indent="0" eaLnBrk="1" hangingPunct="1">
                  <a:buNone/>
                </a:pPr>
                <a:r>
                  <a:rPr lang="ro-RO" sz="1600" dirty="0"/>
                  <a:t>6.	Print v</a:t>
                </a:r>
              </a:p>
            </p:txBody>
          </p:sp>
        </mc:Choice>
        <mc:Fallback xmlns="">
          <p:sp>
            <p:nvSpPr>
              <p:cNvPr id="15364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370" t="-444" b="-1437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- 12 Decembrie 2022</a:t>
            </a:r>
          </a:p>
        </p:txBody>
      </p:sp>
    </p:spTree>
    <p:extLst>
      <p:ext uri="{BB962C8B-B14F-4D97-AF65-F5344CB8AC3E}">
        <p14:creationId xmlns:p14="http://schemas.microsoft.com/office/powerpoint/2010/main" val="367565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Parcurgerea in adancime</a:t>
            </a:r>
            <a:endParaRPr lang="en-US" sz="3200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- 12 Decembrie 2022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114800"/>
          </a:xfrm>
        </p:spPr>
        <p:txBody>
          <a:bodyPr/>
          <a:lstStyle/>
          <a:p>
            <a:r>
              <a:rPr lang="ro-RO" sz="1600" dirty="0"/>
              <a:t>Presupune o căutare in graf cat de adânc posibil</a:t>
            </a:r>
          </a:p>
          <a:p>
            <a:r>
              <a:rPr lang="ro-RO" sz="1600" dirty="0"/>
              <a:t>Se parcurge pe arcele nodului cel mai recent descoperit</a:t>
            </a:r>
          </a:p>
          <a:p>
            <a:r>
              <a:rPr lang="ro-RO" sz="1600" dirty="0"/>
              <a:t>Dacă toate arcele unui nod v au fost explorate, atunci algoritmul face back-tracking la următorul nod care trebuie explorat după v</a:t>
            </a:r>
          </a:p>
          <a:p>
            <a:endParaRPr lang="ro-RO" sz="1600" dirty="0"/>
          </a:p>
          <a:p>
            <a:r>
              <a:rPr lang="ro-RO" sz="1600" dirty="0"/>
              <a:t>Folosim aceasi convenție de colorare: WHITE, GRAY si BLACK</a:t>
            </a:r>
          </a:p>
          <a:p>
            <a:r>
              <a:rPr lang="ro-RO" sz="1600" dirty="0"/>
              <a:t>Pentru fiecare nod folosim 2 stampile de timp: </a:t>
            </a:r>
          </a:p>
          <a:p>
            <a:pPr lvl="1"/>
            <a:r>
              <a:rPr lang="ro-RO" sz="1400" dirty="0"/>
              <a:t>v.d  momentul in care nodul a fost descoperit (cand este marcat GRAY)</a:t>
            </a:r>
          </a:p>
          <a:p>
            <a:pPr lvl="1"/>
            <a:r>
              <a:rPr lang="ro-RO" sz="1400" dirty="0"/>
              <a:t>v.f momentul in care parcurgerea termină lista de adiacență a lui v (cand nodul este marcat BLACK)</a:t>
            </a:r>
          </a:p>
        </p:txBody>
      </p:sp>
    </p:spTree>
    <p:extLst>
      <p:ext uri="{BB962C8B-B14F-4D97-AF65-F5344CB8AC3E}">
        <p14:creationId xmlns:p14="http://schemas.microsoft.com/office/powerpoint/2010/main" val="1982881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Content Placeholder 2" descr="Rectangle: Click to edit Master text styles&#10;Second level&#10;Third level&#10;Fourth level&#10;Fifth level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304800"/>
                <a:ext cx="8229600" cy="6019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600" dirty="0"/>
                  <a:t>DFS(G)</a:t>
                </a:r>
              </a:p>
              <a:p>
                <a:pPr marL="0" indent="0">
                  <a:buNone/>
                </a:pPr>
                <a:r>
                  <a:rPr lang="ro-RO" sz="1600" dirty="0"/>
                  <a:t>1. For fiecare nod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𝐺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𝑉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2.	u.color = WHITE</a:t>
                </a:r>
              </a:p>
              <a:p>
                <a:pPr marL="0" indent="0">
                  <a:buNone/>
                </a:pPr>
                <a:r>
                  <a:rPr lang="ro-RO" sz="1600" dirty="0"/>
                  <a:t>3.	u.</a:t>
                </a:r>
                <a:r>
                  <a:rPr lang="el-GR" sz="1600" dirty="0"/>
                  <a:t>π</a:t>
                </a:r>
                <a:r>
                  <a:rPr lang="ro-RO" sz="1600" dirty="0"/>
                  <a:t> = Nil</a:t>
                </a:r>
              </a:p>
              <a:p>
                <a:pPr marL="0" indent="0">
                  <a:buNone/>
                </a:pPr>
                <a:r>
                  <a:rPr lang="ro-RO" sz="1600" dirty="0"/>
                  <a:t>4. Time = 0</a:t>
                </a:r>
              </a:p>
              <a:p>
                <a:pPr marL="0" indent="0">
                  <a:buNone/>
                </a:pPr>
                <a:r>
                  <a:rPr lang="ro-RO" sz="1600" dirty="0"/>
                  <a:t>5. For fiecare nod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𝑢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𝐺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.</m:t>
                    </m:r>
                    <m:r>
                      <a:rPr lang="ro-RO" sz="1600" i="1">
                        <a:latin typeface="Cambria Math"/>
                        <a:ea typeface="Cambria Math"/>
                      </a:rPr>
                      <m:t>𝑉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6.	If u.color == WHITE</a:t>
                </a:r>
              </a:p>
              <a:p>
                <a:pPr marL="0" indent="0">
                  <a:buNone/>
                </a:pPr>
                <a:r>
                  <a:rPr lang="ro-RO" sz="1600" dirty="0"/>
                  <a:t>7.		DFS-VISIT(G, u)</a:t>
                </a:r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DFS-VISIT(G, u)</a:t>
                </a:r>
              </a:p>
              <a:p>
                <a:pPr marL="0" indent="0">
                  <a:buNone/>
                </a:pPr>
                <a:r>
                  <a:rPr lang="ro-RO" sz="1600" dirty="0"/>
                  <a:t>1. Time = time + 1</a:t>
                </a:r>
              </a:p>
              <a:p>
                <a:pPr marL="0" indent="0">
                  <a:buNone/>
                </a:pPr>
                <a:r>
                  <a:rPr lang="ro-RO" sz="1600" dirty="0"/>
                  <a:t>2. u.d = time</a:t>
                </a:r>
              </a:p>
              <a:p>
                <a:pPr marL="0" indent="0">
                  <a:buNone/>
                </a:pPr>
                <a:r>
                  <a:rPr lang="ro-RO" sz="1600" dirty="0"/>
                  <a:t>3. u.color = GRAY</a:t>
                </a:r>
              </a:p>
              <a:p>
                <a:pPr marL="0" indent="0">
                  <a:buNone/>
                </a:pPr>
                <a:r>
                  <a:rPr lang="ro-RO" sz="1600" dirty="0"/>
                  <a:t>4. For fiecare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𝐺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𝐴𝑑𝑗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[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𝑢</m:t>
                    </m:r>
                    <m:r>
                      <a:rPr lang="en-US" sz="1600" b="0" i="1" smtClean="0"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5.	If </a:t>
                </a:r>
                <a:r>
                  <a:rPr lang="en-US" sz="1600" dirty="0" err="1"/>
                  <a:t>v.color</a:t>
                </a:r>
                <a:r>
                  <a:rPr lang="en-US" sz="1600" dirty="0"/>
                  <a:t> == WHITE</a:t>
                </a:r>
              </a:p>
              <a:p>
                <a:pPr marL="0" indent="0">
                  <a:buNone/>
                </a:pPr>
                <a:r>
                  <a:rPr lang="en-US" sz="1600" dirty="0"/>
                  <a:t>6.		v.</a:t>
                </a:r>
                <a:r>
                  <a:rPr lang="el-GR" sz="1600" dirty="0"/>
                  <a:t>π</a:t>
                </a:r>
                <a:r>
                  <a:rPr lang="en-US" sz="1600" dirty="0"/>
                  <a:t> = u</a:t>
                </a:r>
              </a:p>
              <a:p>
                <a:pPr marL="0" indent="0">
                  <a:buNone/>
                </a:pPr>
                <a:r>
                  <a:rPr lang="en-US" sz="1600" dirty="0"/>
                  <a:t>7.		DFS-VISIT(G, v)</a:t>
                </a:r>
              </a:p>
              <a:p>
                <a:pPr marL="0" indent="0">
                  <a:buNone/>
                </a:pPr>
                <a:r>
                  <a:rPr lang="en-US" sz="1600" dirty="0"/>
                  <a:t>8. </a:t>
                </a:r>
                <a:r>
                  <a:rPr lang="en-US" sz="1600" dirty="0" err="1"/>
                  <a:t>u.color</a:t>
                </a:r>
                <a:r>
                  <a:rPr lang="en-US" sz="1600" dirty="0"/>
                  <a:t> = BLACK</a:t>
                </a:r>
              </a:p>
              <a:p>
                <a:pPr marL="0" indent="0">
                  <a:buNone/>
                </a:pPr>
                <a:r>
                  <a:rPr lang="en-US" sz="1600" dirty="0"/>
                  <a:t>9. Time = time+1</a:t>
                </a:r>
              </a:p>
              <a:p>
                <a:pPr marL="0" indent="0">
                  <a:buNone/>
                </a:pPr>
                <a:r>
                  <a:rPr lang="en-US" sz="1600" dirty="0"/>
                  <a:t>10. </a:t>
                </a:r>
                <a:r>
                  <a:rPr lang="en-US" sz="1600" dirty="0" err="1"/>
                  <a:t>u.f</a:t>
                </a:r>
                <a:r>
                  <a:rPr lang="en-US" sz="1600" dirty="0"/>
                  <a:t> = time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 err="1"/>
                  <a:t>Timpul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executie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atat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lui</a:t>
                </a:r>
                <a:r>
                  <a:rPr lang="en-US" sz="1600" dirty="0"/>
                  <a:t> DFS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</a:t>
                </a:r>
                <a:r>
                  <a:rPr lang="el-GR" sz="1600" dirty="0"/>
                  <a:t>Θ</a:t>
                </a:r>
                <a:r>
                  <a:rPr lang="en-US" sz="1600" dirty="0"/>
                  <a:t>(V+E)</a:t>
                </a:r>
                <a:endParaRPr lang="ro-RO" sz="1600" dirty="0"/>
              </a:p>
            </p:txBody>
          </p:sp>
        </mc:Choice>
        <mc:Fallback xmlns="">
          <p:sp>
            <p:nvSpPr>
              <p:cNvPr id="17411" name="Content Placeholder 2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304800"/>
                <a:ext cx="8229600" cy="6019800"/>
              </a:xfrm>
              <a:blipFill rotWithShape="1">
                <a:blip r:embed="rId2"/>
                <a:stretch>
                  <a:fillRect l="-370" t="-304" b="-890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254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8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8459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- 12 Decembrie 2022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39763" y="1524000"/>
            <a:ext cx="7772400" cy="4114800"/>
          </a:xfrm>
        </p:spPr>
        <p:txBody>
          <a:bodyPr/>
          <a:lstStyle/>
          <a:p>
            <a:r>
              <a:rPr lang="en-US" sz="1600" dirty="0" err="1"/>
              <a:t>Dac</a:t>
            </a:r>
            <a:r>
              <a:rPr lang="ro-RO" sz="1600" dirty="0"/>
              <a:t>ă notăm cu </a:t>
            </a:r>
            <a:r>
              <a:rPr lang="en-US" sz="1600" dirty="0"/>
              <a:t>“(u” </a:t>
            </a:r>
            <a:r>
              <a:rPr lang="en-US" sz="1600" dirty="0" err="1"/>
              <a:t>momentul</a:t>
            </a:r>
            <a:r>
              <a:rPr lang="en-US" sz="1600" dirty="0"/>
              <a:t> </a:t>
            </a:r>
            <a:r>
              <a:rPr lang="en-US" sz="1600" dirty="0" err="1"/>
              <a:t>descoperirii</a:t>
            </a:r>
            <a:r>
              <a:rPr lang="en-US" sz="1600" dirty="0"/>
              <a:t> </a:t>
            </a:r>
            <a:r>
              <a:rPr lang="en-US" sz="1600" dirty="0" err="1"/>
              <a:t>unui</a:t>
            </a:r>
            <a:r>
              <a:rPr lang="en-US" sz="1600" dirty="0"/>
              <a:t> nod u </a:t>
            </a:r>
            <a:r>
              <a:rPr lang="en-US" sz="1600" dirty="0" err="1"/>
              <a:t>si</a:t>
            </a:r>
            <a:r>
              <a:rPr lang="en-US" sz="1600" dirty="0"/>
              <a:t> cu “u)” </a:t>
            </a:r>
            <a:r>
              <a:rPr lang="en-US" sz="1600" dirty="0" err="1"/>
              <a:t>momentul</a:t>
            </a:r>
            <a:r>
              <a:rPr lang="en-US" sz="1600" dirty="0"/>
              <a:t> in care </a:t>
            </a:r>
            <a:r>
              <a:rPr lang="en-US" sz="1600" dirty="0" err="1"/>
              <a:t>nodul</a:t>
            </a:r>
            <a:r>
              <a:rPr lang="en-US" sz="1600" dirty="0"/>
              <a:t> u </a:t>
            </a:r>
            <a:r>
              <a:rPr lang="en-US" sz="1600" dirty="0" err="1"/>
              <a:t>devine</a:t>
            </a:r>
            <a:r>
              <a:rPr lang="en-US" sz="1600" dirty="0"/>
              <a:t> BLACK, </a:t>
            </a:r>
            <a:r>
              <a:rPr lang="en-US" sz="1600" dirty="0" err="1"/>
              <a:t>atunci</a:t>
            </a:r>
            <a:r>
              <a:rPr lang="en-US" sz="1600" dirty="0"/>
              <a:t> DFS ne produce o </a:t>
            </a:r>
            <a:r>
              <a:rPr lang="en-US" sz="1600" dirty="0" err="1"/>
              <a:t>expresie</a:t>
            </a:r>
            <a:r>
              <a:rPr lang="en-US" sz="1600" dirty="0"/>
              <a:t> bine-format</a:t>
            </a:r>
            <a:r>
              <a:rPr lang="ro-RO" sz="1600" dirty="0"/>
              <a:t>ă: parantezele se inchid corespunzător</a:t>
            </a:r>
          </a:p>
          <a:p>
            <a:endParaRPr lang="ro-RO" sz="1600" dirty="0"/>
          </a:p>
          <a:p>
            <a:r>
              <a:rPr lang="ro-RO" sz="1600" dirty="0"/>
              <a:t>Daca intervalele </a:t>
            </a:r>
            <a:r>
              <a:rPr lang="en-US" sz="1600" dirty="0"/>
              <a:t>[</a:t>
            </a:r>
            <a:r>
              <a:rPr lang="en-US" sz="1600" dirty="0" err="1"/>
              <a:t>u.d,u.f</a:t>
            </a:r>
            <a:r>
              <a:rPr lang="en-US" sz="1600" dirty="0"/>
              <a:t>] </a:t>
            </a:r>
            <a:r>
              <a:rPr lang="en-US" sz="1600" dirty="0" err="1"/>
              <a:t>si</a:t>
            </a:r>
            <a:r>
              <a:rPr lang="en-US" sz="1600" dirty="0"/>
              <a:t> [</a:t>
            </a:r>
            <a:r>
              <a:rPr lang="en-US" sz="1600" dirty="0" err="1"/>
              <a:t>v.d</a:t>
            </a:r>
            <a:r>
              <a:rPr lang="en-US" sz="1600" dirty="0"/>
              <a:t>, </a:t>
            </a:r>
            <a:r>
              <a:rPr lang="en-US" sz="1600" dirty="0" err="1"/>
              <a:t>v.f</a:t>
            </a:r>
            <a:r>
              <a:rPr lang="en-US" sz="1600" dirty="0"/>
              <a:t>] </a:t>
            </a:r>
            <a:r>
              <a:rPr lang="en-US" sz="1600" dirty="0" err="1"/>
              <a:t>sunt</a:t>
            </a:r>
            <a:r>
              <a:rPr lang="en-US" sz="1600" dirty="0"/>
              <a:t> </a:t>
            </a:r>
            <a:r>
              <a:rPr lang="en-US" sz="1600" dirty="0" err="1"/>
              <a:t>disjuncte</a:t>
            </a:r>
            <a:r>
              <a:rPr lang="en-US" sz="1600" dirty="0"/>
              <a:t>, </a:t>
            </a:r>
            <a:r>
              <a:rPr lang="en-US" sz="1600" dirty="0" err="1"/>
              <a:t>atunci</a:t>
            </a:r>
            <a:r>
              <a:rPr lang="en-US" sz="1600" dirty="0"/>
              <a:t> </a:t>
            </a:r>
            <a:r>
              <a:rPr lang="en-US" sz="1600" dirty="0" err="1"/>
              <a:t>nici</a:t>
            </a:r>
            <a:r>
              <a:rPr lang="en-US" sz="1600" dirty="0"/>
              <a:t> </a:t>
            </a:r>
            <a:r>
              <a:rPr lang="en-US" sz="1600" dirty="0" err="1"/>
              <a:t>unul</a:t>
            </a:r>
            <a:r>
              <a:rPr lang="en-US" sz="1600" dirty="0"/>
              <a:t> </a:t>
            </a:r>
            <a:r>
              <a:rPr lang="en-US" sz="1600" dirty="0" err="1"/>
              <a:t>dintre</a:t>
            </a:r>
            <a:r>
              <a:rPr lang="en-US" sz="1600" dirty="0"/>
              <a:t> u </a:t>
            </a:r>
            <a:r>
              <a:rPr lang="en-US" sz="1600" dirty="0" err="1"/>
              <a:t>sau</a:t>
            </a:r>
            <a:r>
              <a:rPr lang="en-US" sz="1600" dirty="0"/>
              <a:t> v nu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descendentul</a:t>
            </a:r>
            <a:r>
              <a:rPr lang="en-US" sz="1600" dirty="0"/>
              <a:t> </a:t>
            </a:r>
            <a:r>
              <a:rPr lang="en-US" sz="1600" dirty="0" err="1"/>
              <a:t>celuilalt</a:t>
            </a:r>
            <a:r>
              <a:rPr lang="en-US" sz="1600" dirty="0"/>
              <a:t> in </a:t>
            </a:r>
            <a:r>
              <a:rPr lang="en-US" sz="1600" dirty="0" err="1"/>
              <a:t>arborele</a:t>
            </a:r>
            <a:r>
              <a:rPr lang="en-US" sz="1600" dirty="0"/>
              <a:t> de </a:t>
            </a:r>
            <a:r>
              <a:rPr lang="en-US" sz="1600" dirty="0" err="1"/>
              <a:t>parcurgere</a:t>
            </a:r>
            <a:endParaRPr lang="en-US" sz="1600" dirty="0"/>
          </a:p>
          <a:p>
            <a:r>
              <a:rPr lang="en-US" sz="1600" dirty="0" err="1"/>
              <a:t>Dac</a:t>
            </a:r>
            <a:r>
              <a:rPr lang="ro-RO" sz="1600" dirty="0"/>
              <a:t>ă </a:t>
            </a:r>
            <a:r>
              <a:rPr lang="en-US" sz="1600" dirty="0"/>
              <a:t>[</a:t>
            </a:r>
            <a:r>
              <a:rPr lang="en-US" sz="1600" dirty="0" err="1"/>
              <a:t>u.d</a:t>
            </a:r>
            <a:r>
              <a:rPr lang="en-US" sz="1600" dirty="0"/>
              <a:t>, </a:t>
            </a:r>
            <a:r>
              <a:rPr lang="en-US" sz="1600" dirty="0" err="1"/>
              <a:t>u.f</a:t>
            </a:r>
            <a:r>
              <a:rPr lang="en-US" sz="1600" dirty="0"/>
              <a:t>]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inclus</a:t>
            </a:r>
            <a:r>
              <a:rPr lang="en-US" sz="1600" dirty="0"/>
              <a:t> total </a:t>
            </a:r>
            <a:r>
              <a:rPr lang="ro-RO" sz="1600" dirty="0"/>
              <a:t>în </a:t>
            </a:r>
            <a:r>
              <a:rPr lang="en-US" sz="1600" dirty="0"/>
              <a:t>[</a:t>
            </a:r>
            <a:r>
              <a:rPr lang="en-US" sz="1600" dirty="0" err="1"/>
              <a:t>v.d</a:t>
            </a:r>
            <a:r>
              <a:rPr lang="en-US" sz="1600" dirty="0"/>
              <a:t>, </a:t>
            </a:r>
            <a:r>
              <a:rPr lang="en-US" sz="1600" dirty="0" err="1"/>
              <a:t>v.f</a:t>
            </a:r>
            <a:r>
              <a:rPr lang="en-US" sz="1600" dirty="0"/>
              <a:t>], </a:t>
            </a:r>
            <a:r>
              <a:rPr lang="en-US" sz="1600" dirty="0" err="1"/>
              <a:t>atunci</a:t>
            </a:r>
            <a:r>
              <a:rPr lang="en-US" sz="1600" dirty="0"/>
              <a:t> u </a:t>
            </a:r>
            <a:r>
              <a:rPr lang="en-US" sz="1600" dirty="0" err="1"/>
              <a:t>este</a:t>
            </a:r>
            <a:r>
              <a:rPr lang="en-US" sz="1600" dirty="0"/>
              <a:t> un descendent a </a:t>
            </a:r>
            <a:r>
              <a:rPr lang="en-US" sz="1600" dirty="0" err="1"/>
              <a:t>lui</a:t>
            </a:r>
            <a:r>
              <a:rPr lang="en-US" sz="1600" dirty="0"/>
              <a:t> v in </a:t>
            </a:r>
            <a:r>
              <a:rPr lang="en-US" sz="1600" dirty="0" err="1"/>
              <a:t>arborele</a:t>
            </a:r>
            <a:r>
              <a:rPr lang="en-US" sz="1600" dirty="0"/>
              <a:t> de </a:t>
            </a:r>
            <a:r>
              <a:rPr lang="en-US" sz="1600" dirty="0" err="1"/>
              <a:t>parcurgere</a:t>
            </a:r>
            <a:endParaRPr lang="en-US" sz="1600" dirty="0"/>
          </a:p>
          <a:p>
            <a:endParaRPr lang="ro-RO" sz="1600" dirty="0"/>
          </a:p>
        </p:txBody>
      </p:sp>
    </p:spTree>
    <p:extLst>
      <p:ext uri="{BB962C8B-B14F-4D97-AF65-F5344CB8AC3E}">
        <p14:creationId xmlns:p14="http://schemas.microsoft.com/office/powerpoint/2010/main" val="190269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- 12 Decembrie 2022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840"/>
            <a:ext cx="9067800" cy="645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52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Sortare</a:t>
            </a:r>
            <a:r>
              <a:rPr lang="en-US" sz="3200" dirty="0"/>
              <a:t> topologic</a:t>
            </a:r>
            <a:r>
              <a:rPr lang="ro-RO" sz="3200" dirty="0"/>
              <a:t>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762" y="1524000"/>
            <a:ext cx="8199437" cy="4114800"/>
          </a:xfrm>
        </p:spPr>
        <p:txBody>
          <a:bodyPr/>
          <a:lstStyle/>
          <a:p>
            <a:r>
              <a:rPr lang="ro-RO" sz="1600" dirty="0"/>
              <a:t>O sortare topologică a unui </a:t>
            </a:r>
            <a:r>
              <a:rPr lang="en-US" sz="1600" dirty="0"/>
              <a:t>“direct acyclic graph” G=(V,E) </a:t>
            </a:r>
            <a:r>
              <a:rPr lang="en-US" sz="1600" dirty="0" err="1"/>
              <a:t>este</a:t>
            </a:r>
            <a:r>
              <a:rPr lang="en-US" sz="1600" dirty="0"/>
              <a:t> o </a:t>
            </a:r>
            <a:r>
              <a:rPr lang="en-US" sz="1600" dirty="0" err="1"/>
              <a:t>ordonare</a:t>
            </a:r>
            <a:r>
              <a:rPr lang="en-US" sz="1600" dirty="0"/>
              <a:t> a </a:t>
            </a:r>
            <a:r>
              <a:rPr lang="en-US" sz="1600" dirty="0" err="1"/>
              <a:t>nodurilor</a:t>
            </a:r>
            <a:r>
              <a:rPr lang="en-US" sz="1600" dirty="0"/>
              <a:t> din G </a:t>
            </a:r>
            <a:r>
              <a:rPr lang="en-US" sz="1600" dirty="0" err="1"/>
              <a:t>astfel</a:t>
            </a:r>
            <a:r>
              <a:rPr lang="en-US" sz="1600" dirty="0"/>
              <a:t> </a:t>
            </a:r>
            <a:r>
              <a:rPr lang="ro-RO" sz="1600" dirty="0"/>
              <a:t>încât dacă G conține un arc (u,v) atunci u apare inaintea lui v in sirul sortat. </a:t>
            </a:r>
          </a:p>
          <a:p>
            <a:r>
              <a:rPr lang="ro-RO" sz="1600" dirty="0"/>
              <a:t>Dacă graful contine cicluri, atunci sortarea topologică nu este posibilă</a:t>
            </a:r>
          </a:p>
          <a:p>
            <a:endParaRPr lang="ro-RO" sz="1600" dirty="0"/>
          </a:p>
          <a:p>
            <a:endParaRPr lang="ro-RO" sz="1600" dirty="0"/>
          </a:p>
        </p:txBody>
      </p:sp>
      <p:sp>
        <p:nvSpPr>
          <p:cNvPr id="103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- 12 Decembrie 2022</a:t>
            </a:r>
          </a:p>
        </p:txBody>
      </p:sp>
      <p:sp>
        <p:nvSpPr>
          <p:cNvPr id="1031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32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72" name="Text Box 16"/>
          <p:cNvSpPr txBox="1">
            <a:spLocks noChangeArrowheads="1"/>
          </p:cNvSpPr>
          <p:nvPr/>
        </p:nvSpPr>
        <p:spPr bwMode="auto">
          <a:xfrm>
            <a:off x="46038" y="206375"/>
            <a:ext cx="6397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19400"/>
            <a:ext cx="9144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0937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ro-RO" sz="1600" dirty="0"/>
              <a:t>TOPOLOGICAL-SORT(G)</a:t>
            </a:r>
          </a:p>
          <a:p>
            <a:pPr marL="0" indent="0">
              <a:buNone/>
            </a:pPr>
            <a:r>
              <a:rPr lang="ro-RO" sz="1600" dirty="0"/>
              <a:t>1. Apelează DFS(G) pentru a calcula v.f pentru fiecare nod v</a:t>
            </a:r>
          </a:p>
          <a:p>
            <a:pPr marL="0" indent="0">
              <a:buNone/>
            </a:pPr>
            <a:r>
              <a:rPr lang="ro-RO" sz="1600" dirty="0"/>
              <a:t>2. Pe măsură ce fiecare nod este terminat de parcurs, inserăm acest nod in varful unei liste inlănțuite</a:t>
            </a:r>
          </a:p>
          <a:p>
            <a:pPr marL="0" indent="0">
              <a:buNone/>
            </a:pPr>
            <a:r>
              <a:rPr lang="ro-RO" sz="1600" dirty="0"/>
              <a:t>3. Return lista inlănțuită</a:t>
            </a:r>
          </a:p>
          <a:p>
            <a:pPr marL="0" indent="0">
              <a:buNone/>
            </a:pPr>
            <a:endParaRPr lang="ro-RO" sz="1600" dirty="0"/>
          </a:p>
          <a:p>
            <a:pPr marL="0" indent="0">
              <a:buNone/>
            </a:pPr>
            <a:endParaRPr lang="ro-RO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- 12 Decembrie 2022</a:t>
            </a:r>
          </a:p>
        </p:txBody>
      </p:sp>
    </p:spTree>
    <p:extLst>
      <p:ext uri="{BB962C8B-B14F-4D97-AF65-F5344CB8AC3E}">
        <p14:creationId xmlns:p14="http://schemas.microsoft.com/office/powerpoint/2010/main" val="3188747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Componente tare conexe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3200400" cy="4114800"/>
              </a:xfrm>
            </p:spPr>
            <p:txBody>
              <a:bodyPr/>
              <a:lstStyle/>
              <a:p>
                <a:r>
                  <a:rPr lang="ro-RO" sz="1600" dirty="0"/>
                  <a:t>Problemă: descompunerea unui graf orientat in componentele tare conexe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Pentru un graf orientat G=(V,E), o componentă tare conexă este un set maximal de noduri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ro-RO" sz="1600" dirty="0"/>
                  <a:t> astfel incat pentru orice pereche de noduri u si v din C există o cale de la u la v si de la v la u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3200400" cy="4114800"/>
              </a:xfrm>
              <a:blipFill rotWithShape="1">
                <a:blip r:embed="rId2"/>
                <a:stretch>
                  <a:fillRect t="-444" r="-38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- 12 Decembrie 2022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447800"/>
            <a:ext cx="4638675" cy="473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94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600" dirty="0"/>
                  <a:t>STRONGLY-CONNECTED-COMPONENTS(G)</a:t>
                </a:r>
              </a:p>
              <a:p>
                <a:pPr marL="0" indent="0">
                  <a:buNone/>
                </a:pPr>
                <a:r>
                  <a:rPr lang="ro-RO" sz="1600" dirty="0"/>
                  <a:t>1. Apelează DFS(G) pentru a calcula u.f pentru fiecare nod u</a:t>
                </a:r>
              </a:p>
              <a:p>
                <a:pPr marL="0" indent="0">
                  <a:buNone/>
                </a:pPr>
                <a:r>
                  <a:rPr lang="ro-RO" sz="1600" dirty="0"/>
                  <a:t>2. Calculează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</a:rPr>
                          <m:t>𝐺</m:t>
                        </m:r>
                      </m:e>
                      <m:sup>
                        <m:r>
                          <a:rPr lang="ro-RO" sz="16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o-RO" sz="1600" b="0" i="1" smtClean="0">
                        <a:latin typeface="Cambria Math"/>
                      </a:rPr>
                      <m:t>=(</m:t>
                    </m:r>
                    <m:r>
                      <a:rPr lang="ro-RO" sz="1600" b="0" i="1" smtClean="0">
                        <a:latin typeface="Cambria Math"/>
                      </a:rPr>
                      <m:t>𝑉</m:t>
                    </m:r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</a:rPr>
                          <m:t>𝐸</m:t>
                        </m:r>
                      </m:e>
                      <m:sup>
                        <m:r>
                          <a:rPr lang="ro-RO" sz="16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3. Apelează DFS(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i="1">
                            <a:latin typeface="Cambria Math"/>
                          </a:rPr>
                          <m:t>𝐺</m:t>
                        </m:r>
                      </m:e>
                      <m:sup>
                        <m:r>
                          <a:rPr lang="ro-RO" sz="1600" i="1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o-RO" sz="1600" dirty="0"/>
                  <a:t>) dar in bucla principală a lui DFS considerăm ordinea nodurilor ca fiind ordinea descrescătoate a lui u.f</a:t>
                </a:r>
              </a:p>
              <a:p>
                <a:pPr marL="0" indent="0">
                  <a:buNone/>
                </a:pPr>
                <a:r>
                  <a:rPr lang="ro-RO" sz="1600" dirty="0"/>
                  <a:t>4. </a:t>
                </a:r>
                <a:r>
                  <a:rPr lang="ro-RO" sz="1600"/>
                  <a:t>Returnăm nodurile fiecărui arbore din pădurea formată la linia 3 ca si o componentă tare conexă separată</a:t>
                </a: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l="-392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- 12 Decembrie 2022</a:t>
            </a:r>
          </a:p>
        </p:txBody>
      </p:sp>
    </p:spTree>
    <p:extLst>
      <p:ext uri="{BB962C8B-B14F-4D97-AF65-F5344CB8AC3E}">
        <p14:creationId xmlns:p14="http://schemas.microsoft.com/office/powerpoint/2010/main" val="1929102447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4905</TotalTime>
  <Words>1632</Words>
  <Application>Microsoft Office PowerPoint</Application>
  <PresentationFormat>On-screen Show (4:3)</PresentationFormat>
  <Paragraphs>144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Cambria Math</vt:lpstr>
      <vt:lpstr>Tahoma</vt:lpstr>
      <vt:lpstr>Times New Roman</vt:lpstr>
      <vt:lpstr>Wingdings</vt:lpstr>
      <vt:lpstr>Blueprint</vt:lpstr>
      <vt:lpstr>Algoritmi și structuri de date – curs 9     - Informatică Economică, an II –</vt:lpstr>
      <vt:lpstr>Cuprins</vt:lpstr>
      <vt:lpstr>Reprezentări – liste de adiacență</vt:lpstr>
      <vt:lpstr>Reprezentări – matrice de adiacență</vt:lpstr>
      <vt:lpstr>PowerPoint Presentation</vt:lpstr>
      <vt:lpstr>Parcurgerea in latime (breadth-first)</vt:lpstr>
      <vt:lpstr>Parcurgere in latime</vt:lpstr>
      <vt:lpstr>PowerPoint Presentation</vt:lpstr>
      <vt:lpstr>Calea cea mai scurtă</vt:lpstr>
      <vt:lpstr>Parcurgerea in adancime</vt:lpstr>
      <vt:lpstr>PowerPoint Presentation</vt:lpstr>
      <vt:lpstr>PowerPoint Presentation</vt:lpstr>
      <vt:lpstr>PowerPoint Presentation</vt:lpstr>
      <vt:lpstr>Sortare topologică</vt:lpstr>
      <vt:lpstr>PowerPoint Presentation</vt:lpstr>
      <vt:lpstr>Componente tare conexe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GHEORGHE-COSMIN SILAGHI</cp:lastModifiedBy>
  <cp:revision>235</cp:revision>
  <dcterms:created xsi:type="dcterms:W3CDTF">2004-11-24T18:35:22Z</dcterms:created>
  <dcterms:modified xsi:type="dcterms:W3CDTF">2022-12-12T05:46:24Z</dcterms:modified>
</cp:coreProperties>
</file>