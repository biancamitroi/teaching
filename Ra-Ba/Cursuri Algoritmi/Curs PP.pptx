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0"/>
  </p:notesMasterIdLst>
  <p:sldIdLst>
    <p:sldId id="256" r:id="rId2"/>
    <p:sldId id="281" r:id="rId3"/>
    <p:sldId id="257" r:id="rId4"/>
    <p:sldId id="286" r:id="rId5"/>
    <p:sldId id="287" r:id="rId6"/>
    <p:sldId id="280" r:id="rId7"/>
    <p:sldId id="260" r:id="rId8"/>
    <p:sldId id="261" r:id="rId9"/>
    <p:sldId id="262" r:id="rId10"/>
    <p:sldId id="288" r:id="rId11"/>
    <p:sldId id="263" r:id="rId12"/>
    <p:sldId id="264" r:id="rId13"/>
    <p:sldId id="265" r:id="rId14"/>
    <p:sldId id="266" r:id="rId15"/>
    <p:sldId id="282" r:id="rId16"/>
    <p:sldId id="283" r:id="rId17"/>
    <p:sldId id="284" r:id="rId18"/>
    <p:sldId id="285" r:id="rId19"/>
  </p:sldIdLst>
  <p:sldSz cx="9144000" cy="6858000" type="screen4x3"/>
  <p:notesSz cx="7099300" cy="10234613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16" d="100"/>
          <a:sy n="116" d="100"/>
        </p:scale>
        <p:origin x="146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1FF025B8-CDF1-47E0-A314-DC57550098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0111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F025B8-CDF1-47E0-A314-DC5755009828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0991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</p:grpSp>
      <p:sp>
        <p:nvSpPr>
          <p:cNvPr id="4163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164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GB" smtClean="0"/>
              <a:t>Cluj-Napoca  - 8 ianuarie 2019</a:t>
            </a:r>
            <a:endParaRPr lang="en-GB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4CED30-8BB3-4254-8858-39CEA52735C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7581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- 8 ianuarie 2019</a:t>
            </a:r>
            <a:endParaRPr lang="en-GB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9DBAD-A52A-4DC7-80FE-981ECB1F2F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809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- 8 ianuarie 2019</a:t>
            </a:r>
            <a:endParaRPr lang="en-GB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D88759-1A87-43FC-9D81-BC4D400D2A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480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- 8 ianuarie 2019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7477D-BB97-457C-89BA-5713B0B0B4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6496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- 8 ianuarie 2019</a:t>
            </a:r>
            <a:endParaRPr lang="en-GB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E8387D-1133-468E-AE72-C925541E4D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68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- 8 ianuarie 2019</a:t>
            </a:r>
            <a:endParaRPr lang="en-GB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F3CC5C-E80A-488B-AD6C-3180914442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536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- 8 ianuarie 2019</a:t>
            </a:r>
            <a:endParaRPr lang="en-GB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0A99A8-BCD7-4B7E-8522-3CE9331863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855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- 8 ianuarie 2019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D067C4-FE98-4433-8D52-56E1BA8177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2724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o-RO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- 8 ianuarie 2019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AD716F-35CF-4603-9782-F2FDC8C4CD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9616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- 8 ianuarie 2019</a:t>
            </a:r>
            <a:endParaRPr lang="en-GB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DA8865-FCD6-43CD-88ED-AF2AD3463E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6662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- 8 ianuarie 2019</a:t>
            </a:r>
            <a:endParaRPr lang="en-GB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BABAE-6959-4344-8AD1-D6370A2C50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928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9050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00600" y="19050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838200" y="40386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600" y="40386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- 8 ianuarie 2019</a:t>
            </a:r>
            <a:endParaRPr lang="en-GB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B209-2CBE-428E-A057-AD0A68D539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1637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- 8 ianuarie 2019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59D4E0-6A23-45C4-A877-717DF862B3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709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ro-RO" noProof="0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- 8 ianuarie 2019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2A3B64-3C04-4941-BAB2-F7767CF73D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4358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4104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4111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3077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78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79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0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1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2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7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2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7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  <p:grpSp>
            <p:nvGrpSpPr>
              <p:cNvPr id="4112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310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</p:grpSp>
        <p:sp>
          <p:nvSpPr>
            <p:cNvPr id="3129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o-RO"/>
            </a:p>
          </p:txBody>
        </p:sp>
        <p:sp>
          <p:nvSpPr>
            <p:cNvPr id="3130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o-RO"/>
            </a:p>
          </p:txBody>
        </p:sp>
        <p:grpSp>
          <p:nvGrpSpPr>
            <p:cNvPr id="4107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3132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3133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3134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</p:grpSp>
      <p:sp>
        <p:nvSpPr>
          <p:cNvPr id="4099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4100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137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138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GB" smtClean="0"/>
              <a:t>Cluj-Napoca  - 8 ianuarie 2019</a:t>
            </a:r>
            <a:endParaRPr lang="en-GB"/>
          </a:p>
        </p:txBody>
      </p:sp>
      <p:sp>
        <p:nvSpPr>
          <p:cNvPr id="3139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084E7CB-EF2E-4647-B803-81CC09BA31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6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0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3048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 smtClean="0"/>
              <a:t>Cluj-Napoca  - 8 ianuarie 2019</a:t>
            </a:r>
            <a:endParaRPr lang="en-GB" sz="140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990600"/>
          </a:xfrm>
        </p:spPr>
        <p:txBody>
          <a:bodyPr/>
          <a:lstStyle/>
          <a:p>
            <a:pPr eaLnBrk="1" hangingPunct="1"/>
            <a:r>
              <a:rPr lang="en-US" sz="3200" dirty="0" err="1"/>
              <a:t>Algoritmi</a:t>
            </a:r>
            <a:r>
              <a:rPr lang="en-US" sz="3200" dirty="0"/>
              <a:t> </a:t>
            </a:r>
            <a:r>
              <a:rPr lang="ro-RO" sz="3200" dirty="0"/>
              <a:t>și structuri de date</a:t>
            </a:r>
            <a:r>
              <a:rPr lang="en-US" sz="3200" dirty="0"/>
              <a:t> – curs 12 </a:t>
            </a:r>
            <a:r>
              <a:rPr lang="en-US" sz="3600" dirty="0"/>
              <a:t>   </a:t>
            </a:r>
            <a:br>
              <a:rPr lang="en-US" sz="3600" dirty="0"/>
            </a:br>
            <a:r>
              <a:rPr lang="ro-RO" sz="2000" dirty="0"/>
              <a:t>- Informatică Economică, an II –</a:t>
            </a:r>
          </a:p>
        </p:txBody>
      </p:sp>
      <p:sp>
        <p:nvSpPr>
          <p:cNvPr id="614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3276600" y="4833938"/>
            <a:ext cx="4953000" cy="804862"/>
          </a:xfrm>
        </p:spPr>
        <p:txBody>
          <a:bodyPr/>
          <a:lstStyle/>
          <a:p>
            <a:pPr eaLnBrk="1" hangingPunct="1"/>
            <a:r>
              <a:rPr lang="ro-RO"/>
              <a:t>Gheorghe Cosmin Silaghi</a:t>
            </a:r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838200" y="3048000"/>
            <a:ext cx="487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en-US" sz="2000" dirty="0" err="1">
                <a:solidFill>
                  <a:schemeClr val="tx2"/>
                </a:solidFill>
              </a:rPr>
              <a:t>Algoritmi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paraleli</a:t>
            </a:r>
            <a:endParaRPr lang="ro-RO" sz="2000" dirty="0">
              <a:solidFill>
                <a:schemeClr val="tx2"/>
              </a:solidFill>
            </a:endParaRPr>
          </a:p>
        </p:txBody>
      </p:sp>
      <p:pic>
        <p:nvPicPr>
          <p:cNvPr id="4" name="Picture 5" descr="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752599" cy="987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 descr="http://bis.econ.ubbcluj.ro/website/templates/bistemplate/images/sigla_fsega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2570" y="0"/>
            <a:ext cx="977030" cy="977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3" name="Picture 9" descr="http://bis.econ.ubbcluj.ro/website/templates/bistemplate/images/sigla_ubb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1" y="0"/>
            <a:ext cx="914399" cy="914400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600" dirty="0"/>
              <a:t>Cuprins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err="1"/>
              <a:t>Definirea</a:t>
            </a:r>
            <a:r>
              <a:rPr lang="en-US" sz="2000" dirty="0"/>
              <a:t> </a:t>
            </a:r>
            <a:r>
              <a:rPr lang="en-US" sz="2000" dirty="0" err="1"/>
              <a:t>algoritmilor</a:t>
            </a:r>
            <a:r>
              <a:rPr lang="en-US" sz="2000" dirty="0"/>
              <a:t> </a:t>
            </a:r>
            <a:r>
              <a:rPr lang="en-US" sz="2000" dirty="0" err="1"/>
              <a:t>paraleli</a:t>
            </a: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Inmultirea</a:t>
            </a:r>
            <a:r>
              <a:rPr lang="en-US" sz="2000" dirty="0"/>
              <a:t> </a:t>
            </a:r>
            <a:r>
              <a:rPr lang="en-US" sz="2000" dirty="0" err="1"/>
              <a:t>matricilor</a:t>
            </a: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Sortare</a:t>
            </a:r>
            <a:r>
              <a:rPr lang="en-US" sz="2000" dirty="0"/>
              <a:t> </a:t>
            </a:r>
            <a:r>
              <a:rPr lang="en-US" sz="2000" dirty="0" err="1"/>
              <a:t>prin</a:t>
            </a:r>
            <a:r>
              <a:rPr lang="en-US" sz="2000" dirty="0"/>
              <a:t> </a:t>
            </a:r>
            <a:r>
              <a:rPr lang="en-US" sz="2000" dirty="0" err="1"/>
              <a:t>interclasare</a:t>
            </a:r>
            <a:endParaRPr lang="en-US" sz="2000" dirty="0"/>
          </a:p>
          <a:p>
            <a:endParaRPr lang="ro-RO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- 8 ianuarie 2019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0378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dirty="0" err="1"/>
              <a:t>Conceptul</a:t>
            </a:r>
            <a:r>
              <a:rPr lang="en-US" sz="2800" dirty="0"/>
              <a:t> de multithreading</a:t>
            </a:r>
          </a:p>
        </p:txBody>
      </p:sp>
      <p:sp>
        <p:nvSpPr>
          <p:cNvPr id="102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76400"/>
            <a:ext cx="8534400" cy="4114800"/>
          </a:xfrm>
          <a:noFill/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</a:pPr>
            <a:r>
              <a:rPr lang="en-US" sz="1800" b="1" dirty="0" err="1"/>
              <a:t>Algoritmi</a:t>
            </a:r>
            <a:r>
              <a:rPr lang="en-US" sz="1800" b="1" dirty="0"/>
              <a:t> </a:t>
            </a:r>
            <a:r>
              <a:rPr lang="en-US" sz="1800" b="1" dirty="0" err="1"/>
              <a:t>seriali</a:t>
            </a:r>
            <a:r>
              <a:rPr lang="en-US" sz="1800" dirty="0"/>
              <a:t>: </a:t>
            </a:r>
            <a:r>
              <a:rPr lang="en-US" sz="1800" dirty="0" err="1"/>
              <a:t>ruleaz</a:t>
            </a:r>
            <a:r>
              <a:rPr lang="ro-RO" sz="1800" dirty="0"/>
              <a:t>ă pe calculatoare cu un singur procesor capabil să execute o singură instructiune la un moment dat</a:t>
            </a:r>
          </a:p>
          <a:p>
            <a:pPr marL="533400" indent="-533400" eaLnBrk="1" hangingPunct="1">
              <a:lnSpc>
                <a:spcPct val="90000"/>
              </a:lnSpc>
            </a:pPr>
            <a:endParaRPr lang="ro-RO" sz="1800" dirty="0"/>
          </a:p>
          <a:p>
            <a:pPr marL="533400" indent="-533400" eaLnBrk="1" hangingPunct="1">
              <a:lnSpc>
                <a:spcPct val="90000"/>
              </a:lnSpc>
            </a:pPr>
            <a:r>
              <a:rPr lang="ro-RO" sz="1800" b="1" dirty="0"/>
              <a:t>Algoritmi paraleli</a:t>
            </a:r>
            <a:r>
              <a:rPr lang="ro-RO" sz="1800" dirty="0"/>
              <a:t>: rulează pe calculatoare multi-procesor capabile să execute mai multe instructiuni in mod concurent</a:t>
            </a:r>
          </a:p>
          <a:p>
            <a:pPr marL="533400" indent="-533400" eaLnBrk="1" hangingPunct="1">
              <a:lnSpc>
                <a:spcPct val="90000"/>
              </a:lnSpc>
            </a:pPr>
            <a:endParaRPr lang="ro-RO" sz="18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ro-RO" sz="1600" b="1" dirty="0"/>
              <a:t>Tipuri de masini multi-procesor:</a:t>
            </a:r>
          </a:p>
          <a:p>
            <a:pPr marL="533400" indent="-533400" eaLnBrk="1" hangingPunct="1">
              <a:lnSpc>
                <a:spcPct val="90000"/>
              </a:lnSpc>
            </a:pPr>
            <a:r>
              <a:rPr lang="ro-RO" sz="1600" dirty="0"/>
              <a:t>Calculatoarele obișnuite cu un singur cip multi-core care găzduiește mai multe coruri – acestea partajează o memorie comună</a:t>
            </a:r>
          </a:p>
          <a:p>
            <a:pPr marL="533400" indent="-533400" eaLnBrk="1" hangingPunct="1">
              <a:lnSpc>
                <a:spcPct val="90000"/>
              </a:lnSpc>
            </a:pPr>
            <a:r>
              <a:rPr lang="ro-RO" sz="1600" dirty="0"/>
              <a:t>Clustele:  construite din mai multe PC-uri separate interconectate printr-o retea dedicată</a:t>
            </a:r>
          </a:p>
          <a:p>
            <a:pPr marL="533400" indent="-533400" eaLnBrk="1" hangingPunct="1">
              <a:lnSpc>
                <a:spcPct val="90000"/>
              </a:lnSpc>
            </a:pPr>
            <a:r>
              <a:rPr lang="ro-RO" sz="1600" dirty="0"/>
              <a:t>Supercomputerele </a:t>
            </a:r>
          </a:p>
          <a:p>
            <a:pPr marL="533400" indent="-533400" eaLnBrk="1" hangingPunct="1">
              <a:lnSpc>
                <a:spcPct val="90000"/>
              </a:lnSpc>
            </a:pPr>
            <a:endParaRPr lang="ro-RO" sz="1600" dirty="0"/>
          </a:p>
          <a:p>
            <a:pPr marL="533400" indent="-533400" eaLnBrk="1" hangingPunct="1">
              <a:lnSpc>
                <a:spcPct val="90000"/>
              </a:lnSpc>
            </a:pPr>
            <a:r>
              <a:rPr lang="ro-RO" sz="1600" b="1" dirty="0"/>
              <a:t>Shared memory</a:t>
            </a:r>
            <a:r>
              <a:rPr lang="ro-RO" sz="1600" dirty="0"/>
              <a:t> (memorie partajata): fiecare procesor poate accesa in mod direct orice locație de memorie</a:t>
            </a:r>
          </a:p>
          <a:p>
            <a:pPr marL="533400" indent="-533400" eaLnBrk="1" hangingPunct="1">
              <a:lnSpc>
                <a:spcPct val="90000"/>
              </a:lnSpc>
            </a:pPr>
            <a:r>
              <a:rPr lang="ro-RO" sz="1600" b="1" dirty="0"/>
              <a:t>Memorie distribuită</a:t>
            </a:r>
            <a:r>
              <a:rPr lang="ro-RO" sz="1600" dirty="0"/>
              <a:t>: fiecare procesor are propria memorie privată iar comunicarea intre procesoare se face prin mesaje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- 8 ianuarie 2019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88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1B2844-8B80-45D5-91D8-82D80E31A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/>
              <a:t>Memorie</a:t>
            </a:r>
            <a:r>
              <a:rPr lang="en-US" sz="4000" dirty="0"/>
              <a:t> </a:t>
            </a:r>
            <a:r>
              <a:rPr lang="en-US" sz="4000" dirty="0" err="1"/>
              <a:t>distribuita</a:t>
            </a:r>
            <a:endParaRPr lang="en-US" sz="4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EAEDA1C-0112-42D0-ADA8-A4759A8DF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- 8 ianuarie 2019</a:t>
            </a:r>
            <a:endParaRPr lang="en-GB"/>
          </a:p>
        </p:txBody>
      </p:sp>
      <p:pic>
        <p:nvPicPr>
          <p:cNvPr id="5" name="Picture 2" descr="f03-01-9780123742605.eps">
            <a:extLst>
              <a:ext uri="{FF2B5EF4-FFF2-40B4-BE49-F238E27FC236}">
                <a16:creationId xmlns:a16="http://schemas.microsoft.com/office/drawing/2014/main" xmlns="" id="{D22F8D2C-BD64-4B3C-A47A-78D878887B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850" y="1828800"/>
            <a:ext cx="5549900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6289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16319F-CBDC-4363-AC30-0E4FB0B05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/>
              <a:t>Memorie</a:t>
            </a:r>
            <a:r>
              <a:rPr lang="en-US" sz="3600" dirty="0"/>
              <a:t> </a:t>
            </a:r>
            <a:r>
              <a:rPr lang="en-US" sz="3600" dirty="0" err="1"/>
              <a:t>partajat</a:t>
            </a:r>
            <a:r>
              <a:rPr lang="ro-RO" sz="3600" dirty="0"/>
              <a:t>ă (shared memory)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CE22FBF-6567-4035-A0EB-1C79441B9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- 8 ianuarie 2019</a:t>
            </a:r>
            <a:endParaRPr lang="en-GB"/>
          </a:p>
        </p:txBody>
      </p:sp>
      <p:pic>
        <p:nvPicPr>
          <p:cNvPr id="5" name="Picture 2" descr="f03-02-9780123742605.eps">
            <a:extLst>
              <a:ext uri="{FF2B5EF4-FFF2-40B4-BE49-F238E27FC236}">
                <a16:creationId xmlns:a16="http://schemas.microsoft.com/office/drawing/2014/main" xmlns="" id="{B82423C7-782C-47DB-B9A7-2B5335795D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1773238"/>
            <a:ext cx="5976938" cy="261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5857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Concepte de programare paralela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229600" cy="4876800"/>
          </a:xfrm>
        </p:spPr>
        <p:txBody>
          <a:bodyPr/>
          <a:lstStyle/>
          <a:p>
            <a:r>
              <a:rPr lang="ro-RO" sz="1600" dirty="0"/>
              <a:t>Fir de executie (thread): fiecare thread poate executa cod indepedent de celelalte threaduri</a:t>
            </a:r>
          </a:p>
          <a:p>
            <a:r>
              <a:rPr lang="ro-RO" sz="1600" dirty="0"/>
              <a:t>Sistemul de operare incarca threadurile pe rand pe procesor printr-un mecanism de switching = </a:t>
            </a:r>
            <a:r>
              <a:rPr lang="en-US" sz="1600" dirty="0"/>
              <a:t>&gt;</a:t>
            </a:r>
            <a:r>
              <a:rPr lang="ro-RO" sz="1600" dirty="0"/>
              <a:t> se simulează multi-threading</a:t>
            </a:r>
          </a:p>
          <a:p>
            <a:endParaRPr lang="ro-RO" sz="1600" dirty="0"/>
          </a:p>
          <a:p>
            <a:r>
              <a:rPr lang="ro-RO" sz="1600" dirty="0"/>
              <a:t>Pseudocodul programelor paralele contine 3 cuvinte cheie in plus: parallel, spawn si sync</a:t>
            </a:r>
          </a:p>
          <a:p>
            <a:r>
              <a:rPr lang="ro-RO" sz="1600" dirty="0"/>
              <a:t>Fără aceste cuvinte cheie, programul devine unul serial</a:t>
            </a:r>
          </a:p>
          <a:p>
            <a:endParaRPr lang="ro-RO" sz="1600" dirty="0"/>
          </a:p>
          <a:p>
            <a:endParaRPr lang="ro-RO" sz="1600" dirty="0"/>
          </a:p>
          <a:p>
            <a:endParaRPr lang="ro-RO" sz="16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- 8 ianuarie 2019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0697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2986088" y="1157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Calculul numerelor lui Fibonacci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- 8 ianuarie 2019</a:t>
            </a:r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600" b="0" i="1" smtClean="0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ro-RO" sz="1600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ro-RO" sz="1600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ro-RO" sz="1600" b="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600" b="0" i="1" smtClean="0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ro-RO" sz="16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ro-RO" sz="1600" b="0" i="1" smtClean="0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ro-RO" sz="1600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</m:t>
                        </m:r>
                        <m:r>
                          <a:rPr lang="ro-RO" sz="1600" b="0" i="1" smtClean="0"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</m:t>
                        </m:r>
                        <m:r>
                          <a:rPr lang="ro-RO" sz="1600" b="0" i="1" smtClean="0">
                            <a:latin typeface="Cambria Math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ro-RO" sz="1600" dirty="0"/>
                  <a:t>, pentru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𝑖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≥2</m:t>
                    </m:r>
                  </m:oMath>
                </a14:m>
                <a:endParaRPr lang="ro-RO" sz="1600" dirty="0"/>
              </a:p>
              <a:p>
                <a:pPr marL="0" indent="0">
                  <a:buNone/>
                </a:pPr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FIB(n)</a:t>
                </a:r>
              </a:p>
              <a:p>
                <a:pPr marL="0" indent="0">
                  <a:buNone/>
                </a:pPr>
                <a:r>
                  <a:rPr lang="ro-RO" sz="1600" dirty="0"/>
                  <a:t>1. If n</a:t>
                </a:r>
                <a:r>
                  <a:rPr lang="en-US" sz="1600" dirty="0"/>
                  <a:t>&lt;= 1</a:t>
                </a:r>
              </a:p>
              <a:p>
                <a:pPr marL="0" indent="0">
                  <a:buNone/>
                </a:pPr>
                <a:r>
                  <a:rPr lang="en-US" sz="1600" dirty="0"/>
                  <a:t>2.	Return n</a:t>
                </a:r>
              </a:p>
              <a:p>
                <a:pPr marL="0" indent="0">
                  <a:buNone/>
                </a:pPr>
                <a:r>
                  <a:rPr lang="en-US" sz="1600" dirty="0"/>
                  <a:t>3. Else 	x = FIB(n-1)</a:t>
                </a:r>
              </a:p>
              <a:p>
                <a:pPr marL="0" indent="0">
                  <a:buNone/>
                </a:pPr>
                <a:r>
                  <a:rPr lang="en-US" sz="1600" dirty="0"/>
                  <a:t>4.	y = FIB(n-2)</a:t>
                </a:r>
              </a:p>
              <a:p>
                <a:pPr marL="0" indent="0">
                  <a:buNone/>
                </a:pPr>
                <a:r>
                  <a:rPr lang="en-US" sz="1600" dirty="0"/>
                  <a:t>5.	Return x + y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spawn: </a:t>
                </a:r>
                <a:r>
                  <a:rPr lang="en-US" sz="1600" dirty="0" err="1"/>
                  <a:t>procedura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apelat</a:t>
                </a:r>
                <a:r>
                  <a:rPr lang="ro-RO" sz="1600" dirty="0"/>
                  <a:t>ă pe spawn se execută pe un fir paralel de execuție </a:t>
                </a:r>
              </a:p>
              <a:p>
                <a:pPr marL="0" indent="0">
                  <a:buNone/>
                </a:pPr>
                <a:r>
                  <a:rPr lang="ro-RO" sz="1600" dirty="0"/>
                  <a:t>sync: threadul părinte trebuie să astepte până copii isi termină execuția si abia apoi poate continua</a:t>
                </a:r>
                <a:r>
                  <a:rPr lang="en-US" sz="1600" dirty="0"/>
                  <a:t> </a:t>
                </a:r>
                <a:endParaRPr lang="ro-RO" sz="1600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  <a:blipFill rotWithShape="1">
                <a:blip r:embed="rId2"/>
                <a:stretch>
                  <a:fillRect l="-370" b="-7259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4191000" y="2743200"/>
            <a:ext cx="4343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dirty="0"/>
              <a:t>P-FIB(n)</a:t>
            </a:r>
          </a:p>
          <a:p>
            <a:r>
              <a:rPr lang="ro-RO" sz="1600" dirty="0"/>
              <a:t>1. If n </a:t>
            </a:r>
            <a:r>
              <a:rPr lang="en-US" sz="1600" dirty="0"/>
              <a:t>&lt;= 1</a:t>
            </a:r>
          </a:p>
          <a:p>
            <a:r>
              <a:rPr lang="en-US" sz="1600" dirty="0"/>
              <a:t>2. 	Return n</a:t>
            </a:r>
          </a:p>
          <a:p>
            <a:r>
              <a:rPr lang="en-US" sz="1600" dirty="0"/>
              <a:t>3. Else 	x = spawn P-FIN(n-1)</a:t>
            </a:r>
          </a:p>
          <a:p>
            <a:r>
              <a:rPr lang="en-US" sz="1600" dirty="0"/>
              <a:t>4.	y = P-FIB(n-2)</a:t>
            </a:r>
          </a:p>
          <a:p>
            <a:r>
              <a:rPr lang="en-US" sz="1600" dirty="0"/>
              <a:t>5.	</a:t>
            </a:r>
            <a:r>
              <a:rPr lang="en-US" sz="1600"/>
              <a:t>sync</a:t>
            </a:r>
            <a:endParaRPr lang="en-US" sz="1600" dirty="0"/>
          </a:p>
          <a:p>
            <a:r>
              <a:rPr lang="en-US" sz="1600" dirty="0"/>
              <a:t>6.	Return x + y</a:t>
            </a:r>
            <a:endParaRPr lang="ro-RO" sz="1600" dirty="0"/>
          </a:p>
        </p:txBody>
      </p:sp>
    </p:spTree>
    <p:extLst>
      <p:ext uri="{BB962C8B-B14F-4D97-AF65-F5344CB8AC3E}">
        <p14:creationId xmlns:p14="http://schemas.microsoft.com/office/powerpoint/2010/main" val="725815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0" y="3290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ro-RO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Computation DAG</a:t>
            </a:r>
            <a:endParaRPr lang="ro-RO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</p:spPr>
            <p:txBody>
              <a:bodyPr/>
              <a:lstStyle/>
              <a:p>
                <a:r>
                  <a:rPr lang="en-US" sz="1600" dirty="0"/>
                  <a:t>Reprezint</a:t>
                </a:r>
                <a:r>
                  <a:rPr lang="ro-RO" sz="1600" dirty="0"/>
                  <a:t>ă un graf G=(V, E)</a:t>
                </a:r>
              </a:p>
              <a:p>
                <a:r>
                  <a:rPr lang="ro-RO" sz="1600" dirty="0"/>
                  <a:t>Nodurile V reprezintă instructiunile din program</a:t>
                </a:r>
              </a:p>
              <a:p>
                <a:r>
                  <a:rPr lang="ro-RO" sz="1600" dirty="0"/>
                  <a:t>Arcele E reprezintă dependențele intre instructiuni: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(</m:t>
                    </m:r>
                    <m:r>
                      <a:rPr lang="ro-RO" sz="1600" b="0" i="1" smtClean="0">
                        <a:latin typeface="Cambria Math"/>
                      </a:rPr>
                      <m:t>𝑢</m:t>
                    </m:r>
                    <m:r>
                      <a:rPr lang="ro-RO" sz="1600" b="0" i="1" smtClean="0">
                        <a:latin typeface="Cambria Math"/>
                      </a:rPr>
                      <m:t>,</m:t>
                    </m:r>
                    <m:r>
                      <a:rPr lang="ro-RO" sz="1600" b="0" i="1" smtClean="0">
                        <a:latin typeface="Cambria Math"/>
                      </a:rPr>
                      <m:t>𝑣</m:t>
                    </m:r>
                    <m:r>
                      <a:rPr lang="ro-RO" sz="1600" b="0" i="1" smtClean="0">
                        <a:latin typeface="Cambria Math"/>
                      </a:rPr>
                      <m:t>)∈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𝐸</m:t>
                    </m:r>
                  </m:oMath>
                </a14:m>
                <a:r>
                  <a:rPr lang="ro-RO" sz="1600" dirty="0"/>
                  <a:t> inseamă că u trebuie să se execute inaintea lui v</a:t>
                </a:r>
                <a:endParaRPr lang="en-US" sz="16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  <a:blipFill rotWithShape="1">
                <a:blip r:embed="rId2"/>
                <a:stretch>
                  <a:fillRect t="-444" r="-519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- 8 ianuarie 2019</a:t>
            </a:r>
            <a:endParaRPr lang="en-GB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612" y="2743200"/>
            <a:ext cx="5438775" cy="391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7849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2800" dirty="0"/>
              <a:t>Tipuri de arce intr-un computation DAG</a:t>
            </a:r>
          </a:p>
        </p:txBody>
      </p:sp>
      <p:sp>
        <p:nvSpPr>
          <p:cNvPr id="1536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609600" y="1524000"/>
            <a:ext cx="8229600" cy="4114800"/>
          </a:xfrm>
        </p:spPr>
        <p:txBody>
          <a:bodyPr/>
          <a:lstStyle/>
          <a:p>
            <a:pPr eaLnBrk="1" hangingPunct="1"/>
            <a:r>
              <a:rPr lang="ro-RO" sz="1600" dirty="0"/>
              <a:t>Arc de continuare (u,v): desenat orizontal, conecteză u cu v care il succede pe u in cadrul aceleasi proceduri</a:t>
            </a:r>
          </a:p>
          <a:p>
            <a:pPr eaLnBrk="1" hangingPunct="1"/>
            <a:r>
              <a:rPr lang="ro-RO" sz="1600" dirty="0"/>
              <a:t>Arc de spawn (u,v): v este apelat cu spawn – desenat cu orientare in jos</a:t>
            </a:r>
          </a:p>
          <a:p>
            <a:pPr eaLnBrk="1" hangingPunct="1"/>
            <a:r>
              <a:rPr lang="ro-RO" sz="1600" dirty="0"/>
              <a:t>Arc de apel: reprezintă un apel obisnuit al unei proceduri desenat cu orientare in jos</a:t>
            </a:r>
          </a:p>
          <a:p>
            <a:pPr eaLnBrk="1" hangingPunct="1"/>
            <a:r>
              <a:rPr lang="ro-RO" sz="1600" dirty="0"/>
              <a:t>Arc de return: după un sync, arc orientat in sus</a:t>
            </a:r>
          </a:p>
          <a:p>
            <a:pPr eaLnBrk="1" hangingPunct="1"/>
            <a:endParaRPr lang="ro-RO" sz="16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- 8 ianuarie 2019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5653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err="1" smtClean="0"/>
              <a:t>Evaluarea</a:t>
            </a:r>
            <a:r>
              <a:rPr lang="en-US" sz="2800" dirty="0" smtClean="0"/>
              <a:t> </a:t>
            </a:r>
            <a:r>
              <a:rPr lang="en-US" sz="2800" dirty="0" err="1" smtClean="0"/>
              <a:t>performantei</a:t>
            </a:r>
            <a:r>
              <a:rPr lang="en-US" sz="2800" dirty="0" smtClean="0"/>
              <a:t> </a:t>
            </a:r>
            <a:r>
              <a:rPr lang="en-US" sz="2800" dirty="0" err="1" smtClean="0"/>
              <a:t>programelor</a:t>
            </a:r>
            <a:r>
              <a:rPr lang="en-US" sz="2800" dirty="0" smtClean="0"/>
              <a:t> </a:t>
            </a:r>
            <a:r>
              <a:rPr lang="en-US" sz="2800" dirty="0" err="1" smtClean="0"/>
              <a:t>paralele</a:t>
            </a:r>
            <a:endParaRPr lang="ro-RO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ro-RO" sz="1400" b="1" dirty="0" smtClean="0"/>
                  <a:t>Work</a:t>
                </a:r>
                <a:r>
                  <a:rPr lang="ro-RO" sz="1400" dirty="0"/>
                  <a:t>: timpul total necesar executiei intregului program pe un singur procesor -</a:t>
                </a:r>
                <a:r>
                  <a:rPr lang="en-US" sz="1400" dirty="0"/>
                  <a:t>&gt; </a:t>
                </a:r>
                <a:r>
                  <a:rPr lang="en-US" sz="1400" dirty="0" err="1"/>
                  <a:t>suma</a:t>
                </a:r>
                <a:r>
                  <a:rPr lang="en-US" sz="1400" dirty="0"/>
                  <a:t> </a:t>
                </a:r>
                <a:r>
                  <a:rPr lang="ro-RO" sz="1400" dirty="0"/>
                  <a:t>timpurilor necesare executiei fiecărui strand (fiecarei bucăți paralele)</a:t>
                </a:r>
              </a:p>
              <a:p>
                <a:pPr eaLnBrk="1" hangingPunct="1"/>
                <a:r>
                  <a:rPr lang="ro-RO" sz="1400" b="1" dirty="0"/>
                  <a:t>Span</a:t>
                </a:r>
                <a:r>
                  <a:rPr lang="ro-RO" sz="1400" dirty="0"/>
                  <a:t>: cel mai mare timp de executie a unui strand in cadrul oricărei cai din DAG</a:t>
                </a:r>
              </a:p>
              <a:p>
                <a:pPr eaLnBrk="1" hangingPunct="1"/>
                <a:endParaRPr lang="ro-RO" sz="1400" dirty="0"/>
              </a:p>
              <a:p>
                <a:pPr eaLnBrk="1" hangingPunct="1"/>
                <a:r>
                  <a:rPr lang="ro-RO" sz="1400" dirty="0"/>
                  <a:t>Timpul de executie actual a unui algoritm paralel depinde de work si de span dar si de numarul</a:t>
                </a:r>
                <a:r>
                  <a:rPr lang="ro-RO" sz="1400" dirty="0"/>
                  <a:t> de procesoare disponibile pentru a se aloca </a:t>
                </a:r>
                <a:r>
                  <a:rPr lang="ro-RO" sz="1400" dirty="0" err="1" smtClean="0"/>
                  <a:t>incarcaturile</a:t>
                </a:r>
                <a:endParaRPr lang="en-US" sz="1400" dirty="0" smtClean="0"/>
              </a:p>
              <a:p>
                <a:pPr marL="0" indent="0" eaLnBrk="1" hangingPunct="1">
                  <a:buNone/>
                </a:pPr>
                <a:endParaRPr lang="ro-RO" sz="1400" dirty="0"/>
              </a:p>
              <a:p>
                <a:pPr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ro-RO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400" i="1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ro-RO" sz="1400" i="1">
                            <a:latin typeface="Cambria Math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ro-RO" sz="1400" dirty="0"/>
                  <a:t> timpul necesar rularii algoritmului pe P procesoare</a:t>
                </a:r>
              </a:p>
              <a:p>
                <a:pPr eaLnBrk="1" hangingPunct="1"/>
                <a:r>
                  <a:rPr lang="ro-RO" sz="1400" dirty="0"/>
                  <a:t>Work law: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400" i="1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ro-RO" sz="1400" i="1">
                            <a:latin typeface="Cambria Math"/>
                          </a:rPr>
                          <m:t>𝑃</m:t>
                        </m:r>
                      </m:sub>
                    </m:sSub>
                    <m:r>
                      <a:rPr lang="ro-RO" sz="1400" i="1">
                        <a:latin typeface="Cambria Math"/>
                        <a:ea typeface="Cambria Math"/>
                      </a:rPr>
                      <m:t>≥</m:t>
                    </m:r>
                    <m:f>
                      <m:fPr>
                        <m:type m:val="lin"/>
                        <m:ctrlPr>
                          <a:rPr lang="ro-RO" sz="1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14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ro-RO" sz="1400" i="1">
                                <a:latin typeface="Cambria Math"/>
                                <a:ea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ro-RO" sz="1400" i="1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ro-RO" sz="1400" i="1">
                            <a:latin typeface="Cambria Math"/>
                            <a:ea typeface="Cambria Math"/>
                          </a:rPr>
                          <m:t>𝑃</m:t>
                        </m:r>
                      </m:den>
                    </m:f>
                  </m:oMath>
                </a14:m>
                <a:endParaRPr lang="ro-RO" sz="1400" dirty="0">
                  <a:ea typeface="Cambria Math"/>
                </a:endParaRPr>
              </a:p>
              <a:p>
                <a:pPr eaLnBrk="1" hangingPunct="1"/>
                <a:r>
                  <a:rPr lang="ro-RO" sz="1400" dirty="0"/>
                  <a:t>Span law: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400" i="1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ro-RO" sz="1400" i="1">
                            <a:latin typeface="Cambria Math"/>
                          </a:rPr>
                          <m:t>𝑃</m:t>
                        </m:r>
                      </m:sub>
                    </m:sSub>
                    <m:r>
                      <a:rPr lang="ro-RO" sz="1400" i="1">
                        <a:latin typeface="Cambria Math"/>
                        <a:ea typeface="Cambria Math"/>
                      </a:rPr>
                      <m:t>≥</m:t>
                    </m:r>
                    <m:sSub>
                      <m:sSubPr>
                        <m:ctrlPr>
                          <a:rPr lang="ro-RO" sz="1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ro-RO" sz="1400" i="1">
                            <a:latin typeface="Cambria Math"/>
                            <a:ea typeface="Cambria Math"/>
                          </a:rPr>
                          <m:t>𝑇</m:t>
                        </m:r>
                      </m:e>
                      <m:sub>
                        <m:r>
                          <a:rPr lang="ro-RO" sz="1400" i="1">
                            <a:latin typeface="Cambria Math"/>
                            <a:ea typeface="Cambria Math"/>
                          </a:rPr>
                          <m:t>∞</m:t>
                        </m:r>
                      </m:sub>
                    </m:sSub>
                  </m:oMath>
                </a14:m>
                <a:endParaRPr lang="ro-RO" sz="1400" dirty="0"/>
              </a:p>
              <a:p>
                <a:pPr eaLnBrk="1" hangingPunct="1"/>
                <a:r>
                  <a:rPr lang="ro-RO" sz="1400" b="1" dirty="0"/>
                  <a:t>Speedup</a:t>
                </a:r>
                <a:r>
                  <a:rPr lang="ro-RO" sz="1400" dirty="0"/>
                  <a:t>: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ro-RO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o-RO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400" i="1"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ro-RO" sz="14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o-RO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400" i="1"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ro-RO" sz="1400" i="1">
                                <a:latin typeface="Cambria Math"/>
                              </a:rPr>
                              <m:t>𝑃</m:t>
                            </m:r>
                          </m:sub>
                        </m:sSub>
                      </m:den>
                    </m:f>
                  </m:oMath>
                </a14:m>
                <a:r>
                  <a:rPr lang="ro-RO" sz="1400" dirty="0"/>
                  <a:t> ne spune de cate ori se calculează mai rapid algoritmul pe P procesoare</a:t>
                </a:r>
                <a:endParaRPr lang="ro-RO" sz="1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96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- 8 ianuarie 2019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2726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sz="3200" dirty="0"/>
              <a:t>Parallel - for</a:t>
            </a:r>
            <a:endParaRPr lang="en-US" sz="3200" dirty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 smtClean="0"/>
              <a:t>Cluj-Napoca  - 8 ianuarie 2019</a:t>
            </a:r>
            <a:endParaRPr lang="en-GB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</p:spPr>
            <p:txBody>
              <a:bodyPr/>
              <a:lstStyle/>
              <a:p>
                <a:r>
                  <a:rPr lang="ro-RO" sz="1600" dirty="0"/>
                  <a:t>In loc să se paralelizeze doar 2 proceduri, se paralelizează fiecare execuție a unui index dintr-un for</a:t>
                </a:r>
              </a:p>
              <a:p>
                <a:endParaRPr lang="ro-RO" sz="1600" dirty="0"/>
              </a:p>
              <a:p>
                <a:r>
                  <a:rPr lang="ro-RO" sz="1600" dirty="0"/>
                  <a:t>Problema inmultirii unei matrici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𝐴</m:t>
                    </m:r>
                    <m:r>
                      <a:rPr lang="ro-RO" sz="1600" b="0" i="1" smtClean="0">
                        <a:latin typeface="Cambria Math"/>
                      </a:rPr>
                      <m:t>=(</m:t>
                    </m:r>
                    <m:sSub>
                      <m:sSub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ro-RO" sz="1600" dirty="0"/>
                  <a:t> cu un vector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𝑥</m:t>
                    </m:r>
                    <m:r>
                      <a:rPr lang="ro-RO" sz="1600" b="0" i="1" smtClean="0">
                        <a:latin typeface="Cambria Math"/>
                      </a:rPr>
                      <m:t>=(</m:t>
                    </m:r>
                    <m:sSub>
                      <m:sSub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ro-RO" sz="16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dirty="0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ro-RO" sz="1600" b="0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ro-RO" sz="1600" b="0" i="1" dirty="0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ro-RO" sz="16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ro-RO" sz="1600" b="0" i="1" dirty="0" smtClean="0">
                            <a:latin typeface="Cambria Math"/>
                          </a:rPr>
                          <m:t>𝑗</m:t>
                        </m:r>
                        <m:r>
                          <a:rPr lang="ro-RO" sz="1600" b="0" i="1" dirty="0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ro-RO" sz="1600" b="0" i="1" dirty="0" smtClean="0">
                            <a:latin typeface="Cambria Math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ro-RO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600" b="0" i="1" dirty="0" smtClean="0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ro-RO" sz="1600" b="0" i="1" dirty="0" smtClean="0"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ro-RO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600" b="0" i="1" dirty="0" smtClean="0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600" b="0" i="1" dirty="0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MAT-VEC(A, x)</a:t>
                </a:r>
              </a:p>
              <a:p>
                <a:pPr marL="0" indent="0">
                  <a:buNone/>
                </a:pPr>
                <a:r>
                  <a:rPr lang="ro-RO" sz="1600" dirty="0"/>
                  <a:t>1. n = A.rows</a:t>
                </a:r>
              </a:p>
              <a:p>
                <a:pPr marL="0" indent="0">
                  <a:buNone/>
                </a:pPr>
                <a:r>
                  <a:rPr lang="ro-RO" sz="1600" dirty="0"/>
                  <a:t>2. Fie y un vector de lungime n</a:t>
                </a:r>
              </a:p>
              <a:p>
                <a:pPr marL="0" indent="0">
                  <a:buNone/>
                </a:pPr>
                <a:r>
                  <a:rPr lang="ro-RO" sz="1600" dirty="0"/>
                  <a:t>3. Parallel for i = 1 to n</a:t>
                </a:r>
              </a:p>
              <a:p>
                <a:pPr marL="0" indent="0">
                  <a:buNone/>
                </a:pPr>
                <a:r>
                  <a:rPr lang="ro-RO" sz="1600" dirty="0"/>
                  <a:t>4.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=0</m:t>
                    </m:r>
                  </m:oMath>
                </a14:m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5. Parallel for i = 1 to n</a:t>
                </a:r>
              </a:p>
              <a:p>
                <a:pPr marL="0" indent="0">
                  <a:buNone/>
                </a:pPr>
                <a:r>
                  <a:rPr lang="ro-RO" sz="1600" dirty="0"/>
                  <a:t>6.	For j = 1 to n</a:t>
                </a:r>
              </a:p>
              <a:p>
                <a:pPr marL="0" indent="0">
                  <a:buNone/>
                </a:pPr>
                <a:r>
                  <a:rPr lang="ro-RO" sz="1600" dirty="0"/>
                  <a:t>7.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  <m:sSub>
                      <m:sSub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8. Return y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  <a:blipFill rotWithShape="1">
                <a:blip r:embed="rId2"/>
                <a:stretch>
                  <a:fillRect l="-370" t="-44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2881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Race conditions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524000"/>
            <a:ext cx="8229600" cy="4114800"/>
          </a:xfrm>
        </p:spPr>
        <p:txBody>
          <a:bodyPr/>
          <a:lstStyle/>
          <a:p>
            <a:r>
              <a:rPr lang="ro-RO" sz="1600" dirty="0"/>
              <a:t>Algoritm deterministic: dacă la fiecare execuție asupra acelorasi intrări, se produc aceleași iesiri</a:t>
            </a:r>
          </a:p>
          <a:p>
            <a:r>
              <a:rPr lang="ro-RO" sz="1600" dirty="0"/>
              <a:t>Algoritm nedeterministic: dacă comportamentul algoritmului poate să difere de la o executie la alta</a:t>
            </a:r>
          </a:p>
          <a:p>
            <a:endParaRPr lang="ro-RO" sz="1600" dirty="0"/>
          </a:p>
          <a:p>
            <a:r>
              <a:rPr lang="ro-RO" sz="1600" dirty="0"/>
              <a:t>Determinancy race: atunci cand 2 instructiuni logic paralele accesează aceeași locație de memorie, si una dintre instructiuni realizează o operatie de write</a:t>
            </a:r>
          </a:p>
          <a:p>
            <a:endParaRPr lang="ro-RO" sz="1600" dirty="0"/>
          </a:p>
          <a:p>
            <a:pPr marL="0" indent="0">
              <a:buNone/>
            </a:pPr>
            <a:r>
              <a:rPr lang="ro-RO" sz="1600" dirty="0"/>
              <a:t>RACE-EXAMPLE()</a:t>
            </a:r>
          </a:p>
          <a:p>
            <a:pPr marL="0" indent="0">
              <a:buNone/>
            </a:pPr>
            <a:r>
              <a:rPr lang="ro-RO" sz="1600" dirty="0"/>
              <a:t>1. x = 0</a:t>
            </a:r>
          </a:p>
          <a:p>
            <a:pPr marL="0" indent="0">
              <a:buNone/>
            </a:pPr>
            <a:r>
              <a:rPr lang="ro-RO" sz="1600" dirty="0"/>
              <a:t>2. Parallel for i = 0 to 2</a:t>
            </a:r>
          </a:p>
          <a:p>
            <a:pPr marL="0" indent="0">
              <a:buNone/>
            </a:pPr>
            <a:r>
              <a:rPr lang="ro-RO" sz="1600" dirty="0"/>
              <a:t>3. 	x = x + 1</a:t>
            </a:r>
          </a:p>
          <a:p>
            <a:pPr marL="0" indent="0">
              <a:buNone/>
            </a:pPr>
            <a:r>
              <a:rPr lang="ro-RO" sz="1600" dirty="0"/>
              <a:t>4. Print x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657599"/>
            <a:ext cx="5257800" cy="2932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- 8 ianuarie 2019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2254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8" name="Text Box 2"/>
          <p:cNvSpPr txBox="1">
            <a:spLocks noChangeArrowheads="1"/>
          </p:cNvSpPr>
          <p:nvPr/>
        </p:nvSpPr>
        <p:spPr bwMode="auto">
          <a:xfrm>
            <a:off x="4068763" y="98425"/>
            <a:ext cx="9144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  <p:sp>
        <p:nvSpPr>
          <p:cNvPr id="18459" name="Text Box 1"/>
          <p:cNvSpPr txBox="1">
            <a:spLocks noChangeArrowheads="1"/>
          </p:cNvSpPr>
          <p:nvPr/>
        </p:nvSpPr>
        <p:spPr bwMode="auto">
          <a:xfrm>
            <a:off x="3978275" y="187325"/>
            <a:ext cx="9144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Race conditions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39762" y="1600200"/>
            <a:ext cx="8199437" cy="4114800"/>
          </a:xfrm>
        </p:spPr>
        <p:txBody>
          <a:bodyPr/>
          <a:lstStyle/>
          <a:p>
            <a:r>
              <a:rPr lang="ro-RO" sz="1600" dirty="0"/>
              <a:t>Pentru a nu avea problema competitiei intre secventele paralele, presupunem că acestea sunt </a:t>
            </a:r>
            <a:r>
              <a:rPr lang="ro-RO" sz="1600" i="1" dirty="0"/>
              <a:t>independente</a:t>
            </a:r>
            <a:r>
              <a:rPr lang="ro-RO" sz="1600" dirty="0"/>
              <a:t>: nu au race determinacy intre ele</a:t>
            </a:r>
          </a:p>
          <a:p>
            <a:endParaRPr lang="ro-RO" sz="1600" dirty="0"/>
          </a:p>
          <a:p>
            <a:endParaRPr lang="ro-RO" sz="16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- 8 ianuarie 2019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2693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Inmultirea matricilor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39762" y="1524000"/>
                <a:ext cx="8199437" cy="4114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o-RO" sz="1600" dirty="0"/>
                  <a:t>P-SQUARE-MATRIX-MULTIPLY(A, B)</a:t>
                </a:r>
              </a:p>
              <a:p>
                <a:pPr marL="0" indent="0">
                  <a:buNone/>
                </a:pPr>
                <a:r>
                  <a:rPr lang="ro-RO" sz="1600" dirty="0"/>
                  <a:t>1. n = A.rows</a:t>
                </a:r>
              </a:p>
              <a:p>
                <a:pPr marL="0" indent="0">
                  <a:buNone/>
                </a:pPr>
                <a:r>
                  <a:rPr lang="ro-RO" sz="1600" dirty="0"/>
                  <a:t>2. Fie C o matrice nouă de dimensiune n x n</a:t>
                </a:r>
              </a:p>
              <a:p>
                <a:pPr marL="0" indent="0">
                  <a:buNone/>
                </a:pPr>
                <a:r>
                  <a:rPr lang="ro-RO" sz="1600" dirty="0"/>
                  <a:t>3. Parallel for i = 1 to n </a:t>
                </a:r>
              </a:p>
              <a:p>
                <a:pPr marL="0" indent="0">
                  <a:buNone/>
                </a:pPr>
                <a:r>
                  <a:rPr lang="ro-RO" sz="1600" dirty="0"/>
                  <a:t>4.	Parallel for j = 1 to n</a:t>
                </a:r>
              </a:p>
              <a:p>
                <a:pPr marL="0" indent="0">
                  <a:buNone/>
                </a:pPr>
                <a:r>
                  <a:rPr lang="ro-RO" sz="1600" dirty="0"/>
                  <a:t>5.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=0</m:t>
                    </m:r>
                  </m:oMath>
                </a14:m>
                <a:endParaRPr lang="ro-RO" sz="1600" b="0" dirty="0"/>
              </a:p>
              <a:p>
                <a:pPr marL="0" indent="0">
                  <a:buNone/>
                </a:pPr>
                <a:r>
                  <a:rPr lang="ro-RO" sz="1600" dirty="0"/>
                  <a:t>6.		For k = 1 to n</a:t>
                </a:r>
              </a:p>
              <a:p>
                <a:pPr marL="0" indent="0">
                  <a:buNone/>
                </a:pPr>
                <a:r>
                  <a:rPr lang="ro-RO" sz="1600" dirty="0"/>
                  <a:t>7.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𝑖𝑘</m:t>
                        </m:r>
                      </m:sub>
                    </m:sSub>
                    <m:sSub>
                      <m:sSub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𝑘𝑗</m:t>
                        </m:r>
                      </m:sub>
                    </m:sSub>
                  </m:oMath>
                </a14:m>
                <a:endParaRPr lang="ro-RO" sz="1600" b="0" dirty="0"/>
              </a:p>
              <a:p>
                <a:pPr marL="0" indent="0">
                  <a:buNone/>
                </a:pPr>
                <a:r>
                  <a:rPr lang="ro-RO" sz="1600" dirty="0"/>
                  <a:t>8. Return c</a:t>
                </a:r>
              </a:p>
              <a:p>
                <a:pPr marL="0" indent="0">
                  <a:buNone/>
                </a:pPr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Pentru algoritmul serial avem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l-GR" sz="1600" i="1" smtClean="0">
                        <a:latin typeface="Cambria Math"/>
                      </a:rPr>
                      <m:t>Θ</m:t>
                    </m:r>
                    <m:r>
                      <a:rPr lang="ro-RO" sz="1600" b="0" i="1" smtClean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600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ro-RO" sz="1600" b="0" i="1" smtClean="0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ro-RO" sz="1600" b="0" i="1" smtClean="0">
                        <a:latin typeface="Cambria Math"/>
                      </a:rPr>
                      <m:t>)</m:t>
                    </m:r>
                  </m:oMath>
                </a14:m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Pentru algoritmul paralel avem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i="1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ro-RO" sz="1600" i="1" smtClean="0">
                            <a:latin typeface="Cambria Math"/>
                            <a:ea typeface="Cambria Math"/>
                          </a:rPr>
                          <m:t>∞</m:t>
                        </m:r>
                      </m:sub>
                    </m:sSub>
                    <m:r>
                      <a:rPr lang="ro-RO" sz="1600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l-GR" sz="1600" i="1">
                        <a:latin typeface="Cambria Math"/>
                      </a:rPr>
                      <m:t>Θ</m:t>
                    </m:r>
                    <m:r>
                      <a:rPr lang="ro-RO" sz="1600" i="1">
                        <a:latin typeface="Cambria Math"/>
                      </a:rPr>
                      <m:t>(</m:t>
                    </m:r>
                    <m:r>
                      <a:rPr lang="ro-RO" sz="1600" b="0" i="1" smtClean="0">
                        <a:latin typeface="Cambria Math"/>
                      </a:rPr>
                      <m:t>𝑛</m:t>
                    </m:r>
                    <m:r>
                      <a:rPr lang="ro-RO" sz="1600" i="1">
                        <a:latin typeface="Cambria Math"/>
                      </a:rPr>
                      <m:t>)</m:t>
                    </m:r>
                  </m:oMath>
                </a14:m>
                <a:endParaRPr lang="ro-RO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9762" y="1524000"/>
                <a:ext cx="8199437" cy="4114800"/>
              </a:xfrm>
              <a:blipFill rotWithShape="1">
                <a:blip r:embed="rId2"/>
                <a:stretch>
                  <a:fillRect l="-446" t="-44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 smtClean="0"/>
              <a:t>Cluj-Napoca  - 8 ianuarie 2019</a:t>
            </a:r>
            <a:endParaRPr lang="en-GB" sz="1400"/>
          </a:p>
        </p:txBody>
      </p:sp>
      <p:sp>
        <p:nvSpPr>
          <p:cNvPr id="1031" name="Text Box 2"/>
          <p:cNvSpPr txBox="1">
            <a:spLocks noChangeArrowheads="1"/>
          </p:cNvSpPr>
          <p:nvPr/>
        </p:nvSpPr>
        <p:spPr bwMode="auto">
          <a:xfrm>
            <a:off x="4068763" y="98425"/>
            <a:ext cx="9144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  <p:sp>
        <p:nvSpPr>
          <p:cNvPr id="1032" name="Text Box 1"/>
          <p:cNvSpPr txBox="1">
            <a:spLocks noChangeArrowheads="1"/>
          </p:cNvSpPr>
          <p:nvPr/>
        </p:nvSpPr>
        <p:spPr bwMode="auto">
          <a:xfrm>
            <a:off x="3978275" y="187325"/>
            <a:ext cx="9144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  <p:sp>
        <p:nvSpPr>
          <p:cNvPr id="1072" name="Text Box 16"/>
          <p:cNvSpPr txBox="1">
            <a:spLocks noChangeArrowheads="1"/>
          </p:cNvSpPr>
          <p:nvPr/>
        </p:nvSpPr>
        <p:spPr bwMode="auto">
          <a:xfrm>
            <a:off x="46038" y="206375"/>
            <a:ext cx="63976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40937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Merge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o-RO" sz="1600" dirty="0"/>
                  <a:t>MERGE-SORT</a:t>
                </a:r>
                <a:r>
                  <a:rPr lang="en-US" sz="1600" dirty="0"/>
                  <a:t>’(A, p, r)</a:t>
                </a:r>
              </a:p>
              <a:p>
                <a:pPr marL="0" indent="0">
                  <a:buNone/>
                </a:pPr>
                <a:r>
                  <a:rPr lang="en-US" sz="1600" dirty="0"/>
                  <a:t>1. If p &lt; r</a:t>
                </a:r>
              </a:p>
              <a:p>
                <a:pPr marL="0" indent="0">
                  <a:buNone/>
                </a:pPr>
                <a:r>
                  <a:rPr lang="en-US" sz="1600" dirty="0"/>
                  <a:t>2.	q =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𝑝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𝑟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)</m:t>
                            </m:r>
                          </m:num>
                          <m:den>
                            <m:r>
                              <a:rPr lang="en-US" sz="1600" b="0" i="1" smtClean="0"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3.	Spawn MERGE-SORT’(A, p, q)</a:t>
                </a:r>
              </a:p>
              <a:p>
                <a:pPr marL="0" indent="0">
                  <a:buNone/>
                </a:pPr>
                <a:r>
                  <a:rPr lang="en-US" sz="1600" dirty="0"/>
                  <a:t>4.	MERGE-SORT’(A, q+1, r)</a:t>
                </a:r>
              </a:p>
              <a:p>
                <a:pPr marL="0" indent="0">
                  <a:buNone/>
                </a:pPr>
                <a:r>
                  <a:rPr lang="en-US" sz="1600" dirty="0"/>
                  <a:t>5.	sync</a:t>
                </a:r>
              </a:p>
              <a:p>
                <a:pPr marL="0" indent="0">
                  <a:buNone/>
                </a:pPr>
                <a:r>
                  <a:rPr lang="en-US" sz="1600" dirty="0"/>
                  <a:t>6.	MERGE(A, p, q, r)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𝑀𝑆</m:t>
                          </m:r>
                          <m:r>
                            <a:rPr lang="en-US" sz="1600" b="0" i="1" smtClean="0">
                              <a:latin typeface="Cambria Math"/>
                            </a:rPr>
                            <m:t>′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/>
                        </a:rPr>
                        <m:t>=2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𝑀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</m:e>
                        <m:sub>
                          <m:r>
                            <a:rPr lang="en-US" sz="16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1600" b="0" i="1" smtClean="0">
                          <a:latin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sz="1600" b="0" i="1" smtClean="0">
                          <a:latin typeface="Cambria Math"/>
                        </a:rPr>
                        <m:t>Θ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1600" b="0" i="1" smtClean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1600" b="0" i="1" smtClean="0">
                          <a:latin typeface="Cambria Math"/>
                        </a:rPr>
                        <m:t>Θ</m:t>
                      </m:r>
                      <m:r>
                        <a:rPr lang="en-US" sz="1600" b="0" i="1" smtClean="0">
                          <a:latin typeface="Cambria Math"/>
                        </a:rPr>
                        <m:t>(</m:t>
                      </m:r>
                      <m:r>
                        <a:rPr lang="en-US" sz="1600" b="0" i="1" smtClean="0">
                          <a:latin typeface="Cambria Math"/>
                        </a:rPr>
                        <m:t>𝑛</m:t>
                      </m:r>
                      <m:r>
                        <a:rPr lang="en-US" sz="1600" b="0" i="1" smtClean="0">
                          <a:latin typeface="Cambria Math"/>
                        </a:rPr>
                        <m:t> </m:t>
                      </m:r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/>
                            </a:rPr>
                            <m:t>log</m:t>
                          </m:r>
                        </m:fName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𝑛</m:t>
                          </m:r>
                        </m:e>
                      </m:func>
                      <m:r>
                        <a:rPr lang="en-US" sz="16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/>
                            </a:rPr>
                            <m:t>𝑀𝑆</m:t>
                          </m:r>
                          <m:r>
                            <a:rPr lang="en-US" sz="1600" i="1">
                              <a:latin typeface="Cambria Math"/>
                            </a:rPr>
                            <m:t>′</m:t>
                          </m:r>
                        </m:e>
                        <m:sub>
                          <m:r>
                            <a:rPr lang="en-US" sz="160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</m:sSub>
                      <m:r>
                        <a:rPr lang="en-US" sz="16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/>
                            </a:rPr>
                            <m:t>𝑀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</m:e>
                        <m:sub>
                          <m:r>
                            <a:rPr lang="en-US" sz="160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</m:sSub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16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1600" i="1">
                          <a:latin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sz="1600" i="1">
                          <a:latin typeface="Cambria Math"/>
                        </a:rPr>
                        <m:t>Θ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1600" i="1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1600" i="1">
                          <a:latin typeface="Cambria Math"/>
                        </a:rPr>
                        <m:t>Θ</m:t>
                      </m:r>
                      <m:r>
                        <a:rPr lang="en-US" sz="1600" i="1">
                          <a:latin typeface="Cambria Math"/>
                        </a:rPr>
                        <m:t>(</m:t>
                      </m:r>
                      <m:r>
                        <a:rPr lang="en-US" sz="1600" i="1">
                          <a:latin typeface="Cambria Math"/>
                        </a:rPr>
                        <m:t>𝑛</m:t>
                      </m:r>
                      <m:r>
                        <a:rPr lang="en-US" sz="16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/>
                                </a:rPr>
                                <m:t>𝑀𝑆</m:t>
                              </m:r>
                              <m:r>
                                <a:rPr lang="en-US" sz="1600" b="0" i="1" smtClean="0">
                                  <a:latin typeface="Cambria Math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/>
                                </a:rPr>
                                <m:t>𝑀𝑆</m:t>
                              </m:r>
                              <m:r>
                                <a:rPr lang="en-US" sz="1600" b="0" i="1" smtClean="0">
                                  <a:latin typeface="Cambria Math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sz="1600" i="1" smtClean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b>
                          </m:sSub>
                        </m:den>
                      </m:f>
                      <m:r>
                        <a:rPr lang="en-US" sz="1600" b="0" i="1" smtClean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1600" b="0" i="1" smtClean="0">
                          <a:latin typeface="Cambria Math"/>
                        </a:rPr>
                        <m:t>Θ</m:t>
                      </m:r>
                      <m:r>
                        <a:rPr lang="en-US" sz="1600" b="0" i="1" smtClean="0">
                          <a:latin typeface="Cambria Math"/>
                        </a:rPr>
                        <m:t>(</m:t>
                      </m:r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/>
                            </a:rPr>
                            <m:t>log</m:t>
                          </m:r>
                        </m:fName>
                        <m:e>
                          <m:r>
                            <a:rPr lang="en-US" sz="1600" b="0" i="1" smtClean="0">
                              <a:latin typeface="Cambria Math"/>
                            </a:rPr>
                            <m:t>𝑛</m:t>
                          </m:r>
                        </m:e>
                      </m:func>
                      <m:r>
                        <a:rPr lang="en-US" sz="16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  <a:p>
                <a:pPr>
                  <a:buFont typeface="Symbol"/>
                  <a:buChar char="Þ"/>
                </a:pPr>
                <a:r>
                  <a:rPr lang="en-US" sz="1600" dirty="0" err="1"/>
                  <a:t>Problema</a:t>
                </a:r>
                <a:r>
                  <a:rPr lang="en-US" sz="1600" dirty="0"/>
                  <a:t> in MERGE-SORT </a:t>
                </a:r>
                <a:r>
                  <a:rPr lang="en-US" sz="1600" dirty="0" err="1"/>
                  <a:t>este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procedura</a:t>
                </a:r>
                <a:r>
                  <a:rPr lang="en-US" sz="1600" dirty="0"/>
                  <a:t> MERGE</a:t>
                </a:r>
              </a:p>
              <a:p>
                <a:pPr>
                  <a:buFont typeface="Symbol"/>
                  <a:buChar char="Þ"/>
                </a:pPr>
                <a:endParaRPr lang="en-US" sz="1600" dirty="0"/>
              </a:p>
              <a:p>
                <a:pPr>
                  <a:buFont typeface="Symbol"/>
                  <a:buChar char="Þ"/>
                </a:pPr>
                <a:endParaRPr lang="ro-RO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  <a:blipFill rotWithShape="1">
                <a:blip r:embed="rId2"/>
                <a:stretch>
                  <a:fillRect l="-519" t="-44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- 8 ianuarie 2019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9760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Imbun</a:t>
            </a:r>
            <a:r>
              <a:rPr lang="ro-RO" sz="3200" dirty="0"/>
              <a:t>ătățirea procedurii de interclasare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</p:spPr>
            <p:txBody>
              <a:bodyPr/>
              <a:lstStyle/>
              <a:p>
                <a:r>
                  <a:rPr lang="ro-RO" sz="1600" dirty="0"/>
                  <a:t>Avem de interclasat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𝑇</m:t>
                    </m:r>
                    <m:r>
                      <a:rPr lang="en-US" sz="1600" b="0" i="1" smtClean="0">
                        <a:latin typeface="Cambria Math"/>
                      </a:rPr>
                      <m:t>[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/>
                      </a:rPr>
                      <m:t>..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/>
                      </a:rPr>
                      <m:t>]</m:t>
                    </m:r>
                  </m:oMath>
                </a14:m>
                <a:r>
                  <a:rPr lang="en-US" sz="1600" dirty="0"/>
                  <a:t> cu </a:t>
                </a:r>
                <a14:m>
                  <m:oMath xmlns:m="http://schemas.openxmlformats.org/officeDocument/2006/math">
                    <m:r>
                      <a:rPr lang="ro-RO" sz="1600" i="1">
                        <a:latin typeface="Cambria Math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1600" i="1">
                            <a:latin typeface="Cambria Math"/>
                          </a:rPr>
                          <m:t>..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sz="1600" dirty="0"/>
              </a:p>
              <a:p>
                <a:pPr>
                  <a:buFontTx/>
                  <a:buChar char="-"/>
                </a:pPr>
                <a:r>
                  <a:rPr lang="en-US" sz="1600" dirty="0"/>
                  <a:t>Se </a:t>
                </a:r>
                <a:r>
                  <a:rPr lang="ro-RO" sz="1600" dirty="0"/>
                  <a:t>găseste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o-RO" sz="1600" b="0" i="1" smtClean="0">
                        <a:latin typeface="Cambria Math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ro-RO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o-RO" sz="1600" b="0" i="1" smtClean="0">
                                <a:latin typeface="Cambria Math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ro-RO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o-RO" sz="1600" b="0" i="1" smtClean="0">
                                    <a:latin typeface="Cambria Math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ro-RO" sz="16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o-RO" sz="1600" b="0" i="1" smtClean="0">
                                <a:latin typeface="Cambria Math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ro-RO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o-RO" sz="1600" b="0" i="1" smtClean="0">
                                    <a:latin typeface="Cambria Math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ro-RO" sz="16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o-RO" sz="1600" b="0" i="1" smtClean="0">
                                <a:latin typeface="Cambria Math"/>
                              </a:rPr>
                              <m:t>)</m:t>
                            </m:r>
                          </m:num>
                          <m:den>
                            <m:r>
                              <a:rPr lang="ro-RO" sz="1600" b="0" i="1" smtClean="0"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ro-RO" sz="1600" b="0" i="0" smtClean="0">
                        <a:latin typeface="Cambria Math"/>
                      </a:rPr>
                      <m:t> </m:t>
                    </m:r>
                  </m:oMath>
                </a14:m>
                <a:r>
                  <a:rPr lang="ro-RO" sz="1600" dirty="0"/>
                  <a:t>pt care x = T</a:t>
                </a:r>
                <a:r>
                  <a:rPr lang="en-US" sz="1600" dirty="0"/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]</a:t>
                </a:r>
                <a:r>
                  <a:rPr lang="ro-RO" sz="1600" dirty="0"/>
                  <a:t> este element median pentru </a:t>
                </a:r>
                <a14:m>
                  <m:oMath xmlns:m="http://schemas.openxmlformats.org/officeDocument/2006/math">
                    <m:r>
                      <a:rPr lang="ro-RO" sz="1600" i="1">
                        <a:latin typeface="Cambria Math"/>
                      </a:rPr>
                      <m:t>𝑇</m:t>
                    </m:r>
                    <m:r>
                      <a:rPr lang="en-US" sz="1600" i="1">
                        <a:latin typeface="Cambria Math"/>
                      </a:rPr>
                      <m:t>[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/>
                      </a:rPr>
                      <m:t>..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/>
                      </a:rPr>
                      <m:t>]</m:t>
                    </m:r>
                  </m:oMath>
                </a14:m>
                <a:endParaRPr lang="ro-RO" sz="1600" dirty="0"/>
              </a:p>
              <a:p>
                <a:pPr>
                  <a:buFontTx/>
                  <a:buChar char="-"/>
                </a:pPr>
                <a:r>
                  <a:rPr lang="ro-RO" sz="1600" dirty="0"/>
                  <a:t>Se găseste poziția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/>
                  <a:t> </a:t>
                </a:r>
                <a:r>
                  <a:rPr lang="ro-RO" sz="1600" dirty="0"/>
                  <a:t>în </a:t>
                </a:r>
                <a14:m>
                  <m:oMath xmlns:m="http://schemas.openxmlformats.org/officeDocument/2006/math">
                    <m:r>
                      <a:rPr lang="ro-RO" sz="1600" i="1">
                        <a:latin typeface="Cambria Math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6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1600" i="1">
                            <a:latin typeface="Cambria Math"/>
                          </a:rPr>
                          <m:t>..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6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ro-RO" sz="1600" dirty="0"/>
                  <a:t> astfel incat x să fie inserat intre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𝑇</m:t>
                    </m:r>
                    <m:r>
                      <a:rPr lang="en-US" sz="1600" b="0" i="1" smtClean="0">
                        <a:latin typeface="Cambria Math"/>
                      </a:rPr>
                      <m:t>[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latin typeface="Cambria Math"/>
                      </a:rPr>
                      <m:t>−1]</m:t>
                    </m:r>
                  </m:oMath>
                </a14:m>
                <a:r>
                  <a:rPr lang="en-US" sz="1600" dirty="0"/>
                  <a:t> </a:t>
                </a:r>
                <a:r>
                  <a:rPr lang="ro-RO" sz="1600" dirty="0"/>
                  <a:t>și </a:t>
                </a:r>
                <a14:m>
                  <m:oMath xmlns:m="http://schemas.openxmlformats.org/officeDocument/2006/math">
                    <m:r>
                      <a:rPr lang="ro-RO" sz="1600" i="1">
                        <a:latin typeface="Cambria Math"/>
                      </a:rPr>
                      <m:t>𝑇</m:t>
                    </m:r>
                    <m:r>
                      <a:rPr lang="en-US" sz="1600" i="1">
                        <a:latin typeface="Cambria Math"/>
                      </a:rPr>
                      <m:t>[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1600" i="1" smtClean="0">
                        <a:latin typeface="Cambria Math"/>
                      </a:rPr>
                      <m:t>]</m:t>
                    </m:r>
                  </m:oMath>
                </a14:m>
                <a:endParaRPr lang="ro-RO" sz="1600" dirty="0"/>
              </a:p>
              <a:p>
                <a:pPr>
                  <a:buFontTx/>
                  <a:buChar char="-"/>
                </a:pPr>
                <a:r>
                  <a:rPr lang="ro-RO" sz="1600" dirty="0"/>
                  <a:t>Se va face interclasarea in sirul tintă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1600" b="0" i="0" smtClean="0">
                        <a:latin typeface="Cambria Math"/>
                      </a:rPr>
                      <m:t>A</m:t>
                    </m:r>
                    <m:r>
                      <a:rPr lang="en-US" sz="1600" i="1">
                        <a:latin typeface="Cambria Math"/>
                      </a:rPr>
                      <m:t>[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1600" i="1">
                        <a:latin typeface="Cambria Math"/>
                      </a:rPr>
                      <m:t>..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ro-RO" sz="1600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1600" i="1">
                        <a:latin typeface="Cambria Math"/>
                      </a:rPr>
                      <m:t>] </m:t>
                    </m:r>
                  </m:oMath>
                </a14:m>
                <a:r>
                  <a:rPr lang="ro-RO" sz="1600" dirty="0"/>
                  <a:t> astfel:</a:t>
                </a:r>
              </a:p>
              <a:p>
                <a:pPr lvl="1">
                  <a:buFontTx/>
                  <a:buChar char="-"/>
                </a:pPr>
                <a:r>
                  <a:rPr lang="ro-RO" sz="1400" dirty="0"/>
                  <a:t>Fie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400" b="0" i="1" smtClean="0"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ro-RO" sz="1400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ro-RO" sz="14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o-RO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400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ro-RO" sz="1400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ro-RO" sz="1400" b="0" i="1" smtClean="0">
                        <a:latin typeface="Cambria Math"/>
                      </a:rPr>
                      <m:t>+</m:t>
                    </m:r>
                    <m:d>
                      <m:dPr>
                        <m:ctrlPr>
                          <a:rPr lang="ro-RO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400" b="0" i="1" smtClean="0">
                                <a:latin typeface="Cambria Math"/>
                              </a:rPr>
                              <m:t>𝑞</m:t>
                            </m:r>
                          </m:e>
                          <m:sub>
                            <m:r>
                              <a:rPr lang="ro-RO" sz="14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ro-RO" sz="1400" b="0" i="1" smtClean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ro-RO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400" b="0" i="1" smtClean="0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ro-RO" sz="14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ro-RO" sz="1400" b="0" i="1" smtClean="0">
                        <a:latin typeface="Cambria Math"/>
                      </a:rPr>
                      <m:t>+(</m:t>
                    </m:r>
                    <m:sSub>
                      <m:sSubPr>
                        <m:ctrlPr>
                          <a:rPr lang="ro-RO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400" b="0" i="1" smtClean="0"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ro-RO" sz="1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ro-RO" sz="1400" b="0" i="1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ro-RO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400" b="0" i="1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ro-RO" sz="1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ro-RO" sz="1400" b="0" i="1" smtClean="0">
                        <a:latin typeface="Cambria Math"/>
                      </a:rPr>
                      <m:t>)</m:t>
                    </m:r>
                  </m:oMath>
                </a14:m>
                <a:endParaRPr lang="ro-RO" sz="1400" dirty="0"/>
              </a:p>
              <a:p>
                <a:pPr lvl="1">
                  <a:buFontTx/>
                  <a:buChar char="-"/>
                </a:pPr>
                <a:r>
                  <a:rPr lang="ro-RO" sz="1400" dirty="0"/>
                  <a:t>Se copiază x pe pozitia </a:t>
                </a:r>
                <a14:m>
                  <m:oMath xmlns:m="http://schemas.openxmlformats.org/officeDocument/2006/math">
                    <m:r>
                      <a:rPr lang="ro-RO" sz="1400" b="0" i="1" smtClean="0">
                        <a:latin typeface="Cambria Math"/>
                      </a:rPr>
                      <m:t>𝐴</m:t>
                    </m:r>
                    <m:r>
                      <a:rPr lang="en-US" sz="1400" b="0" i="1" smtClean="0">
                        <a:latin typeface="Cambria Math"/>
                      </a:rPr>
                      <m:t>[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en-US" sz="1400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sz="1400" b="0" i="1" smtClean="0">
                        <a:latin typeface="Cambria Math"/>
                      </a:rPr>
                      <m:t>]</m:t>
                    </m:r>
                  </m:oMath>
                </a14:m>
                <a:endParaRPr lang="en-US" sz="1400" dirty="0"/>
              </a:p>
              <a:p>
                <a:pPr lvl="1">
                  <a:buFontTx/>
                  <a:buChar char="-"/>
                </a:pPr>
                <a:r>
                  <a:rPr lang="en-US" sz="1400" dirty="0"/>
                  <a:t>Se face </a:t>
                </a:r>
                <a:r>
                  <a:rPr lang="en-US" sz="1400" dirty="0" err="1"/>
                  <a:t>interclasarea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subsirurilor</a:t>
                </a:r>
                <a:r>
                  <a:rPr lang="en-US" sz="1400" dirty="0"/>
                  <a:t> din </a:t>
                </a:r>
                <a:r>
                  <a:rPr lang="en-US" sz="1400" dirty="0" err="1"/>
                  <a:t>stanga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lui</a:t>
                </a:r>
                <a:r>
                  <a:rPr lang="en-US" sz="1400" dirty="0"/>
                  <a:t> q1 </a:t>
                </a:r>
                <a:r>
                  <a:rPr lang="en-US" sz="1400" dirty="0" err="1"/>
                  <a:t>respectiv</a:t>
                </a:r>
                <a:r>
                  <a:rPr lang="en-US" sz="1400" dirty="0"/>
                  <a:t> q2 </a:t>
                </a:r>
                <a:r>
                  <a:rPr lang="en-US" sz="1400" dirty="0" err="1"/>
                  <a:t>si</a:t>
                </a:r>
                <a:r>
                  <a:rPr lang="en-US" sz="1400" dirty="0"/>
                  <a:t> se </a:t>
                </a:r>
                <a:r>
                  <a:rPr lang="en-US" sz="1400" dirty="0" err="1"/>
                  <a:t>pune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rezultatul</a:t>
                </a:r>
                <a:r>
                  <a:rPr lang="en-US" sz="1400" dirty="0"/>
                  <a:t> in </a:t>
                </a:r>
                <a:r>
                  <a:rPr lang="en-US" sz="1400" dirty="0" err="1"/>
                  <a:t>stanga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lui</a:t>
                </a:r>
                <a:r>
                  <a:rPr lang="en-US" sz="1400" dirty="0"/>
                  <a:t> q3</a:t>
                </a:r>
              </a:p>
              <a:p>
                <a:pPr lvl="1">
                  <a:buFontTx/>
                  <a:buChar char="-"/>
                </a:pPr>
                <a:r>
                  <a:rPr lang="en-US" sz="1400" dirty="0"/>
                  <a:t>Se face </a:t>
                </a:r>
                <a:r>
                  <a:rPr lang="en-US" sz="1400" dirty="0" err="1"/>
                  <a:t>interclasarea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subsirurilor</a:t>
                </a:r>
                <a:r>
                  <a:rPr lang="en-US" sz="1400" dirty="0"/>
                  <a:t> din </a:t>
                </a:r>
                <a:r>
                  <a:rPr lang="en-US" sz="1400" dirty="0" err="1"/>
                  <a:t>dreapta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lui</a:t>
                </a:r>
                <a:r>
                  <a:rPr lang="en-US" sz="1400" dirty="0"/>
                  <a:t> q1 </a:t>
                </a:r>
                <a:r>
                  <a:rPr lang="en-US" sz="1400" dirty="0" err="1"/>
                  <a:t>respectiv</a:t>
                </a:r>
                <a:r>
                  <a:rPr lang="en-US" sz="1400" dirty="0"/>
                  <a:t> q2 </a:t>
                </a:r>
                <a:r>
                  <a:rPr lang="en-US" sz="1400" dirty="0" err="1"/>
                  <a:t>si</a:t>
                </a:r>
                <a:r>
                  <a:rPr lang="en-US" sz="1400" dirty="0"/>
                  <a:t> se </a:t>
                </a:r>
                <a:r>
                  <a:rPr lang="en-US" sz="1400" dirty="0" err="1"/>
                  <a:t>pune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rezultatul</a:t>
                </a:r>
                <a:r>
                  <a:rPr lang="en-US" sz="1400" dirty="0"/>
                  <a:t> in </a:t>
                </a:r>
                <a:r>
                  <a:rPr lang="en-US" sz="1400" dirty="0" err="1"/>
                  <a:t>dreapta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lui</a:t>
                </a:r>
                <a:r>
                  <a:rPr lang="en-US" sz="1400" dirty="0"/>
                  <a:t> q3</a:t>
                </a:r>
              </a:p>
              <a:p>
                <a:pPr lvl="1">
                  <a:buFontTx/>
                  <a:buChar char="-"/>
                </a:pPr>
                <a:endParaRPr lang="ro-RO" sz="1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8229600" cy="4114800"/>
              </a:xfrm>
              <a:blipFill rotWithShape="1">
                <a:blip r:embed="rId2"/>
                <a:stretch>
                  <a:fillRect l="-519" t="-103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- 8 ianuarie 2019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2508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3276600" cy="4114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600" dirty="0"/>
                  <a:t>BINARY-SEARCH(x, T, p, r)</a:t>
                </a:r>
              </a:p>
              <a:p>
                <a:pPr marL="0" indent="0">
                  <a:buNone/>
                </a:pPr>
                <a:r>
                  <a:rPr lang="en-US" sz="1600" dirty="0"/>
                  <a:t>1. low = p</a:t>
                </a:r>
              </a:p>
              <a:p>
                <a:pPr marL="0" indent="0">
                  <a:buNone/>
                </a:pPr>
                <a:r>
                  <a:rPr lang="en-US" sz="1600" dirty="0"/>
                  <a:t>2. high = max(p, r + 1)</a:t>
                </a:r>
              </a:p>
              <a:p>
                <a:pPr marL="0" indent="0">
                  <a:buNone/>
                </a:pPr>
                <a:r>
                  <a:rPr lang="en-US" sz="1600" dirty="0"/>
                  <a:t>3. While (low &lt; high)</a:t>
                </a:r>
              </a:p>
              <a:p>
                <a:pPr marL="0" indent="0">
                  <a:buNone/>
                </a:pPr>
                <a:r>
                  <a:rPr lang="en-US" sz="1600" dirty="0"/>
                  <a:t>4.	mid =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𝑙𝑜𝑤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h𝑖𝑔h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)</m:t>
                            </m:r>
                          </m:num>
                          <m:den>
                            <m:r>
                              <a:rPr lang="en-US" sz="1600" b="0" i="1" smtClean="0"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5.	If x &lt;</a:t>
                </a:r>
                <a:r>
                  <a:rPr lang="ro-RO" sz="1600" dirty="0"/>
                  <a:t>= T</a:t>
                </a:r>
                <a:r>
                  <a:rPr lang="en-US" sz="1600" dirty="0"/>
                  <a:t>[mid]</a:t>
                </a:r>
              </a:p>
              <a:p>
                <a:pPr marL="0" indent="0">
                  <a:buNone/>
                </a:pPr>
                <a:r>
                  <a:rPr lang="en-US" sz="1600" dirty="0"/>
                  <a:t>6.		high = mid</a:t>
                </a:r>
              </a:p>
              <a:p>
                <a:pPr marL="0" indent="0">
                  <a:buNone/>
                </a:pPr>
                <a:r>
                  <a:rPr lang="en-US" sz="1600" dirty="0"/>
                  <a:t>7.	Else low = mid+1</a:t>
                </a:r>
              </a:p>
              <a:p>
                <a:pPr marL="0" indent="0">
                  <a:buNone/>
                </a:pPr>
                <a:r>
                  <a:rPr lang="en-US" sz="1600" dirty="0"/>
                  <a:t>8. Return high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 </a:t>
                </a:r>
                <a:endParaRPr lang="ro-RO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3276600" cy="4114800"/>
              </a:xfrm>
              <a:blipFill rotWithShape="1">
                <a:blip r:embed="rId2"/>
                <a:stretch>
                  <a:fillRect l="-929" t="-444" r="-929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- 8 ianuarie 2019</a:t>
            </a:r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 bwMode="auto">
              <a:xfrm>
                <a:off x="3886200" y="1548245"/>
                <a:ext cx="4953000" cy="411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itchFamily="2" charset="2"/>
                  <a:buBlip>
                    <a:blip r:embed="rId3"/>
                  </a:buBlip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95000"/>
                  <a:buFont typeface="Wingdings" pitchFamily="2" charset="2"/>
                  <a:buChar char="w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6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>
                  <a:buFont typeface="Wingdings" pitchFamily="2" charset="2"/>
                  <a:buNone/>
                </a:pPr>
                <a:r>
                  <a:rPr lang="en-US" sz="1400" kern="0" dirty="0"/>
                  <a:t>P-MERGE(T, p1, r1, p2, r2, A, p3)</a:t>
                </a:r>
              </a:p>
              <a:p>
                <a:pPr marL="0" indent="0">
                  <a:buFont typeface="Wingdings" pitchFamily="2" charset="2"/>
                  <a:buNone/>
                </a:pPr>
                <a:r>
                  <a:rPr lang="en-US" sz="1400" kern="0" dirty="0"/>
                  <a:t>1. n1 = r1 – p1+ 1</a:t>
                </a:r>
              </a:p>
              <a:p>
                <a:pPr marL="0" indent="0">
                  <a:buFont typeface="Wingdings" pitchFamily="2" charset="2"/>
                  <a:buNone/>
                </a:pPr>
                <a:r>
                  <a:rPr lang="en-US" sz="1400" kern="0" dirty="0"/>
                  <a:t>2. n2 = r2 – p2 + 1</a:t>
                </a:r>
              </a:p>
              <a:p>
                <a:pPr marL="0" indent="0">
                  <a:buFont typeface="Wingdings" pitchFamily="2" charset="2"/>
                  <a:buNone/>
                </a:pPr>
                <a:r>
                  <a:rPr lang="en-US" sz="1400" kern="0" dirty="0"/>
                  <a:t>3. If n1 &lt; n2</a:t>
                </a:r>
              </a:p>
              <a:p>
                <a:pPr marL="0" indent="0">
                  <a:buFont typeface="Wingdings" pitchFamily="2" charset="2"/>
                  <a:buNone/>
                </a:pPr>
                <a:r>
                  <a:rPr lang="en-US" sz="1400" kern="0" dirty="0"/>
                  <a:t>4.	Exchange p1 cu p2</a:t>
                </a:r>
              </a:p>
              <a:p>
                <a:pPr marL="0" indent="0">
                  <a:buFont typeface="Wingdings" pitchFamily="2" charset="2"/>
                  <a:buNone/>
                </a:pPr>
                <a:r>
                  <a:rPr lang="en-US" sz="1400" kern="0" dirty="0"/>
                  <a:t>5.	Exchange r1 cu r2</a:t>
                </a:r>
              </a:p>
              <a:p>
                <a:pPr marL="0" indent="0">
                  <a:buFont typeface="Wingdings" pitchFamily="2" charset="2"/>
                  <a:buNone/>
                </a:pPr>
                <a:r>
                  <a:rPr lang="en-US" sz="1400" kern="0" dirty="0"/>
                  <a:t>6.	Exchange n1 cu n2</a:t>
                </a:r>
              </a:p>
              <a:p>
                <a:pPr marL="0" indent="0">
                  <a:buFont typeface="Wingdings" pitchFamily="2" charset="2"/>
                  <a:buNone/>
                </a:pPr>
                <a:r>
                  <a:rPr lang="en-US" sz="1400" kern="0" dirty="0"/>
                  <a:t>7. If n1 == 0</a:t>
                </a:r>
              </a:p>
              <a:p>
                <a:pPr marL="0" indent="0">
                  <a:buFont typeface="Wingdings" pitchFamily="2" charset="2"/>
                  <a:buNone/>
                </a:pPr>
                <a:r>
                  <a:rPr lang="en-US" sz="1400" kern="0" dirty="0"/>
                  <a:t>8.	return</a:t>
                </a:r>
              </a:p>
              <a:p>
                <a:pPr marL="0" indent="0">
                  <a:buFont typeface="Wingdings" pitchFamily="2" charset="2"/>
                  <a:buNone/>
                </a:pPr>
                <a:r>
                  <a:rPr lang="en-US" sz="1400" kern="0" dirty="0"/>
                  <a:t>9. Else q1 =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sz="140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1400" i="1" kern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kern="0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sz="1400" b="0" i="1" kern="0" smtClean="0">
                                <a:latin typeface="Cambria Math"/>
                              </a:rPr>
                              <m:t>𝑝</m:t>
                            </m:r>
                            <m:r>
                              <a:rPr lang="en-US" sz="1400" b="0" i="1" kern="0" smtClean="0">
                                <a:latin typeface="Cambria Math"/>
                              </a:rPr>
                              <m:t>1+</m:t>
                            </m:r>
                            <m:r>
                              <a:rPr lang="en-US" sz="1400" b="0" i="1" kern="0" smtClean="0">
                                <a:latin typeface="Cambria Math"/>
                              </a:rPr>
                              <m:t>𝑟</m:t>
                            </m:r>
                            <m:r>
                              <a:rPr lang="en-US" sz="1400" b="0" i="1" kern="0" smtClean="0">
                                <a:latin typeface="Cambria Math"/>
                              </a:rPr>
                              <m:t>1)</m:t>
                            </m:r>
                          </m:num>
                          <m:den>
                            <m:r>
                              <a:rPr lang="en-US" sz="1400" b="0" i="1" kern="0" smtClean="0"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US" sz="1400" kern="0" dirty="0"/>
              </a:p>
              <a:p>
                <a:pPr marL="0" indent="0">
                  <a:buFont typeface="Wingdings" pitchFamily="2" charset="2"/>
                  <a:buNone/>
                </a:pPr>
                <a:r>
                  <a:rPr lang="en-US" sz="1400" kern="0" dirty="0"/>
                  <a:t>10.	q2 = BINARY-SEARCH(T[q1],T,p2,r2]</a:t>
                </a:r>
              </a:p>
              <a:p>
                <a:pPr marL="0" indent="0">
                  <a:buFont typeface="Wingdings" pitchFamily="2" charset="2"/>
                  <a:buNone/>
                </a:pPr>
                <a:r>
                  <a:rPr lang="en-US" sz="1400" kern="0" dirty="0"/>
                  <a:t>11.	q3 = p3 + (q1-p1) + (q2-p2)</a:t>
                </a:r>
              </a:p>
              <a:p>
                <a:pPr marL="0" indent="0">
                  <a:buFont typeface="Wingdings" pitchFamily="2" charset="2"/>
                  <a:buNone/>
                </a:pPr>
                <a:r>
                  <a:rPr lang="en-US" sz="1400" kern="0" dirty="0"/>
                  <a:t>12.	A[q3]=T[q1]</a:t>
                </a:r>
              </a:p>
              <a:p>
                <a:pPr marL="0" indent="0">
                  <a:buFont typeface="Wingdings" pitchFamily="2" charset="2"/>
                  <a:buNone/>
                </a:pPr>
                <a:r>
                  <a:rPr lang="en-US" sz="1400" kern="0" dirty="0"/>
                  <a:t>13.	Spawn P-MERGE(T, p1, q1-1,p2,q2-1,A,p3)</a:t>
                </a:r>
              </a:p>
              <a:p>
                <a:pPr marL="0" indent="0">
                  <a:buFont typeface="Wingdings" pitchFamily="2" charset="2"/>
                  <a:buNone/>
                </a:pPr>
                <a:r>
                  <a:rPr lang="en-US" sz="1400" kern="0" dirty="0"/>
                  <a:t>14. 	P-MERGE(T, q1+1, r1, q2, r2, A, q3+1)</a:t>
                </a:r>
              </a:p>
              <a:p>
                <a:pPr marL="0" indent="0">
                  <a:buFont typeface="Wingdings" pitchFamily="2" charset="2"/>
                  <a:buNone/>
                </a:pPr>
                <a:r>
                  <a:rPr lang="en-US" sz="1400" kern="0" dirty="0"/>
                  <a:t>15.	sync</a:t>
                </a:r>
              </a:p>
              <a:p>
                <a:pPr marL="0" indent="0">
                  <a:buFont typeface="Wingdings" pitchFamily="2" charset="2"/>
                  <a:buNone/>
                </a:pPr>
                <a:r>
                  <a:rPr lang="en-US" sz="1600" kern="0" dirty="0"/>
                  <a:t>	</a:t>
                </a:r>
                <a:endParaRPr lang="ro-RO" sz="1600" kern="0" dirty="0"/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86200" y="1548245"/>
                <a:ext cx="4953000" cy="4114800"/>
              </a:xfrm>
              <a:prstGeom prst="rect">
                <a:avLst/>
              </a:prstGeom>
              <a:blipFill rotWithShape="1">
                <a:blip r:embed="rId4"/>
                <a:stretch>
                  <a:fillRect l="-369" t="-148" b="-222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5297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600" dirty="0"/>
                  <a:t>P-MERGE-SORT(A, p, r, B, s)</a:t>
                </a:r>
              </a:p>
              <a:p>
                <a:pPr marL="0" indent="0">
                  <a:buNone/>
                </a:pPr>
                <a:r>
                  <a:rPr lang="en-US" sz="1600" dirty="0"/>
                  <a:t>1. n = r – p + 1</a:t>
                </a:r>
              </a:p>
              <a:p>
                <a:pPr marL="0" indent="0">
                  <a:buNone/>
                </a:pPr>
                <a:r>
                  <a:rPr lang="en-US" sz="1600" dirty="0"/>
                  <a:t>2. If n == 1</a:t>
                </a:r>
              </a:p>
              <a:p>
                <a:pPr marL="0" indent="0">
                  <a:buNone/>
                </a:pPr>
                <a:r>
                  <a:rPr lang="en-US" sz="1600" dirty="0"/>
                  <a:t>3.	B[s] = A[p]</a:t>
                </a:r>
              </a:p>
              <a:p>
                <a:pPr marL="0" indent="0">
                  <a:buNone/>
                </a:pPr>
                <a:r>
                  <a:rPr lang="en-US" sz="1600" dirty="0"/>
                  <a:t>4. Else	fie T[1..n] un sir </a:t>
                </a:r>
                <a:r>
                  <a:rPr lang="en-US" sz="1600" dirty="0" err="1"/>
                  <a:t>nou</a:t>
                </a: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5.	q =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𝑝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𝑟</m:t>
                            </m:r>
                            <m:r>
                              <a:rPr lang="en-US" sz="1600" b="0" i="1" smtClean="0">
                                <a:latin typeface="Cambria Math"/>
                              </a:rPr>
                              <m:t>)</m:t>
                            </m:r>
                          </m:num>
                          <m:den>
                            <m:r>
                              <a:rPr lang="en-US" sz="1600" b="0" i="1" smtClean="0"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6.	q’ = q – r + 1</a:t>
                </a:r>
              </a:p>
              <a:p>
                <a:pPr marL="0" indent="0">
                  <a:buNone/>
                </a:pPr>
                <a:r>
                  <a:rPr lang="en-US" sz="1600" dirty="0"/>
                  <a:t>7. 	Spawn P-MERGE-SORT(A, p, q, T, 1)</a:t>
                </a:r>
              </a:p>
              <a:p>
                <a:pPr marL="0" indent="0">
                  <a:buNone/>
                </a:pPr>
                <a:r>
                  <a:rPr lang="en-US" sz="1600" dirty="0"/>
                  <a:t>8.	P-MERGE-SORT(A, q+1, r, T, q’+1)</a:t>
                </a:r>
              </a:p>
              <a:p>
                <a:pPr marL="0" indent="0">
                  <a:buNone/>
                </a:pPr>
                <a:r>
                  <a:rPr lang="en-US" sz="1600" dirty="0"/>
                  <a:t>9.	sync</a:t>
                </a:r>
              </a:p>
              <a:p>
                <a:pPr marL="0" indent="0">
                  <a:buNone/>
                </a:pPr>
                <a:r>
                  <a:rPr lang="en-US" sz="1600" dirty="0"/>
                  <a:t>10.	P-MERGE(T, 1, q’, q’+1, n, B, s)</a:t>
                </a:r>
                <a:endParaRPr lang="ro-RO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  <a:blipFill rotWithShape="1">
                <a:blip r:embed="rId2"/>
                <a:stretch>
                  <a:fillRect l="-392" t="-44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- 8 ianuarie 2019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2787192"/>
      </p:ext>
    </p:extLst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3495</TotalTime>
  <Words>785</Words>
  <Application>Microsoft Office PowerPoint</Application>
  <PresentationFormat>On-screen Show (4:3)</PresentationFormat>
  <Paragraphs>188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Cambria Math</vt:lpstr>
      <vt:lpstr>Symbol</vt:lpstr>
      <vt:lpstr>Tahoma</vt:lpstr>
      <vt:lpstr>Times New Roman</vt:lpstr>
      <vt:lpstr>Wingdings</vt:lpstr>
      <vt:lpstr>Blueprint</vt:lpstr>
      <vt:lpstr>Algoritmi și structuri de date – curs 12     - Informatică Economică, an II –</vt:lpstr>
      <vt:lpstr>Cuprins</vt:lpstr>
      <vt:lpstr>Conceptul de multithreading</vt:lpstr>
      <vt:lpstr>Memorie distribuita</vt:lpstr>
      <vt:lpstr>Memorie partajată (shared memory)</vt:lpstr>
      <vt:lpstr>Concepte de programare paralela</vt:lpstr>
      <vt:lpstr>Calculul numerelor lui Fibonacci</vt:lpstr>
      <vt:lpstr>Computation DAG</vt:lpstr>
      <vt:lpstr>Tipuri de arce intr-un computation DAG</vt:lpstr>
      <vt:lpstr>Evaluarea performantei programelor paralele</vt:lpstr>
      <vt:lpstr>Parallel - for</vt:lpstr>
      <vt:lpstr>Race conditions</vt:lpstr>
      <vt:lpstr>Race conditions</vt:lpstr>
      <vt:lpstr>Inmultirea matricilor</vt:lpstr>
      <vt:lpstr>Merge sort</vt:lpstr>
      <vt:lpstr>Imbunătățirea procedurii de interclasare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Moni</dc:creator>
  <cp:lastModifiedBy>Gheorghe Cosmin Silaghi</cp:lastModifiedBy>
  <cp:revision>264</cp:revision>
  <dcterms:created xsi:type="dcterms:W3CDTF">2004-11-24T18:35:22Z</dcterms:created>
  <dcterms:modified xsi:type="dcterms:W3CDTF">2020-01-04T09:42:54Z</dcterms:modified>
</cp:coreProperties>
</file>