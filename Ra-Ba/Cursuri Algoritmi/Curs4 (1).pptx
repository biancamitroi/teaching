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8"/>
  </p:notesMasterIdLst>
  <p:sldIdLst>
    <p:sldId id="256" r:id="rId2"/>
    <p:sldId id="281" r:id="rId3"/>
    <p:sldId id="257" r:id="rId4"/>
    <p:sldId id="258" r:id="rId5"/>
    <p:sldId id="280" r:id="rId6"/>
    <p:sldId id="259" r:id="rId7"/>
    <p:sldId id="282" r:id="rId8"/>
    <p:sldId id="260" r:id="rId9"/>
    <p:sldId id="261" r:id="rId10"/>
    <p:sldId id="262" r:id="rId11"/>
    <p:sldId id="283" r:id="rId12"/>
    <p:sldId id="284" r:id="rId13"/>
    <p:sldId id="263" r:id="rId14"/>
    <p:sldId id="264" r:id="rId15"/>
    <p:sldId id="265" r:id="rId16"/>
    <p:sldId id="266" r:id="rId17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620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- 7 Noiembrie 2022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</a:t>
            </a:r>
            <a:r>
              <a:rPr lang="ro-RO" sz="3200" dirty="0"/>
              <a:t> </a:t>
            </a:r>
            <a:r>
              <a:rPr lang="en-US" sz="3200" dirty="0"/>
              <a:t>4</a:t>
            </a:r>
            <a:r>
              <a:rPr lang="en-US" sz="3600" dirty="0"/>
              <a:t>   </a:t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ro-RO"/>
              <a:t>Gheorghe Cosmin Silaghi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38200" y="3279819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Arbori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rosu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si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negru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Proprietatile</a:t>
            </a:r>
            <a:r>
              <a:rPr lang="en-US" sz="2000" dirty="0"/>
              <a:t> </a:t>
            </a:r>
            <a:r>
              <a:rPr lang="en-US" sz="2000" dirty="0" err="1"/>
              <a:t>arborilor</a:t>
            </a:r>
            <a:r>
              <a:rPr lang="en-US" sz="2000" dirty="0"/>
              <a:t> </a:t>
            </a:r>
            <a:r>
              <a:rPr lang="en-US" sz="2000" dirty="0" err="1"/>
              <a:t>rosu-negru</a:t>
            </a:r>
            <a:endParaRPr lang="en-US" sz="2000" dirty="0"/>
          </a:p>
          <a:p>
            <a:r>
              <a:rPr lang="en-US" sz="2000" dirty="0" err="1"/>
              <a:t>Operatii</a:t>
            </a:r>
            <a:r>
              <a:rPr lang="en-US" sz="2000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arbori</a:t>
            </a:r>
            <a:r>
              <a:rPr lang="en-US" sz="2000" dirty="0"/>
              <a:t> </a:t>
            </a:r>
            <a:r>
              <a:rPr lang="en-US" sz="2000" dirty="0" err="1"/>
              <a:t>rosu-negru</a:t>
            </a:r>
            <a:endParaRPr lang="ro-RO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- 7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380037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Arbore </a:t>
            </a:r>
            <a:r>
              <a:rPr lang="en-US" sz="2800" dirty="0" err="1"/>
              <a:t>rosu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negru</a:t>
            </a:r>
            <a:r>
              <a:rPr lang="en-US" sz="2800" dirty="0"/>
              <a:t>. </a:t>
            </a:r>
            <a:r>
              <a:rPr lang="en-US" sz="2800" dirty="0" err="1"/>
              <a:t>Definire</a:t>
            </a:r>
            <a:r>
              <a:rPr lang="en-US" sz="2800" dirty="0"/>
              <a:t>, </a:t>
            </a:r>
            <a:r>
              <a:rPr lang="en-US" sz="2800" dirty="0" err="1"/>
              <a:t>propriet</a:t>
            </a:r>
            <a:r>
              <a:rPr lang="ro-RO" sz="2800" dirty="0"/>
              <a:t>ăți</a:t>
            </a:r>
            <a:endParaRPr lang="en-US" sz="2800" dirty="0"/>
          </a:p>
        </p:txBody>
      </p:sp>
      <p:sp>
        <p:nvSpPr>
          <p:cNvPr id="102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76400"/>
            <a:ext cx="8534400" cy="4114800"/>
          </a:xfrm>
          <a:noFill/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ro-RO" sz="1800" dirty="0"/>
              <a:t>Arbore roșu-si-negru: arbore binar de căutare la care fiecare nod are bit suplimentar, reprezentând culoarea: roșu sau negru. 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1800" dirty="0"/>
              <a:t>Fiecare nod de arbore conține următoarele campuri: cheia, culoarea, nodul stâng, nodul drept și părintele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ro-RO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o-RO" sz="1800" b="1" dirty="0"/>
              <a:t>Proprietăți arbore roșu-negru: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o-RO" sz="1800" dirty="0"/>
              <a:t>1. Fiecare nod este sau roșu sau negru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o-RO" sz="1800" dirty="0"/>
              <a:t>2. </a:t>
            </a:r>
            <a:r>
              <a:rPr lang="en-US" sz="1800" dirty="0" err="1"/>
              <a:t>Nodul</a:t>
            </a:r>
            <a:r>
              <a:rPr lang="en-US" sz="1800" dirty="0"/>
              <a:t> </a:t>
            </a:r>
            <a:r>
              <a:rPr lang="ro-RO" sz="1800" dirty="0"/>
              <a:t>Rădăcină este negru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o-RO" sz="1800" dirty="0"/>
              <a:t>3. Fiecare frunză (NIL) este neagră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o-RO" sz="1800" dirty="0"/>
              <a:t>4. Dacă un nod este roșu, atunci amândoi copii sunt negrii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o-RO" sz="1800" dirty="0"/>
              <a:t>5. Pentru fiecare nod, toate căile simple de la nodul respectiv la frunzele descendente conțin același număr de noduri negre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ro-RO" sz="1800" dirty="0"/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1800" dirty="0"/>
              <a:t>Se doreste implementarea arborilor</a:t>
            </a:r>
            <a:r>
              <a:rPr lang="ro-RO" sz="1800" i="1" dirty="0"/>
              <a:t> balansați</a:t>
            </a:r>
            <a:endParaRPr lang="ro-RO" sz="1600" i="1" dirty="0"/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- 7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898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0" y="304800"/>
            <a:ext cx="8990200" cy="28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24200"/>
            <a:ext cx="8131227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- 7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137865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Proprietăți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Pentru fiecare nod x, notăm cu bh(x) numărul nodurilor negre de la x la frunzele sale – </a:t>
                </a:r>
                <a:r>
                  <a:rPr lang="ro-RO" sz="1600" i="1" dirty="0"/>
                  <a:t>inăltimea neagră</a:t>
                </a:r>
                <a:r>
                  <a:rPr lang="ro-RO" sz="1600" dirty="0"/>
                  <a:t> a lui x. bh(x) nu il numără pe x</a:t>
                </a:r>
              </a:p>
              <a:p>
                <a:r>
                  <a:rPr lang="ro-RO" sz="1600" dirty="0"/>
                  <a:t>Inălțimea neagră a  unui arbore roșu-negru este inălțimea neagră a rădăcinei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Un arbore rosu-negru cu n noduri interne, are inălțime cel mult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lang="ro-RO" sz="1600" b="0" i="0" smtClean="0">
                        <a:latin typeface="Cambria Math"/>
                      </a:rPr>
                      <m:t>log</m:t>
                    </m:r>
                    <m:r>
                      <a:rPr lang="ro-RO" sz="1600" b="0" i="1" smtClean="0">
                        <a:latin typeface="Cambria Math"/>
                      </a:rPr>
                      <m:t>⁡(</m:t>
                    </m:r>
                    <m:r>
                      <a:rPr lang="ro-RO" sz="1600" b="0" i="1" smtClean="0">
                        <a:latin typeface="Cambria Math"/>
                      </a:rPr>
                      <m:t>𝑛</m:t>
                    </m:r>
                    <m:r>
                      <a:rPr lang="ro-RO" sz="1600" b="0" i="1" smtClean="0">
                        <a:latin typeface="Cambria Math"/>
                      </a:rPr>
                      <m:t>+1)</m:t>
                    </m:r>
                  </m:oMath>
                </a14:m>
                <a:endParaRPr lang="ro-RO" sz="1600" dirty="0"/>
              </a:p>
              <a:p>
                <a:endParaRPr lang="ro-RO" sz="1600" dirty="0"/>
              </a:p>
              <a:p>
                <a:r>
                  <a:rPr lang="ro-RO" sz="1600" dirty="0"/>
                  <a:t>Operațiile TREE-INSERT și TREE-DELETE într-un arbore cu n noduri se execută in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o-RO" sz="1600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ro-RO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ro-RO" sz="1600" b="0" dirty="0"/>
              </a:p>
              <a:p>
                <a:r>
                  <a:rPr lang="ro-RO" sz="1600" dirty="0"/>
                  <a:t>Aceste operații schimbă arborele, deci arborele rezultat poate să nu mai indeplinească condițiile de arbore Rosu-negru =</a:t>
                </a:r>
                <a:r>
                  <a:rPr lang="en-US" sz="1600" dirty="0"/>
                  <a:t>&gt;</a:t>
                </a:r>
                <a:r>
                  <a:rPr lang="ro-RO" sz="1600" dirty="0"/>
                  <a:t>  sunt necesare corecții pentru a păstra proprietățile arborelui </a:t>
                </a:r>
              </a:p>
              <a:p>
                <a:endParaRPr lang="ro-RO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0">
                <a:blip r:embed="rId2"/>
                <a:stretch>
                  <a:fillRect t="-444" r="-111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- 7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2760697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0"/>
            <a:ext cx="60925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2209800"/>
            <a:ext cx="3429000" cy="3810000"/>
          </a:xfrm>
        </p:spPr>
        <p:txBody>
          <a:bodyPr/>
          <a:lstStyle/>
          <a:p>
            <a:r>
              <a:rPr lang="ro-RO" sz="1800" dirty="0"/>
              <a:t>LEFT-ROTATE (T,x)</a:t>
            </a:r>
          </a:p>
          <a:p>
            <a:pPr marL="0" indent="0">
              <a:buNone/>
            </a:pPr>
            <a:r>
              <a:rPr lang="ro-RO" sz="1800" dirty="0"/>
              <a:t>1. y = x.right</a:t>
            </a:r>
          </a:p>
          <a:p>
            <a:pPr marL="0" indent="0">
              <a:buNone/>
            </a:pPr>
            <a:r>
              <a:rPr lang="ro-RO" sz="1800" dirty="0"/>
              <a:t>2. x.right = y.left</a:t>
            </a:r>
          </a:p>
          <a:p>
            <a:pPr marL="0" indent="0">
              <a:buNone/>
            </a:pPr>
            <a:r>
              <a:rPr lang="ro-RO" sz="1800" dirty="0"/>
              <a:t>3. If y.left != T.nil</a:t>
            </a:r>
          </a:p>
          <a:p>
            <a:pPr marL="0" indent="0">
              <a:buNone/>
            </a:pPr>
            <a:r>
              <a:rPr lang="ro-RO" sz="1800" dirty="0"/>
              <a:t>4.	y.left.p = x</a:t>
            </a:r>
          </a:p>
          <a:p>
            <a:pPr marL="0" indent="0">
              <a:buNone/>
            </a:pPr>
            <a:r>
              <a:rPr lang="ro-RO" sz="1800" dirty="0"/>
              <a:t>5. y.p = x.p</a:t>
            </a:r>
          </a:p>
          <a:p>
            <a:pPr marL="0" indent="0">
              <a:buNone/>
            </a:pPr>
            <a:r>
              <a:rPr lang="ro-RO" sz="1800" dirty="0"/>
              <a:t>6. If x.p ==T.nil</a:t>
            </a:r>
          </a:p>
          <a:p>
            <a:pPr marL="0" indent="0">
              <a:buNone/>
            </a:pPr>
            <a:r>
              <a:rPr lang="ro-RO" sz="1800" dirty="0"/>
              <a:t>7.	T.root = y</a:t>
            </a:r>
          </a:p>
          <a:p>
            <a:pPr marL="0" indent="0">
              <a:buNone/>
            </a:pPr>
            <a:r>
              <a:rPr lang="ro-RO" sz="1800" dirty="0"/>
              <a:t>8. Elseif	x == x.p.left</a:t>
            </a:r>
          </a:p>
          <a:p>
            <a:pPr marL="0" indent="0">
              <a:buNone/>
            </a:pPr>
            <a:r>
              <a:rPr lang="ro-RO" sz="1800" dirty="0"/>
              <a:t>9.	x.p.left = y</a:t>
            </a:r>
          </a:p>
          <a:p>
            <a:pPr marL="0" indent="0">
              <a:buNone/>
            </a:pPr>
            <a:r>
              <a:rPr lang="ro-RO" sz="1800" dirty="0"/>
              <a:t>10. Else x.p.right = y</a:t>
            </a:r>
          </a:p>
          <a:p>
            <a:pPr marL="0" indent="0">
              <a:buNone/>
            </a:pPr>
            <a:r>
              <a:rPr lang="ro-RO" sz="1800" dirty="0"/>
              <a:t>11. y.left = x</a:t>
            </a:r>
          </a:p>
          <a:p>
            <a:pPr marL="0" indent="0">
              <a:buNone/>
            </a:pPr>
            <a:r>
              <a:rPr lang="ro-RO" sz="1800" dirty="0"/>
              <a:t>12. x.p = y</a:t>
            </a:r>
          </a:p>
        </p:txBody>
      </p:sp>
      <p:sp>
        <p:nvSpPr>
          <p:cNvPr id="10" name="Content Placeholder 4"/>
          <p:cNvSpPr txBox="1">
            <a:spLocks/>
          </p:cNvSpPr>
          <p:nvPr/>
        </p:nvSpPr>
        <p:spPr bwMode="auto">
          <a:xfrm>
            <a:off x="4648200" y="2209800"/>
            <a:ext cx="39624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ro-RO" sz="1800" kern="0" dirty="0"/>
              <a:t>RIGHT-ROTATE (T,x)</a:t>
            </a:r>
          </a:p>
          <a:p>
            <a:pPr marL="0" indent="0">
              <a:buFont typeface="Wingdings" pitchFamily="2" charset="2"/>
              <a:buNone/>
            </a:pPr>
            <a:r>
              <a:rPr lang="ro-RO" sz="1800" b="1" kern="0" dirty="0"/>
              <a:t>Temă de casă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- 7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207031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- 7 Noiembrie 2022</a:t>
            </a:r>
          </a:p>
        </p:txBody>
      </p:sp>
      <p:pic>
        <p:nvPicPr>
          <p:cNvPr id="5" name="Picture 4" descr="D:\McGraw-Hill Projects\Cormen\images\fig13-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07950"/>
            <a:ext cx="9067800" cy="664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598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986088" y="1157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Inserare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3276600" cy="5257800"/>
          </a:xfrm>
        </p:spPr>
        <p:txBody>
          <a:bodyPr/>
          <a:lstStyle/>
          <a:p>
            <a:pPr marL="0" indent="0">
              <a:buNone/>
            </a:pPr>
            <a:r>
              <a:rPr lang="ro-RO" sz="1600" dirty="0"/>
              <a:t>RB-INSERT(T,z)</a:t>
            </a:r>
          </a:p>
          <a:p>
            <a:pPr marL="0" indent="0">
              <a:buNone/>
            </a:pPr>
            <a:r>
              <a:rPr lang="ro-RO" sz="1600" dirty="0"/>
              <a:t>1. y = T.nil</a:t>
            </a:r>
          </a:p>
          <a:p>
            <a:pPr marL="0" indent="0">
              <a:buNone/>
            </a:pPr>
            <a:r>
              <a:rPr lang="ro-RO" sz="1600" dirty="0"/>
              <a:t>2. X = T.root</a:t>
            </a:r>
          </a:p>
          <a:p>
            <a:pPr marL="0" indent="0">
              <a:buNone/>
            </a:pPr>
            <a:r>
              <a:rPr lang="ro-RO" sz="1600" dirty="0"/>
              <a:t>3. While x != T.nil</a:t>
            </a:r>
          </a:p>
          <a:p>
            <a:pPr marL="0" indent="0">
              <a:buNone/>
            </a:pPr>
            <a:r>
              <a:rPr lang="ro-RO" sz="1600" dirty="0"/>
              <a:t>4.	y = x </a:t>
            </a:r>
          </a:p>
          <a:p>
            <a:pPr marL="0" indent="0">
              <a:buNone/>
            </a:pPr>
            <a:r>
              <a:rPr lang="ro-RO" sz="1600" dirty="0"/>
              <a:t>5.	If z.key </a:t>
            </a:r>
            <a:r>
              <a:rPr lang="en-US" sz="1600" dirty="0"/>
              <a:t>&lt;</a:t>
            </a:r>
            <a:r>
              <a:rPr lang="ro-RO" sz="1600" dirty="0"/>
              <a:t> x.key</a:t>
            </a:r>
          </a:p>
          <a:p>
            <a:pPr marL="0" indent="0">
              <a:buNone/>
            </a:pPr>
            <a:r>
              <a:rPr lang="ro-RO" sz="1600" dirty="0"/>
              <a:t>6.		x = x.left</a:t>
            </a:r>
          </a:p>
          <a:p>
            <a:pPr marL="0" indent="0">
              <a:buNone/>
            </a:pPr>
            <a:r>
              <a:rPr lang="ro-RO" sz="1600" dirty="0"/>
              <a:t>7.	Else 	x = x.right</a:t>
            </a:r>
          </a:p>
          <a:p>
            <a:pPr marL="0" indent="0">
              <a:buNone/>
            </a:pPr>
            <a:r>
              <a:rPr lang="ro-RO" sz="1600" dirty="0"/>
              <a:t>8. z.p = y</a:t>
            </a:r>
          </a:p>
          <a:p>
            <a:pPr marL="0" indent="0">
              <a:buNone/>
            </a:pPr>
            <a:r>
              <a:rPr lang="ro-RO" sz="1600" dirty="0"/>
              <a:t>9. If y == T.nil</a:t>
            </a:r>
          </a:p>
          <a:p>
            <a:pPr marL="0" indent="0">
              <a:buNone/>
            </a:pPr>
            <a:r>
              <a:rPr lang="ro-RO" sz="1600" dirty="0"/>
              <a:t>10	T.root = z</a:t>
            </a:r>
          </a:p>
          <a:p>
            <a:pPr marL="0" indent="0">
              <a:buNone/>
            </a:pPr>
            <a:r>
              <a:rPr lang="ro-RO" sz="1600" dirty="0"/>
              <a:t>11. Elseif z.key </a:t>
            </a:r>
            <a:r>
              <a:rPr lang="en-US" sz="1600" dirty="0"/>
              <a:t>&lt;</a:t>
            </a:r>
            <a:r>
              <a:rPr lang="ro-RO" sz="1600" dirty="0"/>
              <a:t> y.key</a:t>
            </a:r>
          </a:p>
          <a:p>
            <a:pPr marL="0" indent="0">
              <a:buNone/>
            </a:pPr>
            <a:r>
              <a:rPr lang="ro-RO" sz="1600" dirty="0"/>
              <a:t>12	y.left = z</a:t>
            </a:r>
          </a:p>
          <a:p>
            <a:pPr marL="0" indent="0">
              <a:buNone/>
            </a:pPr>
            <a:r>
              <a:rPr lang="ro-RO" sz="1600" dirty="0"/>
              <a:t>13. Else   y.right = x</a:t>
            </a:r>
          </a:p>
          <a:p>
            <a:pPr marL="0" indent="0">
              <a:buNone/>
            </a:pPr>
            <a:r>
              <a:rPr lang="ro-RO" sz="1600" dirty="0"/>
              <a:t>14. z.left = T.nil</a:t>
            </a:r>
          </a:p>
          <a:p>
            <a:pPr marL="0" indent="0">
              <a:buNone/>
            </a:pPr>
            <a:r>
              <a:rPr lang="ro-RO" sz="1600" dirty="0"/>
              <a:t>15. z.right = T.nil</a:t>
            </a:r>
          </a:p>
          <a:p>
            <a:pPr marL="0" indent="0">
              <a:buNone/>
            </a:pPr>
            <a:r>
              <a:rPr lang="ro-RO" sz="1600" dirty="0"/>
              <a:t>16. z.color = RED</a:t>
            </a:r>
          </a:p>
          <a:p>
            <a:pPr marL="0" indent="0">
              <a:buNone/>
            </a:pPr>
            <a:r>
              <a:rPr lang="ro-RO" sz="1600" dirty="0"/>
              <a:t>17. RB-INSERT-FIXUP(T,z)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657600" y="1520536"/>
            <a:ext cx="5334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RB-INSERT-FIXUP(T,z)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1. While z.p.color == RED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2.	If z.p == z.p.p.left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3.		y = z.p.p.right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4.		If y.color == RED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5.			z.p.color = BLACK  //caz1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6.			y.color = BLACK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7.			z.p.p.color = RED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8.			Z = z.p.p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9.		Else if z == z.p.right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10			Z = z.p   // caz 2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11			LEFT-ROTATE(T,z)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12.		       z.p.color = BLACK  //caz 3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13.		       z.p.p.color = RED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14.		       RIGHT-ROTATE(T, z.p.p)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15.	Else   (similare cu partea then, doar ca se interschimba intre ele right cu left)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16. T.root.color = BLACK</a:t>
            </a:r>
          </a:p>
        </p:txBody>
      </p:sp>
    </p:spTree>
    <p:extLst>
      <p:ext uri="{BB962C8B-B14F-4D97-AF65-F5344CB8AC3E}">
        <p14:creationId xmlns:p14="http://schemas.microsoft.com/office/powerpoint/2010/main" val="72581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o-RO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399"/>
            <a:ext cx="6324600" cy="6693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7849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- 7 Noiembrie 2022</a:t>
            </a:r>
          </a:p>
        </p:txBody>
      </p:sp>
      <p:sp>
        <p:nvSpPr>
          <p:cNvPr id="1536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153400" cy="4114800"/>
          </a:xfrm>
        </p:spPr>
        <p:txBody>
          <a:bodyPr/>
          <a:lstStyle/>
          <a:p>
            <a:pPr eaLnBrk="1" hangingPunct="1"/>
            <a:r>
              <a:rPr lang="ro-RO" sz="2000" dirty="0"/>
              <a:t>Condițiile de invariant din cadrul buclei while din RB-INSERT-FIXUP</a:t>
            </a:r>
            <a:endParaRPr lang="ro-RO" sz="1800" dirty="0"/>
          </a:p>
          <a:p>
            <a:pPr lvl="1" eaLnBrk="1" hangingPunct="1"/>
            <a:r>
              <a:rPr lang="ro-RO" sz="1600" dirty="0"/>
              <a:t>Nodul z este rosu</a:t>
            </a:r>
          </a:p>
          <a:p>
            <a:pPr lvl="1" eaLnBrk="1" hangingPunct="1"/>
            <a:r>
              <a:rPr lang="ro-RO" sz="1600" dirty="0"/>
              <a:t>Dacă z.p este rădăcina, atunci z.p  este negru</a:t>
            </a:r>
          </a:p>
          <a:p>
            <a:pPr lvl="1" eaLnBrk="1" hangingPunct="1"/>
            <a:r>
              <a:rPr lang="ro-RO" sz="1600" dirty="0"/>
              <a:t>Dacă arborele violează conditia Rosu-și-negru, atunci violează cel mult o proprietate, adica sau proprietatea 2 sau 4</a:t>
            </a:r>
          </a:p>
        </p:txBody>
      </p:sp>
    </p:spTree>
    <p:extLst>
      <p:ext uri="{BB962C8B-B14F-4D97-AF65-F5344CB8AC3E}">
        <p14:creationId xmlns:p14="http://schemas.microsoft.com/office/powerpoint/2010/main" val="3675653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Caz 1 la insert (</a:t>
            </a:r>
            <a:r>
              <a:rPr lang="en-US" sz="3600" dirty="0" err="1"/>
              <a:t>linia</a:t>
            </a:r>
            <a:r>
              <a:rPr lang="en-US" sz="3600" dirty="0"/>
              <a:t> 5)</a:t>
            </a:r>
            <a:endParaRPr lang="ro-RO" sz="3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- 7 Noiembrie 2022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05000"/>
            <a:ext cx="7483488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10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Caz 2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 3 la insert </a:t>
            </a:r>
            <a:endParaRPr lang="ro-RO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- 7 Noiembrie 2022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90800"/>
            <a:ext cx="6569009" cy="206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54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Stergerea unui nod </a:t>
            </a:r>
            <a:endParaRPr lang="en-US" sz="3200" dirty="0"/>
          </a:p>
        </p:txBody>
      </p:sp>
      <p:sp>
        <p:nvSpPr>
          <p:cNvPr id="16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3886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ro-RO" sz="1800" dirty="0"/>
              <a:t>Se inlocuiteste subarborele u cu subarborele v in arborele T</a:t>
            </a:r>
          </a:p>
          <a:p>
            <a:pPr marL="0" indent="0" eaLnBrk="1" hangingPunct="1">
              <a:buNone/>
            </a:pPr>
            <a:r>
              <a:rPr lang="ro-RO" sz="1800" dirty="0"/>
              <a:t>RB-TRANSPLANT(T, u, v)</a:t>
            </a:r>
          </a:p>
          <a:p>
            <a:pPr marL="0" indent="0" eaLnBrk="1" hangingPunct="1">
              <a:buNone/>
            </a:pPr>
            <a:r>
              <a:rPr lang="ro-RO" sz="1600" dirty="0"/>
              <a:t>1. If u.p == T.nil</a:t>
            </a:r>
          </a:p>
          <a:p>
            <a:pPr marL="0" indent="0" eaLnBrk="1" hangingPunct="1">
              <a:buNone/>
            </a:pPr>
            <a:r>
              <a:rPr lang="ro-RO" sz="1600" dirty="0"/>
              <a:t>2. 	T.root = v</a:t>
            </a:r>
          </a:p>
          <a:p>
            <a:pPr marL="0" indent="0" eaLnBrk="1" hangingPunct="1">
              <a:buNone/>
            </a:pPr>
            <a:r>
              <a:rPr lang="ro-RO" sz="1600" dirty="0"/>
              <a:t>3. Elseif u == u.p.left</a:t>
            </a:r>
          </a:p>
          <a:p>
            <a:pPr marL="0" indent="0" eaLnBrk="1" hangingPunct="1">
              <a:buNone/>
            </a:pPr>
            <a:r>
              <a:rPr lang="ro-RO" sz="1600" dirty="0"/>
              <a:t>4.	u.p.left = v</a:t>
            </a:r>
          </a:p>
          <a:p>
            <a:pPr marL="0" indent="0" eaLnBrk="1" hangingPunct="1">
              <a:buNone/>
            </a:pPr>
            <a:r>
              <a:rPr lang="ro-RO" sz="1600" dirty="0"/>
              <a:t>5. Else u.p.right = v</a:t>
            </a:r>
          </a:p>
          <a:p>
            <a:pPr marL="0" indent="0" eaLnBrk="1" hangingPunct="1">
              <a:buNone/>
            </a:pPr>
            <a:r>
              <a:rPr lang="ro-RO" sz="1600" dirty="0"/>
              <a:t>6. v.p = u.p</a:t>
            </a:r>
          </a:p>
          <a:p>
            <a:pPr marL="0" indent="0" eaLnBrk="1" hangingPunct="1">
              <a:buNone/>
            </a:pPr>
            <a:endParaRPr lang="ro-RO" sz="1600" dirty="0"/>
          </a:p>
          <a:p>
            <a:pPr marL="0" indent="0" eaLnBrk="1" hangingPunct="1">
              <a:buNone/>
            </a:pPr>
            <a:endParaRPr lang="en-US" sz="1600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- 7 Noiembrie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400" y="2057400"/>
            <a:ext cx="3505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TREE-</a:t>
            </a:r>
            <a:r>
              <a:rPr lang="ro-RO" sz="1400" dirty="0"/>
              <a:t>TRASNPLANT(t, u, v)</a:t>
            </a:r>
          </a:p>
          <a:p>
            <a:r>
              <a:rPr lang="ro-RO" sz="1400" dirty="0"/>
              <a:t>1. If u.p == Nil</a:t>
            </a:r>
          </a:p>
          <a:p>
            <a:r>
              <a:rPr lang="ro-RO" sz="1400" dirty="0"/>
              <a:t>2.	T.root = v</a:t>
            </a:r>
          </a:p>
          <a:p>
            <a:r>
              <a:rPr lang="ro-RO" sz="1400" dirty="0"/>
              <a:t>3. Elseif u == u.p.left</a:t>
            </a:r>
          </a:p>
          <a:p>
            <a:r>
              <a:rPr lang="ro-RO" sz="1400" dirty="0"/>
              <a:t>4.	u.p.left = v</a:t>
            </a:r>
          </a:p>
          <a:p>
            <a:r>
              <a:rPr lang="ro-RO" sz="1400" dirty="0"/>
              <a:t>5. Else u.p.right = v</a:t>
            </a:r>
          </a:p>
          <a:p>
            <a:r>
              <a:rPr lang="ro-RO" sz="1400" dirty="0"/>
              <a:t>6. If v != Nil</a:t>
            </a:r>
          </a:p>
          <a:p>
            <a:r>
              <a:rPr lang="ro-RO" sz="1400" dirty="0"/>
              <a:t>7.	v.p = u.p</a:t>
            </a:r>
          </a:p>
        </p:txBody>
      </p:sp>
    </p:spTree>
    <p:extLst>
      <p:ext uri="{BB962C8B-B14F-4D97-AF65-F5344CB8AC3E}">
        <p14:creationId xmlns:p14="http://schemas.microsoft.com/office/powerpoint/2010/main" val="1982881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09600" y="304800"/>
            <a:ext cx="8229600" cy="6400800"/>
          </a:xfrm>
        </p:spPr>
        <p:txBody>
          <a:bodyPr/>
          <a:lstStyle/>
          <a:p>
            <a:pPr marL="0" indent="0">
              <a:buNone/>
            </a:pPr>
            <a:r>
              <a:rPr lang="ro-RO" sz="1600" dirty="0"/>
              <a:t>RB-DELETE(T, z)</a:t>
            </a:r>
          </a:p>
          <a:p>
            <a:pPr marL="0" indent="0">
              <a:buNone/>
            </a:pPr>
            <a:r>
              <a:rPr lang="ro-RO" sz="1400" dirty="0"/>
              <a:t>1. y = z</a:t>
            </a:r>
          </a:p>
          <a:p>
            <a:pPr marL="0" indent="0">
              <a:buNone/>
            </a:pPr>
            <a:r>
              <a:rPr lang="ro-RO" sz="1400" dirty="0"/>
              <a:t>2. y-original-color = y.color</a:t>
            </a:r>
          </a:p>
          <a:p>
            <a:pPr marL="0" indent="0">
              <a:buNone/>
            </a:pPr>
            <a:r>
              <a:rPr lang="ro-RO" sz="1400" dirty="0"/>
              <a:t>3. If z.left == T.nil</a:t>
            </a:r>
          </a:p>
          <a:p>
            <a:pPr marL="0" indent="0">
              <a:buNone/>
            </a:pPr>
            <a:r>
              <a:rPr lang="ro-RO" sz="1400" dirty="0"/>
              <a:t>4.	x = z.right</a:t>
            </a:r>
          </a:p>
          <a:p>
            <a:pPr marL="0" indent="0">
              <a:buNone/>
            </a:pPr>
            <a:r>
              <a:rPr lang="ro-RO" sz="1400" dirty="0"/>
              <a:t>5.	RB-TRANSPLANT(T, z, z.right)</a:t>
            </a:r>
          </a:p>
          <a:p>
            <a:pPr marL="0" indent="0">
              <a:buNone/>
            </a:pPr>
            <a:r>
              <a:rPr lang="ro-RO" sz="1400" dirty="0"/>
              <a:t>6. Elseif z.right == T.nil</a:t>
            </a:r>
          </a:p>
          <a:p>
            <a:pPr marL="0" indent="0">
              <a:buNone/>
            </a:pPr>
            <a:r>
              <a:rPr lang="ro-RO" sz="1400" dirty="0"/>
              <a:t>7.	x = z.left</a:t>
            </a:r>
          </a:p>
          <a:p>
            <a:pPr marL="0" indent="0">
              <a:buNone/>
            </a:pPr>
            <a:r>
              <a:rPr lang="ro-RO" sz="1400" dirty="0"/>
              <a:t>8.	RB-TRANSPLANT(T, z, z.left)</a:t>
            </a:r>
          </a:p>
          <a:p>
            <a:pPr marL="0" indent="0">
              <a:buNone/>
            </a:pPr>
            <a:r>
              <a:rPr lang="ro-RO" sz="1400" dirty="0"/>
              <a:t>9. Else y = TREE-MINIMUM(z.right)</a:t>
            </a:r>
          </a:p>
          <a:p>
            <a:pPr marL="0" indent="0">
              <a:buNone/>
            </a:pPr>
            <a:r>
              <a:rPr lang="ro-RO" sz="1400" dirty="0"/>
              <a:t>10.	y-original-color = y.color</a:t>
            </a:r>
          </a:p>
          <a:p>
            <a:pPr marL="0" indent="0">
              <a:buNone/>
            </a:pPr>
            <a:r>
              <a:rPr lang="ro-RO" sz="1400" dirty="0"/>
              <a:t>11.	x = y.right</a:t>
            </a:r>
          </a:p>
          <a:p>
            <a:pPr marL="0" indent="0">
              <a:buNone/>
            </a:pPr>
            <a:r>
              <a:rPr lang="ro-RO" sz="1400" dirty="0"/>
              <a:t>12.	If y.p == z</a:t>
            </a:r>
          </a:p>
          <a:p>
            <a:pPr marL="0" indent="0">
              <a:buNone/>
            </a:pPr>
            <a:r>
              <a:rPr lang="ro-RO" sz="1400" dirty="0"/>
              <a:t>13.		x.p = y</a:t>
            </a:r>
          </a:p>
          <a:p>
            <a:pPr marL="0" indent="0">
              <a:buNone/>
            </a:pPr>
            <a:r>
              <a:rPr lang="ro-RO" sz="1400" dirty="0"/>
              <a:t>14.	Else 	RB-TRANSPLANT(T, y, y.right)</a:t>
            </a:r>
          </a:p>
          <a:p>
            <a:pPr marL="0" indent="0">
              <a:buNone/>
            </a:pPr>
            <a:r>
              <a:rPr lang="ro-RO" sz="1400" dirty="0"/>
              <a:t>15.		y.right = z.right</a:t>
            </a:r>
          </a:p>
          <a:p>
            <a:pPr marL="0" indent="0">
              <a:buNone/>
            </a:pPr>
            <a:r>
              <a:rPr lang="ro-RO" sz="1400" dirty="0"/>
              <a:t>16.		y.right.p = y</a:t>
            </a:r>
          </a:p>
          <a:p>
            <a:pPr marL="0" indent="0">
              <a:buNone/>
            </a:pPr>
            <a:r>
              <a:rPr lang="ro-RO" sz="1400" dirty="0"/>
              <a:t>17.	RB-TRANSPLANT(T, z, y)</a:t>
            </a:r>
          </a:p>
          <a:p>
            <a:pPr marL="0" indent="0">
              <a:buNone/>
            </a:pPr>
            <a:r>
              <a:rPr lang="ro-RO" sz="1400" dirty="0"/>
              <a:t>18.	y.left = z.left</a:t>
            </a:r>
          </a:p>
          <a:p>
            <a:pPr marL="0" indent="0">
              <a:buNone/>
            </a:pPr>
            <a:r>
              <a:rPr lang="ro-RO" sz="1400" dirty="0"/>
              <a:t>19.	y.left.p = y</a:t>
            </a:r>
          </a:p>
          <a:p>
            <a:pPr marL="0" indent="0">
              <a:buNone/>
            </a:pPr>
            <a:r>
              <a:rPr lang="ro-RO" sz="1400" dirty="0"/>
              <a:t>20. 	y.color = z.color</a:t>
            </a:r>
          </a:p>
          <a:p>
            <a:pPr marL="0" indent="0">
              <a:buNone/>
            </a:pPr>
            <a:r>
              <a:rPr lang="ro-RO" sz="1400" dirty="0"/>
              <a:t>21. If y-original-color == BLACK</a:t>
            </a:r>
          </a:p>
          <a:p>
            <a:pPr marL="0" indent="0">
              <a:buNone/>
            </a:pPr>
            <a:r>
              <a:rPr lang="ro-RO" sz="1400" dirty="0"/>
              <a:t>	RB-DELETE-FIXUP(T,x)</a:t>
            </a:r>
          </a:p>
          <a:p>
            <a:pPr marL="0" indent="0">
              <a:buNone/>
            </a:pPr>
            <a:endParaRPr lang="ro-RO" sz="1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- 7 Noiembrie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0" y="533400"/>
            <a:ext cx="42672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indent="0">
              <a:buNone/>
            </a:pPr>
            <a:r>
              <a:rPr lang="ro-RO" sz="1600" dirty="0"/>
              <a:t>TREE-DELETE(T, z)</a:t>
            </a:r>
          </a:p>
          <a:p>
            <a:pPr marL="57150" indent="0">
              <a:buNone/>
            </a:pPr>
            <a:r>
              <a:rPr lang="ro-RO" sz="1600" dirty="0"/>
              <a:t>1. </a:t>
            </a:r>
            <a:r>
              <a:rPr lang="ro-RO" sz="1600" dirty="0" err="1"/>
              <a:t>If</a:t>
            </a:r>
            <a:r>
              <a:rPr lang="ro-RO" sz="1600" dirty="0"/>
              <a:t> </a:t>
            </a:r>
            <a:r>
              <a:rPr lang="ro-RO" sz="1600" dirty="0" err="1"/>
              <a:t>z.left</a:t>
            </a:r>
            <a:r>
              <a:rPr lang="ro-RO" sz="1600" dirty="0"/>
              <a:t> == Nil</a:t>
            </a:r>
          </a:p>
          <a:p>
            <a:pPr marL="57150" indent="0">
              <a:buNone/>
            </a:pPr>
            <a:r>
              <a:rPr lang="ro-RO" sz="1600" dirty="0"/>
              <a:t>2.	TRANSPLANT(T, z, </a:t>
            </a:r>
            <a:r>
              <a:rPr lang="ro-RO" sz="1600" dirty="0" err="1"/>
              <a:t>z.right</a:t>
            </a:r>
            <a:r>
              <a:rPr lang="ro-RO" sz="1600" dirty="0"/>
              <a:t>)</a:t>
            </a:r>
          </a:p>
          <a:p>
            <a:pPr marL="57150" indent="0">
              <a:buNone/>
            </a:pPr>
            <a:r>
              <a:rPr lang="ro-RO" sz="1600" dirty="0"/>
              <a:t>3. </a:t>
            </a:r>
            <a:r>
              <a:rPr lang="ro-RO" sz="1600" dirty="0" err="1"/>
              <a:t>Elseif</a:t>
            </a:r>
            <a:r>
              <a:rPr lang="ro-RO" sz="1600" dirty="0"/>
              <a:t> </a:t>
            </a:r>
            <a:r>
              <a:rPr lang="ro-RO" sz="1600" dirty="0" err="1"/>
              <a:t>z.right</a:t>
            </a:r>
            <a:r>
              <a:rPr lang="ro-RO" sz="1600" dirty="0"/>
              <a:t> == Nil</a:t>
            </a:r>
          </a:p>
          <a:p>
            <a:pPr marL="57150" indent="0">
              <a:buNone/>
            </a:pPr>
            <a:r>
              <a:rPr lang="ro-RO" sz="1600" dirty="0"/>
              <a:t>4.	TRANSPLANT(T, z, </a:t>
            </a:r>
            <a:r>
              <a:rPr lang="ro-RO" sz="1600" dirty="0" err="1"/>
              <a:t>z.left</a:t>
            </a:r>
            <a:r>
              <a:rPr lang="ro-RO" sz="1600" dirty="0"/>
              <a:t>)</a:t>
            </a:r>
          </a:p>
          <a:p>
            <a:pPr marL="57150" indent="0">
              <a:buNone/>
            </a:pPr>
            <a:r>
              <a:rPr lang="ro-RO" sz="1600" dirty="0"/>
              <a:t>5. </a:t>
            </a:r>
            <a:r>
              <a:rPr lang="ro-RO" sz="1600" dirty="0" err="1"/>
              <a:t>Else</a:t>
            </a:r>
            <a:r>
              <a:rPr lang="ro-RO" sz="1600" dirty="0"/>
              <a:t>	y = TREE-MINIMUM(</a:t>
            </a:r>
            <a:r>
              <a:rPr lang="ro-RO" sz="1600" dirty="0" err="1"/>
              <a:t>z.right</a:t>
            </a:r>
            <a:r>
              <a:rPr lang="ro-RO" sz="1600" dirty="0"/>
              <a:t>)</a:t>
            </a:r>
          </a:p>
          <a:p>
            <a:pPr marL="57150" indent="0">
              <a:buNone/>
            </a:pPr>
            <a:r>
              <a:rPr lang="ro-RO" sz="1600" dirty="0"/>
              <a:t>6.	</a:t>
            </a:r>
            <a:r>
              <a:rPr lang="ro-RO" sz="1600" dirty="0" err="1"/>
              <a:t>If</a:t>
            </a:r>
            <a:r>
              <a:rPr lang="ro-RO" sz="1600" dirty="0"/>
              <a:t> </a:t>
            </a:r>
            <a:r>
              <a:rPr lang="ro-RO" sz="1600" dirty="0" err="1"/>
              <a:t>y.p</a:t>
            </a:r>
            <a:r>
              <a:rPr lang="ro-RO" sz="1600" dirty="0"/>
              <a:t> != z</a:t>
            </a:r>
          </a:p>
          <a:p>
            <a:pPr marL="57150" indent="0">
              <a:buNone/>
            </a:pPr>
            <a:r>
              <a:rPr lang="ro-RO" sz="1600" dirty="0"/>
              <a:t>7.	</a:t>
            </a:r>
            <a:r>
              <a:rPr lang="en-US" sz="1600" dirty="0"/>
              <a:t>        </a:t>
            </a:r>
            <a:r>
              <a:rPr lang="ro-RO" sz="1600" dirty="0"/>
              <a:t>TRANSPLANT(T, y, </a:t>
            </a:r>
            <a:r>
              <a:rPr lang="ro-RO" sz="1600" dirty="0" err="1"/>
              <a:t>y.right</a:t>
            </a:r>
            <a:r>
              <a:rPr lang="ro-RO" sz="1600" dirty="0"/>
              <a:t>)</a:t>
            </a:r>
          </a:p>
          <a:p>
            <a:pPr marL="57150" indent="0">
              <a:buNone/>
            </a:pPr>
            <a:r>
              <a:rPr lang="ro-RO" sz="1600" dirty="0"/>
              <a:t>8.	</a:t>
            </a:r>
            <a:r>
              <a:rPr lang="en-US" sz="1600" dirty="0"/>
              <a:t>        </a:t>
            </a:r>
            <a:r>
              <a:rPr lang="ro-RO" sz="1600" dirty="0" err="1"/>
              <a:t>y.right</a:t>
            </a:r>
            <a:r>
              <a:rPr lang="ro-RO" sz="1600" dirty="0"/>
              <a:t> = </a:t>
            </a:r>
            <a:r>
              <a:rPr lang="ro-RO" sz="1600" dirty="0" err="1"/>
              <a:t>z.right</a:t>
            </a:r>
            <a:endParaRPr lang="ro-RO" sz="1600" dirty="0"/>
          </a:p>
          <a:p>
            <a:pPr marL="57150" indent="0">
              <a:buNone/>
            </a:pPr>
            <a:r>
              <a:rPr lang="ro-RO" sz="1600" dirty="0"/>
              <a:t>9.	</a:t>
            </a:r>
            <a:r>
              <a:rPr lang="en-US" sz="1600" dirty="0"/>
              <a:t>        </a:t>
            </a:r>
            <a:r>
              <a:rPr lang="ro-RO" sz="1600" dirty="0" err="1"/>
              <a:t>y.right.p</a:t>
            </a:r>
            <a:r>
              <a:rPr lang="ro-RO" sz="1600" dirty="0"/>
              <a:t> = y</a:t>
            </a:r>
          </a:p>
          <a:p>
            <a:pPr marL="57150" indent="0">
              <a:buNone/>
            </a:pPr>
            <a:r>
              <a:rPr lang="ro-RO" sz="1600" dirty="0"/>
              <a:t>10.	TRANSPLANT(T, z, y)</a:t>
            </a:r>
          </a:p>
          <a:p>
            <a:pPr marL="57150" indent="0">
              <a:buNone/>
            </a:pPr>
            <a:r>
              <a:rPr lang="ro-RO" sz="1600" dirty="0"/>
              <a:t>11.	</a:t>
            </a:r>
            <a:r>
              <a:rPr lang="ro-RO" sz="1600" dirty="0" err="1"/>
              <a:t>y.left</a:t>
            </a:r>
            <a:r>
              <a:rPr lang="ro-RO" sz="1600" dirty="0"/>
              <a:t> = </a:t>
            </a:r>
            <a:r>
              <a:rPr lang="ro-RO" sz="1600" dirty="0" err="1"/>
              <a:t>z.left</a:t>
            </a:r>
            <a:endParaRPr lang="ro-RO" sz="1600" dirty="0"/>
          </a:p>
          <a:p>
            <a:pPr marL="57150" indent="0">
              <a:buNone/>
            </a:pPr>
            <a:r>
              <a:rPr lang="ro-RO" sz="1600" dirty="0"/>
              <a:t>12.	</a:t>
            </a:r>
            <a:r>
              <a:rPr lang="ro-RO" sz="1600" dirty="0" err="1"/>
              <a:t>y.left.p</a:t>
            </a:r>
            <a:r>
              <a:rPr lang="ro-RO" sz="1600" dirty="0"/>
              <a:t> = y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42254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8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8459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05352"/>
            <a:ext cx="8199437" cy="6371648"/>
          </a:xfrm>
        </p:spPr>
        <p:txBody>
          <a:bodyPr/>
          <a:lstStyle/>
          <a:p>
            <a:r>
              <a:rPr lang="ro-RO" sz="1600" dirty="0"/>
              <a:t>RB-DELETE-FIXUP(T, x)</a:t>
            </a:r>
          </a:p>
          <a:p>
            <a:pPr marL="0" indent="0">
              <a:buNone/>
            </a:pPr>
            <a:r>
              <a:rPr lang="ro-RO" sz="1400" dirty="0"/>
              <a:t>1. While x != T.root and x.color == BLACK</a:t>
            </a:r>
          </a:p>
          <a:p>
            <a:pPr marL="0" indent="0">
              <a:buNone/>
            </a:pPr>
            <a:r>
              <a:rPr lang="ro-RO" sz="1400" dirty="0"/>
              <a:t>2. 	If x == x.p.left</a:t>
            </a:r>
          </a:p>
          <a:p>
            <a:pPr marL="0" indent="0">
              <a:buNone/>
            </a:pPr>
            <a:r>
              <a:rPr lang="ro-RO" sz="1400" dirty="0"/>
              <a:t>3.		w = x.p.right</a:t>
            </a:r>
          </a:p>
          <a:p>
            <a:pPr marL="0" indent="0">
              <a:buNone/>
            </a:pPr>
            <a:r>
              <a:rPr lang="ro-RO" sz="1400" dirty="0"/>
              <a:t>4.		If w.color == RED</a:t>
            </a:r>
          </a:p>
          <a:p>
            <a:pPr marL="0" indent="0">
              <a:buNone/>
            </a:pPr>
            <a:r>
              <a:rPr lang="ro-RO" sz="1400" dirty="0"/>
              <a:t>5.			w.color = BLACK  //caz1</a:t>
            </a:r>
          </a:p>
          <a:p>
            <a:pPr marL="0" indent="0">
              <a:buNone/>
            </a:pPr>
            <a:r>
              <a:rPr lang="ro-RO" sz="1400" dirty="0"/>
              <a:t>6.			x.p.color = RED</a:t>
            </a:r>
          </a:p>
          <a:p>
            <a:pPr marL="0" indent="0">
              <a:buNone/>
            </a:pPr>
            <a:r>
              <a:rPr lang="ro-RO" sz="1400" dirty="0"/>
              <a:t>7.			LEFT-ROTATE(T, x.p)</a:t>
            </a:r>
          </a:p>
          <a:p>
            <a:pPr marL="0" indent="0">
              <a:buNone/>
            </a:pPr>
            <a:r>
              <a:rPr lang="ro-RO" sz="1400" dirty="0"/>
              <a:t>8.			w = x.p.right</a:t>
            </a:r>
          </a:p>
          <a:p>
            <a:pPr marL="0" indent="0">
              <a:buNone/>
            </a:pPr>
            <a:r>
              <a:rPr lang="ro-RO" sz="1400" dirty="0"/>
              <a:t>9.		If w.left.color == BLACK and w.right.color == BLACK</a:t>
            </a:r>
          </a:p>
          <a:p>
            <a:pPr marL="0" indent="0">
              <a:buNone/>
            </a:pPr>
            <a:r>
              <a:rPr lang="ro-RO" sz="1400" dirty="0"/>
              <a:t>10.			w.color = RED  // caz2</a:t>
            </a:r>
          </a:p>
          <a:p>
            <a:pPr marL="0" indent="0">
              <a:buNone/>
            </a:pPr>
            <a:r>
              <a:rPr lang="ro-RO" sz="1400" dirty="0"/>
              <a:t>11.			x = x.p</a:t>
            </a:r>
          </a:p>
          <a:p>
            <a:pPr marL="0" indent="0">
              <a:buNone/>
            </a:pPr>
            <a:r>
              <a:rPr lang="ro-RO" sz="1400" dirty="0"/>
              <a:t>12.		Else if w.right.color == BLACK</a:t>
            </a:r>
          </a:p>
          <a:p>
            <a:pPr marL="0" indent="0">
              <a:buNone/>
            </a:pPr>
            <a:r>
              <a:rPr lang="ro-RO" sz="1400" dirty="0"/>
              <a:t>13.			w.left.color = BLACK // caz3</a:t>
            </a:r>
          </a:p>
          <a:p>
            <a:pPr marL="0" indent="0">
              <a:buNone/>
            </a:pPr>
            <a:r>
              <a:rPr lang="ro-RO" sz="1400" dirty="0"/>
              <a:t>14.			w.color = RED</a:t>
            </a:r>
          </a:p>
          <a:p>
            <a:pPr marL="0" indent="0">
              <a:buNone/>
            </a:pPr>
            <a:r>
              <a:rPr lang="ro-RO" sz="1400" dirty="0"/>
              <a:t>15.			RIGHT-ROTATE(T, w)</a:t>
            </a:r>
          </a:p>
          <a:p>
            <a:pPr marL="0" indent="0">
              <a:buNone/>
            </a:pPr>
            <a:r>
              <a:rPr lang="ro-RO" sz="1400" dirty="0"/>
              <a:t>16.			w = x.p.right</a:t>
            </a:r>
          </a:p>
          <a:p>
            <a:pPr marL="0" indent="0">
              <a:buNone/>
            </a:pPr>
            <a:r>
              <a:rPr lang="ro-RO" sz="1400" dirty="0"/>
              <a:t>17.		      w.color = x.p.color  // caz4</a:t>
            </a:r>
          </a:p>
          <a:p>
            <a:pPr marL="0" indent="0">
              <a:buNone/>
            </a:pPr>
            <a:r>
              <a:rPr lang="ro-RO" sz="1400" dirty="0"/>
              <a:t>18.		      x.p.color = BLACK</a:t>
            </a:r>
          </a:p>
          <a:p>
            <a:pPr marL="0" indent="0">
              <a:buNone/>
            </a:pPr>
            <a:r>
              <a:rPr lang="ro-RO" sz="1400" dirty="0"/>
              <a:t>19.		      w.right.color = BLACK</a:t>
            </a:r>
          </a:p>
          <a:p>
            <a:pPr marL="0" indent="0">
              <a:buNone/>
            </a:pPr>
            <a:r>
              <a:rPr lang="ro-RO" sz="1400" dirty="0"/>
              <a:t>20.		      LEFT-ROTATE(T, x.p)</a:t>
            </a:r>
          </a:p>
          <a:p>
            <a:pPr marL="0" indent="0">
              <a:buNone/>
            </a:pPr>
            <a:r>
              <a:rPr lang="ro-RO" sz="1400" dirty="0"/>
              <a:t>21.		      X = T.root</a:t>
            </a:r>
          </a:p>
          <a:p>
            <a:pPr marL="0" indent="0">
              <a:buNone/>
            </a:pPr>
            <a:r>
              <a:rPr lang="ro-RO" sz="1400" dirty="0"/>
              <a:t>22.	Else la fel ca si clauza then, cu right si left interschimbate intre ele</a:t>
            </a:r>
          </a:p>
          <a:p>
            <a:pPr marL="0" indent="0">
              <a:buNone/>
            </a:pPr>
            <a:r>
              <a:rPr lang="ro-RO" sz="1400" dirty="0"/>
              <a:t>23. x.color = BLACK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- 7 Noiembrie 2022</a:t>
            </a:r>
          </a:p>
        </p:txBody>
      </p:sp>
    </p:spTree>
    <p:extLst>
      <p:ext uri="{BB962C8B-B14F-4D97-AF65-F5344CB8AC3E}">
        <p14:creationId xmlns:p14="http://schemas.microsoft.com/office/powerpoint/2010/main" val="1902693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- 7 Noiembrie 2022</a:t>
            </a:r>
          </a:p>
        </p:txBody>
      </p:sp>
      <p:sp>
        <p:nvSpPr>
          <p:cNvPr id="1031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32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72" name="Text Box 16"/>
          <p:cNvSpPr txBox="1">
            <a:spLocks noChangeArrowheads="1"/>
          </p:cNvSpPr>
          <p:nvPr/>
        </p:nvSpPr>
        <p:spPr bwMode="auto">
          <a:xfrm>
            <a:off x="46038" y="206375"/>
            <a:ext cx="6397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7772400" cy="6510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0937437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3239</TotalTime>
  <Words>1660</Words>
  <Application>Microsoft Office PowerPoint</Application>
  <PresentationFormat>On-screen Show (4:3)</PresentationFormat>
  <Paragraphs>175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Cambria Math</vt:lpstr>
      <vt:lpstr>Tahoma</vt:lpstr>
      <vt:lpstr>Times New Roman</vt:lpstr>
      <vt:lpstr>Wingdings</vt:lpstr>
      <vt:lpstr>Blueprint</vt:lpstr>
      <vt:lpstr>Algoritmi și structuri de date – curs 4    - Informatică Economică, an II –</vt:lpstr>
      <vt:lpstr>Cuprins</vt:lpstr>
      <vt:lpstr>Arbore rosu si negru. Definire, proprietăți</vt:lpstr>
      <vt:lpstr>PowerPoint Presentation</vt:lpstr>
      <vt:lpstr>Proprietăți</vt:lpstr>
      <vt:lpstr>PowerPoint Presentation</vt:lpstr>
      <vt:lpstr>PowerPoint Presentation</vt:lpstr>
      <vt:lpstr>Inserare</vt:lpstr>
      <vt:lpstr>PowerPoint Presentation</vt:lpstr>
      <vt:lpstr>PowerPoint Presentation</vt:lpstr>
      <vt:lpstr>Caz 1 la insert (linia 5)</vt:lpstr>
      <vt:lpstr>Caz 2 si caz 3 la insert </vt:lpstr>
      <vt:lpstr>Stergerea unui nod 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GHEORGHE-COSMIN SILAGHI</cp:lastModifiedBy>
  <cp:revision>223</cp:revision>
  <dcterms:created xsi:type="dcterms:W3CDTF">2004-11-24T18:35:22Z</dcterms:created>
  <dcterms:modified xsi:type="dcterms:W3CDTF">2022-11-07T04:30:05Z</dcterms:modified>
</cp:coreProperties>
</file>