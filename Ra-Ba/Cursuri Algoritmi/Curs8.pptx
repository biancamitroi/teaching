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50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- 7 Decembrie 2020</a:t>
            </a:r>
            <a:endParaRPr lang="en-GB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</a:t>
            </a:r>
            <a:r>
              <a:rPr lang="en-US" sz="3200" dirty="0" smtClean="0"/>
              <a:t>8</a:t>
            </a:r>
            <a:r>
              <a:rPr lang="en-US" sz="3600" dirty="0" smtClean="0"/>
              <a:t>  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76300" y="3124200"/>
            <a:ext cx="4876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Metode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 smtClean="0">
                <a:solidFill>
                  <a:schemeClr val="tx2"/>
                </a:solidFill>
              </a:rPr>
              <a:t>programare</a:t>
            </a:r>
            <a:r>
              <a:rPr lang="en-US" sz="2000" dirty="0" smtClean="0">
                <a:solidFill>
                  <a:schemeClr val="tx2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- Greedy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- 7 Decembrie 2020</a:t>
            </a:r>
            <a:endParaRPr lang="en-GB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eaLnBrk="1" hangingPunct="1"/>
            <a:r>
              <a:rPr lang="ro-RO" sz="3200"/>
              <a:t>Cuprins</a:t>
            </a:r>
            <a:endParaRPr lang="en-GB" sz="3200"/>
          </a:p>
        </p:txBody>
      </p:sp>
      <p:sp>
        <p:nvSpPr>
          <p:cNvPr id="71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924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Greedy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Backtracking</a:t>
            </a:r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lvl="1" eaLnBrk="1" hangingPunct="1">
              <a:lnSpc>
                <a:spcPct val="90000"/>
              </a:lnSpc>
            </a:pPr>
            <a:endParaRPr lang="ro-RO" sz="16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Greedy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r>
              <a:rPr lang="en-US" sz="1800" dirty="0"/>
              <a:t>Greedy </a:t>
            </a:r>
            <a:r>
              <a:rPr lang="en-US" sz="1800" dirty="0" err="1"/>
              <a:t>intotdeauna</a:t>
            </a:r>
            <a:r>
              <a:rPr lang="en-US" sz="1800" dirty="0"/>
              <a:t> face</a:t>
            </a:r>
            <a:r>
              <a:rPr lang="ro-RO" sz="1800" dirty="0"/>
              <a:t> alegerea care pare cea mai bună în fiecare moment, in speranța că această alegere va conduce la soluția optimă</a:t>
            </a:r>
          </a:p>
          <a:p>
            <a:r>
              <a:rPr lang="ro-RO" sz="1800" dirty="0"/>
              <a:t>Greedy nu conduce induce la alegerea optimală</a:t>
            </a:r>
          </a:p>
          <a:p>
            <a:endParaRPr lang="ro-RO" sz="1800" dirty="0"/>
          </a:p>
          <a:p>
            <a:r>
              <a:rPr lang="ro-RO" sz="1800" dirty="0"/>
              <a:t>Pentru o problemă de optimizare, in primul rând trebuie să cautăm soluția prin prograre dinamică si abia apoi soluția greedy</a:t>
            </a:r>
          </a:p>
          <a:p>
            <a:endParaRPr lang="ro-RO" sz="1800" dirty="0"/>
          </a:p>
          <a:p>
            <a:endParaRPr lang="ro-RO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64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Problema selecției activităților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724400"/>
              </a:xfrm>
            </p:spPr>
            <p:txBody>
              <a:bodyPr/>
              <a:lstStyle/>
              <a:p>
                <a:r>
                  <a:rPr lang="ro-RO" sz="1800" dirty="0"/>
                  <a:t>Se pune problema planificării unor activități care necesită utilizarea unei resurse comune </a:t>
                </a:r>
              </a:p>
              <a:p>
                <a:r>
                  <a:rPr lang="ro-RO" sz="1800" b="1" dirty="0"/>
                  <a:t>Input:</a:t>
                </a:r>
                <a:r>
                  <a:rPr lang="ro-RO" sz="1800" dirty="0"/>
                  <a:t> o mulțime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𝑆</m:t>
                    </m:r>
                    <m:r>
                      <a:rPr lang="ro-RO" sz="1800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de </a:t>
                </a:r>
                <a:r>
                  <a:rPr lang="en-US" sz="1800" dirty="0" err="1"/>
                  <a:t>activit</a:t>
                </a:r>
                <a:r>
                  <a:rPr lang="ro-RO" sz="1800" dirty="0"/>
                  <a:t>ăți care necesită o resursă ce poate fi utilizată doar de o activitate la un moment dat</a:t>
                </a:r>
              </a:p>
              <a:p>
                <a:r>
                  <a:rPr lang="ro-RO" sz="1800" dirty="0"/>
                  <a:t>Fiecare activitate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are un moment de 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și un moment de terminare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, cu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0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ro-RO" sz="1800" b="0" i="1" smtClean="0">
                        <a:latin typeface="Cambria Math"/>
                        <a:ea typeface="Cambria Math"/>
                      </a:rPr>
                      <m:t>&lt;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ro-RO" sz="1800" b="0" i="1" smtClean="0">
                        <a:latin typeface="Cambria Math"/>
                        <a:ea typeface="Cambria Math"/>
                      </a:rPr>
                      <m:t>&lt;∞</m:t>
                    </m:r>
                  </m:oMath>
                </a14:m>
                <a:r>
                  <a:rPr lang="ro-RO" sz="1800" dirty="0"/>
                  <a:t>. O activitate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are loc în intervalul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Dou</a:t>
                </a:r>
                <a:r>
                  <a:rPr lang="ro-RO" sz="1800" dirty="0"/>
                  <a:t>ă activități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sunt compatibile dacă intervalele lor nu se suprapun</a:t>
                </a:r>
              </a:p>
              <a:p>
                <a:r>
                  <a:rPr lang="ro-RO" sz="1800" b="1" dirty="0"/>
                  <a:t>Output:</a:t>
                </a:r>
                <a:r>
                  <a:rPr lang="ro-RO" sz="1800" dirty="0"/>
                  <a:t> dorim să selectăm subsetul maximal de activități compatibile  </a:t>
                </a:r>
              </a:p>
              <a:p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Exemplu</a:t>
                </a:r>
              </a:p>
              <a:p>
                <a:r>
                  <a:rPr lang="ro-RO" sz="1800" dirty="0"/>
                  <a:t>Considerăm activitățile ordonate astfel încât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80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…≤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ro-RO" sz="1800" b="0" dirty="0">
                  <a:ea typeface="Cambria Math"/>
                </a:endParaRP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 </a:t>
                </a:r>
              </a:p>
              <a:p>
                <a:endParaRPr lang="en-US" sz="1800" dirty="0"/>
              </a:p>
              <a:p>
                <a:endParaRPr lang="ro-RO" sz="1800" dirty="0"/>
              </a:p>
              <a:p>
                <a:r>
                  <a:rPr lang="ro-RO" sz="1800" dirty="0"/>
                  <a:t>Subsetul maximal de activități compatibile este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9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}</m:t>
                    </m:r>
                  </m:oMath>
                </a14:m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724400"/>
              </a:xfrm>
              <a:blipFill rotWithShape="1">
                <a:blip r:embed="rId2"/>
                <a:stretch>
                  <a:fillRect l="-593" t="-645" b="-1135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2480082"/>
                  </p:ext>
                </p:extLst>
              </p:nvPr>
            </p:nvGraphicFramePr>
            <p:xfrm>
              <a:off x="990600" y="5105400"/>
              <a:ext cx="6096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8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8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0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10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00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  <a:endParaRPr lang="ro-R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  <a:endParaRPr lang="ro-R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2480082"/>
                  </p:ext>
                </p:extLst>
              </p:nvPr>
            </p:nvGraphicFramePr>
            <p:xfrm>
              <a:off x="990600" y="5105400"/>
              <a:ext cx="6096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  <a:gridCol w="5080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ro-RO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05" t="-110000" r="-110481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ro-RO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05" t="-206557" r="-110481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</a:t>
                          </a:r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</a:t>
                          </a:r>
                          <a:endParaRPr lang="ro-RO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561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R</a:t>
            </a:r>
            <a:r>
              <a:rPr lang="en-US" sz="3200" dirty="0" err="1" smtClean="0"/>
              <a:t>ezolvare</a:t>
            </a:r>
            <a:r>
              <a:rPr lang="en-US" sz="3200" dirty="0" smtClean="0"/>
              <a:t> </a:t>
            </a:r>
            <a:r>
              <a:rPr lang="en-US" sz="3200" dirty="0" err="1" smtClean="0"/>
              <a:t>prin</a:t>
            </a:r>
            <a:r>
              <a:rPr lang="en-US" sz="3200" dirty="0" smtClean="0"/>
              <a:t> PD (I)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5181600"/>
              </a:xfrm>
            </p:spPr>
            <p:txBody>
              <a:bodyPr/>
              <a:lstStyle/>
              <a:p>
                <a:r>
                  <a:rPr lang="ro-RO" sz="1600" dirty="0"/>
                  <a:t>Fie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600" dirty="0"/>
                  <a:t> multimea activităților care încep după finalizarea activității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și încep înainte de începutul activității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ro-RO" sz="1600" dirty="0"/>
              </a:p>
              <a:p>
                <a:r>
                  <a:rPr lang="ro-RO" sz="1600" dirty="0"/>
                  <a:t>Presupunem că subsetul maximal de activități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600" dirty="0"/>
                  <a:t> este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600" dirty="0"/>
                  <a:t> și acesta include o activitate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. </a:t>
                </a:r>
              </a:p>
              <a:p>
                <a:r>
                  <a:rPr lang="ro-RO" sz="1600" dirty="0"/>
                  <a:t>Incluzand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în soluția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600" dirty="0"/>
                  <a:t> , am împărțit problema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600" dirty="0"/>
                  <a:t> în 2 subprobleme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 cărora trebuie să le găsim subsetul maximal de activități</a:t>
                </a:r>
              </a:p>
              <a:p>
                <a:r>
                  <a:rPr lang="ro-RO" sz="1600" dirty="0"/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𝑖𝑘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∩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o-RO" sz="1600" i="1">
                        <a:latin typeface="Cambria Math"/>
                        <a:ea typeface="Cambria Math"/>
                      </a:rPr>
                      <m:t>∩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, atunci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𝑖𝑘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  <a:ea typeface="Cambria Math"/>
                      </a:rPr>
                      <m:t>}∪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𝑘𝑗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5181600"/>
              </a:xfrm>
              <a:blipFill rotWithShape="0">
                <a:blip r:embed="rId2"/>
                <a:stretch>
                  <a:fillRect t="-4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56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/>
              <a:t>Rezolvare</a:t>
            </a:r>
            <a:r>
              <a:rPr lang="en-US" sz="3200" dirty="0" smtClean="0"/>
              <a:t> </a:t>
            </a:r>
            <a:r>
              <a:rPr lang="en-US" sz="3200" dirty="0" err="1" smtClean="0"/>
              <a:t>prin</a:t>
            </a:r>
            <a:r>
              <a:rPr lang="en-US" sz="3200" dirty="0" smtClean="0"/>
              <a:t> PD (II)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800" b="1" dirty="0"/>
                  <a:t>Structura optimală</a:t>
                </a:r>
                <a:r>
                  <a:rPr lang="ro-RO" sz="1800" dirty="0"/>
                  <a:t>: s</a:t>
                </a:r>
                <a:r>
                  <a:rPr lang="en-US" sz="1800" dirty="0" err="1"/>
                  <a:t>ol</a:t>
                </a:r>
                <a:r>
                  <a:rPr lang="ro-RO" sz="1800" dirty="0"/>
                  <a:t>uția optimală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800" dirty="0"/>
                  <a:t> include soluțiile optimale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ro-RO" sz="18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𝑘𝑗</m:t>
                        </m:r>
                      </m:sub>
                    </m:sSub>
                  </m:oMath>
                </a14:m>
                <a:endParaRPr lang="ro-RO" sz="1800" dirty="0"/>
              </a:p>
              <a:p>
                <a:r>
                  <a:rPr lang="ro-RO" sz="1800" dirty="0"/>
                  <a:t>=</a:t>
                </a:r>
                <a:r>
                  <a:rPr lang="en-US" sz="1800" dirty="0"/>
                  <a:t>&gt;</a:t>
                </a:r>
                <a:r>
                  <a:rPr lang="ro-RO" sz="1800" dirty="0"/>
                  <a:t> problema se poate rezolva utilizând programare dinamică</a:t>
                </a:r>
              </a:p>
              <a:p>
                <a:r>
                  <a:rPr lang="ro-RO" sz="1800" dirty="0"/>
                  <a:t>Dacă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𝑖</m:t>
                        </m:r>
                        <m:r>
                          <a:rPr lang="en-US" sz="1800" i="1">
                            <a:latin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este</a:t>
                </a:r>
                <a:r>
                  <a:rPr lang="en-US" sz="1800" dirty="0"/>
                  <a:t> m</a:t>
                </a:r>
                <a:r>
                  <a:rPr lang="ro-RO" sz="1800" dirty="0"/>
                  <a:t>ărimea unei soluții optimale 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800" dirty="0"/>
                  <a:t>, atunci </a:t>
                </a:r>
              </a:p>
              <a:p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𝑖</m:t>
                        </m:r>
                        <m:r>
                          <a:rPr lang="en-US" sz="1800" i="1">
                            <a:latin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en-US" sz="1800" i="1">
                        <a:latin typeface="Cambria Math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𝑖</m:t>
                        </m:r>
                        <m:r>
                          <a:rPr lang="en-US" sz="1800" i="1">
                            <a:latin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+</m:t>
                    </m:r>
                    <m:r>
                      <a:rPr lang="en-US" sz="1800" i="1">
                        <a:latin typeface="Cambria Math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𝑘</m:t>
                        </m:r>
                        <m:r>
                          <a:rPr lang="en-US" sz="1800" i="1">
                            <a:latin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+1</m:t>
                    </m:r>
                  </m:oMath>
                </a14:m>
                <a:endParaRPr lang="en-US" sz="1800" dirty="0"/>
              </a:p>
              <a:p>
                <a:r>
                  <a:rPr lang="en-US" sz="1800" dirty="0" err="1"/>
                  <a:t>Pentru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:r>
                  <a:rPr lang="en-US" sz="1800" dirty="0" err="1"/>
                  <a:t>trebuie</a:t>
                </a:r>
                <a:r>
                  <a:rPr lang="en-US" sz="1800" dirty="0"/>
                  <a:t> s</a:t>
                </a:r>
                <a:r>
                  <a:rPr lang="ro-RO" sz="1800" dirty="0"/>
                  <a:t>ă determinăm aceea activitate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800" dirty="0"/>
                  <a:t> pt care are loc: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𝑖</m:t>
                          </m:r>
                          <m:r>
                            <a:rPr lang="en-US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ro-RO" sz="180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ă </m:t>
                                </m:r>
                                <m:sSub>
                                  <m:sSubPr>
                                    <m:ctrlPr>
                                      <a:rPr lang="ro-RO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ro-RO" sz="1800" i="1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∅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latin typeface="Cambria Math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o-RO" sz="1800" i="1"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ro-RO" sz="1800" i="1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latin typeface="Cambria Math"/>
                                            <a:ea typeface="Cambria Math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o-RO" sz="18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ro-RO" sz="18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{</m:t>
                                    </m:r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+1}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ă </m:t>
                                </m:r>
                                <m:sSub>
                                  <m:sSubPr>
                                    <m:ctrlPr>
                                      <a:rPr lang="ro-RO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≠∅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ro-RO" sz="1800" dirty="0"/>
              </a:p>
              <a:p>
                <a:r>
                  <a:rPr lang="en-US" sz="1800" dirty="0"/>
                  <a:t>Tem</a:t>
                </a:r>
                <a:r>
                  <a:rPr lang="ro-RO" sz="1800" dirty="0"/>
                  <a:t>ă: scrieți algoritmul programare dinamică pentru această problemă</a:t>
                </a: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0">
                <a:blip r:embed="rId2"/>
                <a:stretch>
                  <a:fillRect t="-889" r="-15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59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Alegerea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648200"/>
              </a:xfrm>
            </p:spPr>
            <p:txBody>
              <a:bodyPr/>
              <a:lstStyle/>
              <a:p>
                <a:r>
                  <a:rPr lang="ro-RO" sz="1600" dirty="0"/>
                  <a:t>Se pune problema dacă putem face o asemenea alegere pe care să o adăugăm la soluție fără să rezolvăm subproblemele?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Intuitiv, alegerea greedy este accea activitate care lasă resursele disponibile pentru cât de multe activități posibile, deci să alegem activitatea cu cel mai devreme moment de terminare</a:t>
                </a:r>
              </a:p>
              <a:p>
                <a:r>
                  <a:rPr lang="ro-RO" sz="1600" dirty="0"/>
                  <a:t>Făcând o alegere greedy, ne rămâne doar o subproblemă de rezolvat</a:t>
                </a:r>
              </a:p>
              <a:p>
                <a:r>
                  <a:rPr lang="ro-RO" sz="1600" dirty="0"/>
                  <a:t>Alegerea greedy: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600" dirty="0"/>
                  <a:t>, apoi rămâne să determinăm doar activitățile compatibile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ro-RO" sz="1600" dirty="0"/>
              </a:p>
              <a:p>
                <a:endParaRPr lang="ro-RO" sz="1600" dirty="0"/>
              </a:p>
              <a:p>
                <a:r>
                  <a:rPr lang="ro-RO" sz="1600" dirty="0"/>
                  <a:t>Condiția structurii optimale ne spune că dacă alegerea greedy este optimală, atunci si rezultatul optim al problemei se compune din alegerea greedy si rezultatul optimal al subproblemei rămase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Notăm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𝑆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𝑎𝑠𝑡𝑓𝑒𝑙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 î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𝑛𝑐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â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≥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ro-RO" sz="1600" b="0" dirty="0"/>
              </a:p>
              <a:p>
                <a:pPr marL="0" indent="0">
                  <a:buNone/>
                </a:pPr>
                <a:r>
                  <a:rPr lang="ro-RO" sz="1600" b="1" dirty="0"/>
                  <a:t>Teoremă:</a:t>
                </a:r>
                <a:r>
                  <a:rPr lang="ro-RO" sz="1600" dirty="0"/>
                  <a:t> dacă avem subproblema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si fie activitatea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o-RO" sz="1600" dirty="0"/>
                  <a:t> care se termină cel mai rapid, atunci aceasta face parte din solutia optimă a problemei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648200"/>
              </a:xfrm>
              <a:blipFill>
                <a:blip r:embed="rId2"/>
                <a:stretch>
                  <a:fillRect l="-370" t="-393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75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Solutia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600" dirty="0"/>
                  <a:t>Alegem activitatea care se termină prima</a:t>
                </a:r>
              </a:p>
              <a:p>
                <a:r>
                  <a:rPr lang="ro-RO" sz="1600" dirty="0"/>
                  <a:t>Alegem activitățile compatibile cu aceasta  si repetăm, până cand nu mai rămân alte activități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Algoritmii greedy sunt top-down: facem o alegere, o adăugăm la soluție, apoi rezolvăm o subproblemă similară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Se consideră activitatea fictivă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1600" dirty="0"/>
                  <a:t>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=0</m:t>
                    </m:r>
                  </m:oMath>
                </a14:m>
                <a:endParaRPr lang="ro-RO" sz="1600" dirty="0"/>
              </a:p>
              <a:p>
                <a:r>
                  <a:rPr lang="ro-RO" sz="1600" dirty="0"/>
                  <a:t>Procedura  trebuie apelată ca și RECURSIVE-ACTIVITY-SELECTOR(s,f,0,n)</a:t>
                </a:r>
              </a:p>
              <a:p>
                <a:endParaRPr lang="ro-RO" sz="1800" dirty="0"/>
              </a:p>
              <a:p>
                <a:endParaRPr lang="ro-RO" sz="1800" dirty="0"/>
              </a:p>
              <a:p>
                <a:endParaRPr lang="ro-RO" sz="1800" dirty="0"/>
              </a:p>
              <a:p>
                <a:endParaRPr lang="ro-RO" sz="1800" dirty="0"/>
              </a:p>
              <a:p>
                <a:endParaRPr lang="ro-RO" sz="1800" dirty="0"/>
              </a:p>
              <a:p>
                <a:endParaRPr lang="ro-RO" sz="1800" dirty="0"/>
              </a:p>
              <a:p>
                <a:r>
                  <a:rPr lang="ro-RO" sz="1800" dirty="0"/>
                  <a:t>Timp de execuție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Θ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t="-444" r="-78" b="-2103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pic>
        <p:nvPicPr>
          <p:cNvPr id="1026" name="Picture 2" descr="http://highered.mcgraw-hill.com/sites/dl/free/0070131511/25331/recursive_activity_selecto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67200"/>
            <a:ext cx="5715000" cy="16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65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Solutia iterativă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r>
              <a:rPr lang="ro-RO" sz="1800" dirty="0"/>
              <a:t>Solutia anterioară este recursivă cu recursivitatea la capăt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  <p:pic>
        <p:nvPicPr>
          <p:cNvPr id="2050" name="Picture 2" descr="http://highered.mcgraw-hill.com/sites/dl/free/0070131511/25331/greedy_activity_selecto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91" y="2130136"/>
            <a:ext cx="3962400" cy="266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636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Strategii greedy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pPr marL="0" indent="0">
              <a:buNone/>
            </a:pPr>
            <a:r>
              <a:rPr lang="ro-RO" sz="1800" dirty="0"/>
              <a:t>1. Determinăm structura optimală a problemei</a:t>
            </a:r>
          </a:p>
          <a:p>
            <a:pPr marL="0" indent="0">
              <a:buNone/>
            </a:pPr>
            <a:r>
              <a:rPr lang="ro-RO" sz="1800" dirty="0"/>
              <a:t>2. Dezvoltăm o soluție recursivă pe baza soluției optimale</a:t>
            </a:r>
          </a:p>
          <a:p>
            <a:pPr marL="0" indent="0">
              <a:buNone/>
            </a:pPr>
            <a:r>
              <a:rPr lang="ro-RO" sz="1800" dirty="0"/>
              <a:t>3. Arătăm că dacă se efectuează o alegere greedy, rămâne doar o subproblemă</a:t>
            </a:r>
          </a:p>
          <a:p>
            <a:pPr marL="0" indent="0">
              <a:buNone/>
            </a:pPr>
            <a:r>
              <a:rPr lang="ro-RO" sz="1800" dirty="0"/>
              <a:t>4. Arătăm că alegerea greedy este sigură </a:t>
            </a:r>
          </a:p>
          <a:p>
            <a:pPr marL="0" indent="0">
              <a:buNone/>
            </a:pPr>
            <a:r>
              <a:rPr lang="ro-RO" sz="1800" dirty="0"/>
              <a:t>5. Dezvoltăm un algoritm recursiv pentru rezolvarea problemei greedy</a:t>
            </a:r>
          </a:p>
          <a:p>
            <a:pPr marL="0" indent="0">
              <a:buNone/>
            </a:pPr>
            <a:r>
              <a:rPr lang="ro-RO" sz="1800" dirty="0"/>
              <a:t>6. Convertim algoritmul recursiv intr-unul iterativ</a:t>
            </a:r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r>
              <a:rPr lang="ro-RO" sz="1800" dirty="0"/>
              <a:t>Proprietatea alegerii greedy: alegem alternativa care apare ca si cea mai promitătoare la problema curentă, fără a rezolva subproblemele</a:t>
            </a:r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800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Backtracking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Brute force search: se caută in setul tuturor solutiilor posibile</a:t>
                </a:r>
              </a:p>
              <a:p>
                <a:r>
                  <a:rPr lang="ro-RO" sz="1600" dirty="0"/>
                  <a:t>Backtracking: reprezintă o reformulare a căutării de tip brute force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1. Presupunem că o solutie este formată din vectorul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S</m:t>
                    </m:r>
                    <m:r>
                      <a:rPr lang="ro-RO" sz="1600" b="0" i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. </a:t>
                </a:r>
                <a:r>
                  <a:rPr lang="en-US" sz="1600" dirty="0" err="1"/>
                  <a:t>Prin</a:t>
                </a:r>
                <a:r>
                  <a:rPr lang="en-US" sz="1600" dirty="0"/>
                  <a:t> backtracking </a:t>
                </a:r>
                <a:r>
                  <a:rPr lang="en-US" sz="1600" dirty="0" err="1"/>
                  <a:t>vom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traversa</a:t>
                </a:r>
                <a:r>
                  <a:rPr lang="en-US" sz="1600" dirty="0"/>
                  <a:t> </a:t>
                </a:r>
                <a:r>
                  <a:rPr lang="ro-RO" sz="1600" dirty="0"/>
                  <a:t>în adâncime domeniile vectorilor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până când identificăm o solutie</a:t>
                </a:r>
              </a:p>
              <a:p>
                <a:pPr marL="0" indent="0">
                  <a:buNone/>
                </a:pPr>
                <a:r>
                  <a:rPr lang="ro-RO" sz="1600" dirty="0"/>
                  <a:t>2. Pornim de la solutia vidă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𝑆</m:t>
                    </m:r>
                    <m:r>
                      <a:rPr lang="ro-RO" sz="1600" b="0" i="1" smtClean="0">
                        <a:latin typeface="Cambria Math"/>
                      </a:rPr>
                      <m:t>=∅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3. La pasul pasul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ro-RO" sz="1600" dirty="0"/>
                  <a:t> introducem în soluție o un element din spațiul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de elemente posibile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4. Dacă un vector construit partial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nu poate conduce la o soluție, atunci revenim și realizăm următoarea alegere posibilă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i="1" smtClean="0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5. Dacă toate elementele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s-au epuizat, atunci se revine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Esentiale sunt conditiile de continuare </a:t>
                </a:r>
                <a:r>
                  <a:rPr lang="el-GR" sz="1600" dirty="0"/>
                  <a:t>Φ</a:t>
                </a:r>
                <a:r>
                  <a:rPr lang="ro-RO" sz="1600" dirty="0"/>
                  <a:t> care ne spun dacă un vector parțial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poate conduce la o solutie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 b="-370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77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Backtracking - algoritm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1. k = 1, si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𝑆</m:t>
                    </m:r>
                    <m:r>
                      <a:rPr lang="ro-RO" sz="1600" b="0" i="1" smtClean="0">
                        <a:latin typeface="Cambria Math"/>
                      </a:rPr>
                      <m:t>=∅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2. </a:t>
                </a:r>
                <a:r>
                  <a:rPr lang="en-US" sz="1600" dirty="0"/>
                  <a:t>While k&gt;0</a:t>
                </a:r>
              </a:p>
              <a:p>
                <a:pPr marL="0" indent="0">
                  <a:buNone/>
                </a:pPr>
                <a:r>
                  <a:rPr lang="en-US" sz="1600" dirty="0"/>
                  <a:t>3.	If k&gt;n</a:t>
                </a:r>
              </a:p>
              <a:p>
                <a:pPr marL="0" indent="0">
                  <a:buNone/>
                </a:pPr>
                <a:r>
                  <a:rPr lang="en-US" sz="1600" dirty="0"/>
                  <a:t>4.		Print S   </a:t>
                </a:r>
                <a:r>
                  <a:rPr lang="ro-RO" sz="1600" dirty="0"/>
                  <a:t>// afisează soluția s</a:t>
                </a:r>
              </a:p>
              <a:p>
                <a:pPr marL="0" indent="0">
                  <a:buNone/>
                </a:pPr>
                <a:r>
                  <a:rPr lang="ro-RO" sz="1600" dirty="0"/>
                  <a:t>5.		k = k -1</a:t>
                </a:r>
              </a:p>
              <a:p>
                <a:pPr marL="0" indent="0">
                  <a:buNone/>
                </a:pPr>
                <a:r>
                  <a:rPr lang="ro-RO" sz="1600" dirty="0"/>
                  <a:t>6.	Else </a:t>
                </a:r>
              </a:p>
              <a:p>
                <a:pPr marL="0" indent="0">
                  <a:buNone/>
                </a:pPr>
                <a:r>
                  <a:rPr lang="ro-RO" sz="1600" dirty="0"/>
                  <a:t>7.		If există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neconsiderată până in acest moment</a:t>
                </a:r>
              </a:p>
              <a:p>
                <a:pPr marL="0" indent="0">
                  <a:buNone/>
                </a:pPr>
                <a:r>
                  <a:rPr lang="ro-RO" sz="1600" dirty="0"/>
                  <a:t>8.			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𝑆</m:t>
                    </m:r>
                    <m:r>
                      <a:rPr lang="ro-RO" sz="1600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latin typeface="Cambria Math"/>
                      </a:rPr>
                      <m:t>𝑣</m:t>
                    </m:r>
                    <m:r>
                      <a:rPr lang="en-US" sz="1600" b="0" i="1" smtClean="0">
                        <a:latin typeface="Cambria Math"/>
                      </a:rPr>
                      <m:t>}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9</a:t>
                </a:r>
                <a:r>
                  <a:rPr lang="ro-RO" sz="1600" dirty="0"/>
                  <a:t>.	</a:t>
                </a:r>
                <a:r>
                  <a:rPr lang="en-US" sz="1600" dirty="0"/>
                  <a:t>		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Φ</m:t>
                    </m:r>
                    <m:r>
                      <a:rPr lang="en-US" sz="1600" b="0" i="1" smtClean="0">
                        <a:latin typeface="Cambria Math"/>
                      </a:rPr>
                      <m:t>(</m:t>
                    </m:r>
                    <m:r>
                      <a:rPr lang="en-US" sz="1600" b="0" i="1" smtClean="0">
                        <a:latin typeface="Cambria Math"/>
                      </a:rPr>
                      <m:t>𝑆</m:t>
                    </m:r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adev</a:t>
                </a:r>
                <a:r>
                  <a:rPr lang="ro-RO" sz="1600" dirty="0"/>
                  <a:t>ărate   // testarea conditiilor de continuare</a:t>
                </a:r>
              </a:p>
              <a:p>
                <a:pPr marL="0" indent="0">
                  <a:buNone/>
                </a:pPr>
                <a:r>
                  <a:rPr lang="ro-RO" sz="1600" dirty="0"/>
                  <a:t>10.				k = k +1</a:t>
                </a:r>
              </a:p>
              <a:p>
                <a:pPr marL="0" indent="0">
                  <a:buNone/>
                </a:pPr>
                <a:r>
                  <a:rPr lang="ro-RO" sz="1600" dirty="0"/>
                  <a:t>11.		else k = k-1  // pasul de backtracking 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Algoritmul afisează toate soluțiile posibile, prin backtracking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879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Problema celor 8 dame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876800"/>
              </a:xfrm>
            </p:spPr>
            <p:txBody>
              <a:bodyPr/>
              <a:lstStyle/>
              <a:p>
                <a:r>
                  <a:rPr lang="ro-RO" sz="1600" dirty="0"/>
                  <a:t>Pe o tablă de sah de dimensiune nxn, să se aseze n dame astfel încât oricare 2 din ele să nu se atace. Două dame se atacă una pe cealaltă dacă sunt asezate pe aceași linie, pe aceași coloană sau aceași diagonală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Fie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linia pe care va fi asezată dama pe de coloana i. Atunci, pentru o soluție partială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, </a:t>
                </a:r>
                <a:r>
                  <a:rPr lang="en-US" sz="1600" dirty="0" err="1"/>
                  <a:t>condi</a:t>
                </a:r>
                <a:r>
                  <a:rPr lang="ro-RO" sz="1600" dirty="0"/>
                  <a:t>țiile de continuare </a:t>
                </a:r>
                <a:r>
                  <a:rPr lang="el-GR" sz="1600" dirty="0"/>
                  <a:t>Φ</a:t>
                </a:r>
                <a:r>
                  <a:rPr lang="ro-RO" sz="1600" dirty="0"/>
                  <a:t> includ: </a:t>
                </a:r>
              </a:p>
              <a:p>
                <a:pPr lvl="1"/>
                <a:r>
                  <a:rPr lang="ro-RO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i="1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 pentru </a:t>
                </a:r>
                <a:r>
                  <a:rPr lang="en-US" sz="1600" dirty="0" err="1"/>
                  <a:t>toti</a:t>
                </a:r>
                <a:r>
                  <a:rPr lang="ro-RO" sz="1600" dirty="0"/>
                  <a:t>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1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endParaRPr lang="ro-RO" sz="1600" b="0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|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≠|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r>
                  <a:rPr lang="en-US" sz="1600" dirty="0"/>
                  <a:t>,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toti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1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𝑗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endParaRPr lang="en-US" sz="1600" dirty="0">
                  <a:ea typeface="Cambria Math"/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876800"/>
              </a:xfrm>
              <a:blipFill rotWithShape="1">
                <a:blip r:embed="rId2"/>
                <a:stretch>
                  <a:fillRect t="-37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47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Problema</a:t>
            </a:r>
            <a:r>
              <a:rPr lang="en-US" sz="3200" dirty="0"/>
              <a:t> </a:t>
            </a:r>
            <a:r>
              <a:rPr lang="en-US" sz="3200" dirty="0" err="1"/>
              <a:t>celor</a:t>
            </a:r>
            <a:r>
              <a:rPr lang="en-US" sz="3200" dirty="0"/>
              <a:t> 8 dame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DAME(n)</a:t>
                </a:r>
              </a:p>
              <a:p>
                <a:pPr marL="0" indent="0">
                  <a:buNone/>
                </a:pPr>
                <a:r>
                  <a:rPr lang="en-US" sz="1600" dirty="0"/>
                  <a:t>1. k=1,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𝑆</m:t>
                    </m:r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,…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/>
                      </a:rPr>
                      <m:t>={0,…,0}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2. While k&gt;0</a:t>
                </a:r>
              </a:p>
              <a:p>
                <a:pPr marL="0" indent="0">
                  <a:buNone/>
                </a:pPr>
                <a:r>
                  <a:rPr lang="en-US" sz="1600" dirty="0"/>
                  <a:t>3.	If k &gt; n  </a:t>
                </a:r>
                <a:r>
                  <a:rPr lang="en-US" sz="1600" dirty="0" err="1"/>
                  <a:t>afiseaz</a:t>
                </a:r>
                <a:r>
                  <a:rPr lang="ro-RO" sz="1600" dirty="0"/>
                  <a:t>ă solutia S</a:t>
                </a:r>
              </a:p>
              <a:p>
                <a:pPr marL="0" indent="0">
                  <a:buNone/>
                </a:pPr>
                <a:r>
                  <a:rPr lang="ro-RO" sz="1600" dirty="0"/>
                  <a:t>4.		k = k-1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5.	Else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+1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6.	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:r>
                  <a:rPr lang="en-US" sz="1600" dirty="0"/>
                  <a:t>7.			If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/>
                      </a:rPr>
                      <m:t>Φ</m:t>
                    </m:r>
                    <m:r>
                      <a:rPr lang="en-US" sz="1600" i="1">
                        <a:latin typeface="Cambria Math"/>
                      </a:rPr>
                      <m:t>(</m:t>
                    </m:r>
                    <m:r>
                      <a:rPr lang="en-US" sz="1600" i="1">
                        <a:latin typeface="Cambria Math"/>
                      </a:rPr>
                      <m:t>𝑆</m:t>
                    </m:r>
                    <m:r>
                      <a:rPr lang="en-US" sz="16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 	</a:t>
                </a:r>
              </a:p>
              <a:p>
                <a:pPr marL="0" indent="0">
                  <a:buNone/>
                </a:pPr>
                <a:r>
                  <a:rPr lang="en-US" sz="1600" dirty="0"/>
                  <a:t>8.				K = k +1</a:t>
                </a:r>
              </a:p>
              <a:p>
                <a:pPr marL="0" indent="0">
                  <a:buNone/>
                </a:pPr>
                <a:r>
                  <a:rPr lang="en-US" sz="1600" dirty="0"/>
                  <a:t>9.		Else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1600" dirty="0"/>
                  <a:t> // se face backtracking </a:t>
                </a:r>
                <a:r>
                  <a:rPr lang="en-US" sz="1600" dirty="0" err="1"/>
                  <a:t>daca</a:t>
                </a:r>
                <a:r>
                  <a:rPr lang="en-US" sz="1600" dirty="0"/>
                  <a:t> s-a </a:t>
                </a:r>
                <a:r>
                  <a:rPr lang="en-US" sz="1600" dirty="0" err="1"/>
                  <a:t>epuizat</a:t>
                </a:r>
                <a:r>
                  <a:rPr lang="en-US" sz="1600"/>
                  <a:t> xi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10. 			k = k-1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- 7 Decembrie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952050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2680</TotalTime>
  <Words>532</Words>
  <Application>Microsoft Office PowerPoint</Application>
  <PresentationFormat>On-screen Show (4:3)</PresentationFormat>
  <Paragraphs>178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Cambria Math</vt:lpstr>
      <vt:lpstr>Tahoma</vt:lpstr>
      <vt:lpstr>Times New Roman</vt:lpstr>
      <vt:lpstr>Wingdings</vt:lpstr>
      <vt:lpstr>Blueprint</vt:lpstr>
      <vt:lpstr>Algoritmi și structuri de date – curs 8    - Informatică Economică, an II –</vt:lpstr>
      <vt:lpstr>Cuprins</vt:lpstr>
      <vt:lpstr>Greedy</vt:lpstr>
      <vt:lpstr>Problema selecției activităților</vt:lpstr>
      <vt:lpstr>Rezolvare prin PD (I)</vt:lpstr>
      <vt:lpstr>Rezolvare prin PD (II)</vt:lpstr>
      <vt:lpstr>Alegerea greedy</vt:lpstr>
      <vt:lpstr>Solutia greedy</vt:lpstr>
      <vt:lpstr>Solutia iterativă</vt:lpstr>
      <vt:lpstr>Strategii greedy</vt:lpstr>
      <vt:lpstr>Backtracking</vt:lpstr>
      <vt:lpstr>Backtracking - algoritm</vt:lpstr>
      <vt:lpstr>Problema celor 8 dame</vt:lpstr>
      <vt:lpstr>Problema celor 8 dame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181</cp:revision>
  <dcterms:created xsi:type="dcterms:W3CDTF">2004-11-24T18:35:22Z</dcterms:created>
  <dcterms:modified xsi:type="dcterms:W3CDTF">2020-12-07T05:52:19Z</dcterms:modified>
</cp:coreProperties>
</file>